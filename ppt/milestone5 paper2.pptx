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29"/>
  </p:notesMasterIdLst>
  <p:sldIdLst>
    <p:sldId id="28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264" r:id="rId10"/>
    <p:sldId id="266" r:id="rId11"/>
    <p:sldId id="267" r:id="rId12"/>
    <p:sldId id="268" r:id="rId13"/>
    <p:sldId id="270" r:id="rId14"/>
    <p:sldId id="271" r:id="rId15"/>
    <p:sldId id="272" r:id="rId16"/>
    <p:sldId id="275" r:id="rId17"/>
    <p:sldId id="286" r:id="rId18"/>
    <p:sldId id="276" r:id="rId19"/>
    <p:sldId id="277" r:id="rId20"/>
    <p:sldId id="278" r:id="rId21"/>
    <p:sldId id="279" r:id="rId22"/>
    <p:sldId id="280" r:id="rId23"/>
    <p:sldId id="285" r:id="rId24"/>
    <p:sldId id="281" r:id="rId25"/>
    <p:sldId id="282" r:id="rId26"/>
    <p:sldId id="283" r:id="rId27"/>
    <p:sldId id="28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6EB3C0-6720-4C7D-8AC0-7496751658D1}" v="62" dt="2025-03-24T23:32:21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A0755-C275-4C15-9081-38FC618F9BBB}" type="datetimeFigureOut">
              <a:rPr lang="en-CA" smtClean="0"/>
              <a:t>2025-03-24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564AD8-E409-43E9-B9B6-29DCD4FBA83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56698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564AD8-E409-43E9-B9B6-29DCD4FBA831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0901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524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1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98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38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45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2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626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0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58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048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4018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C7757-3DA3-3182-21D2-0B1E60B2D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267" y="1907459"/>
            <a:ext cx="10691265" cy="328397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RLAIF vs. RLHF: Scaling Reinforcement Learning</a:t>
            </a:r>
            <a:br>
              <a:rPr lang="en-US" b="1" dirty="0"/>
            </a:br>
            <a:r>
              <a:rPr lang="en-US" b="1" dirty="0"/>
              <a:t>from Human Feedback with AI Feedback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Group  1 – Milestone 5</a:t>
            </a:r>
            <a:br>
              <a:rPr lang="en-US" b="1" dirty="0"/>
            </a:b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650059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4063-7A01-418F-16F4-63EC8F49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What is Feedback in Reinforcement Learning (RL)?</a:t>
            </a:r>
            <a:br>
              <a:rPr lang="en-US" b="1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441A8-3B97-D591-6EFF-E7C9148E8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10" y="2221992"/>
            <a:ext cx="11395587" cy="3903505"/>
          </a:xfrm>
        </p:spPr>
        <p:txBody>
          <a:bodyPr>
            <a:noAutofit/>
          </a:bodyPr>
          <a:lstStyle/>
          <a:p>
            <a:r>
              <a:rPr lang="en-US" sz="1400" dirty="0">
                <a:cs typeface="Times New Roman" panose="02020603050405020304" pitchFamily="18" charset="0"/>
              </a:rPr>
              <a:t>In Reinforcement Learning (RL), feedback is the reward or signal given to a model (agent) after it performs an action. This feedback tells the model how good or bad the action was, allowing it to learn and improve its behavior over time.</a:t>
            </a:r>
          </a:p>
          <a:p>
            <a:r>
              <a:rPr lang="en-US" sz="1400" b="1" dirty="0">
                <a:cs typeface="Times New Roman" panose="02020603050405020304" pitchFamily="18" charset="0"/>
              </a:rPr>
              <a:t>For Example: </a:t>
            </a:r>
            <a:r>
              <a:rPr lang="en-US" sz="1400" dirty="0">
                <a:cs typeface="Times New Roman" panose="02020603050405020304" pitchFamily="18" charset="0"/>
              </a:rPr>
              <a:t>Training a Chatbot</a:t>
            </a:r>
          </a:p>
          <a:p>
            <a:pPr marL="0" indent="0">
              <a:buNone/>
            </a:pPr>
            <a:r>
              <a:rPr lang="en-US" sz="1400" dirty="0">
                <a:cs typeface="Times New Roman" panose="02020603050405020304" pitchFamily="18" charset="0"/>
              </a:rPr>
              <a:t>                       </a:t>
            </a:r>
            <a:r>
              <a:rPr lang="en-US" sz="1400" b="1" dirty="0">
                <a:cs typeface="Times New Roman" panose="02020603050405020304" pitchFamily="18" charset="0"/>
              </a:rPr>
              <a:t>User asks: </a:t>
            </a:r>
            <a:r>
              <a:rPr lang="en-US" sz="1400" dirty="0">
                <a:cs typeface="Times New Roman" panose="02020603050405020304" pitchFamily="18" charset="0"/>
              </a:rPr>
              <a:t>“What’s a good way to handle stress?”</a:t>
            </a:r>
          </a:p>
          <a:p>
            <a:pPr marL="0" indent="0">
              <a:buNone/>
            </a:pPr>
            <a:r>
              <a:rPr lang="en-US" sz="1400" dirty="0">
                <a:cs typeface="Times New Roman" panose="02020603050405020304" pitchFamily="18" charset="0"/>
              </a:rPr>
              <a:t>                       The chatbot gives two possible replies:</a:t>
            </a:r>
          </a:p>
          <a:p>
            <a:pPr marL="0" indent="0">
              <a:buNone/>
            </a:pPr>
            <a:r>
              <a:rPr lang="en-US" sz="1400" dirty="0">
                <a:cs typeface="Times New Roman" panose="02020603050405020304" pitchFamily="18" charset="0"/>
              </a:rPr>
              <a:t>                       </a:t>
            </a:r>
            <a:r>
              <a:rPr lang="en-US" sz="1400" b="1" dirty="0">
                <a:cs typeface="Times New Roman" panose="02020603050405020304" pitchFamily="18" charset="0"/>
              </a:rPr>
              <a:t>Response A: </a:t>
            </a:r>
            <a:r>
              <a:rPr lang="en-US" sz="1400" dirty="0">
                <a:cs typeface="Times New Roman" panose="02020603050405020304" pitchFamily="18" charset="0"/>
              </a:rPr>
              <a:t>“Try deep breathing, regular exercise, and talking to someone you trust.”</a:t>
            </a:r>
          </a:p>
          <a:p>
            <a:pPr marL="0" indent="0">
              <a:buNone/>
            </a:pPr>
            <a:r>
              <a:rPr lang="en-US" sz="1400" dirty="0">
                <a:cs typeface="Times New Roman" panose="02020603050405020304" pitchFamily="18" charset="0"/>
              </a:rPr>
              <a:t>                       </a:t>
            </a:r>
            <a:r>
              <a:rPr lang="en-US" sz="1400" b="1" dirty="0">
                <a:cs typeface="Times New Roman" panose="02020603050405020304" pitchFamily="18" charset="0"/>
              </a:rPr>
              <a:t>Response B: </a:t>
            </a:r>
            <a:r>
              <a:rPr lang="en-US" sz="1400" dirty="0">
                <a:cs typeface="Times New Roman" panose="02020603050405020304" pitchFamily="18" charset="0"/>
              </a:rPr>
              <a:t>“Just ignore it. Stress is for weak people.”</a:t>
            </a:r>
          </a:p>
          <a:p>
            <a:pPr marL="0" indent="0">
              <a:buNone/>
            </a:pPr>
            <a:r>
              <a:rPr lang="en-US" sz="1400" dirty="0">
                <a:cs typeface="Times New Roman" panose="02020603050405020304" pitchFamily="18" charset="0"/>
              </a:rPr>
              <a:t>                      Here,  Response A is helpful and polite.</a:t>
            </a:r>
          </a:p>
          <a:p>
            <a:pPr marL="0" indent="0">
              <a:buNone/>
            </a:pPr>
            <a:r>
              <a:rPr lang="en-US" sz="1400" dirty="0">
                <a:cs typeface="Times New Roman" panose="02020603050405020304" pitchFamily="18" charset="0"/>
              </a:rPr>
              <a:t>                       Response B is toxic and unhelpful.</a:t>
            </a:r>
          </a:p>
          <a:p>
            <a:pPr marL="0" indent="0">
              <a:buNone/>
            </a:pPr>
            <a:r>
              <a:rPr lang="en-US" sz="1400" dirty="0">
                <a:cs typeface="Times New Roman" panose="02020603050405020304" pitchFamily="18" charset="0"/>
              </a:rPr>
              <a:t>                       Through feedback (from a human or AI), the model is told that Response A is preferred.</a:t>
            </a:r>
          </a:p>
          <a:p>
            <a:pPr marL="0" indent="0">
              <a:buNone/>
            </a:pPr>
            <a:r>
              <a:rPr lang="en-US" sz="1400" dirty="0">
                <a:cs typeface="Times New Roman" panose="02020603050405020304" pitchFamily="18" charset="0"/>
              </a:rPr>
              <a:t>Over time, the chatbot learns to generate more responses like A and avoid responses like B — thanks to the feedback loop.</a:t>
            </a:r>
            <a:endParaRPr lang="en-CA" sz="1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74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E1FC5-9918-9456-72CA-E14A09D27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Feedback is Important in Reinforcement Learning:</a:t>
            </a:r>
            <a:endParaRPr lang="en-CA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21BD1-ABA6-A6DE-9BA9-2D6C77085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+mj-lt"/>
              <a:buAutoNum type="arabicPeriod"/>
            </a:pPr>
            <a:r>
              <a:rPr lang="en-US" b="1" dirty="0"/>
              <a:t>Teaches the Model What’s Right or Wrong</a:t>
            </a:r>
            <a:br>
              <a:rPr lang="en-US" dirty="0"/>
            </a:br>
            <a:r>
              <a:rPr lang="en-US" dirty="0"/>
              <a:t>Feedback acts as a signal to reinforce good behavior and discourage harmful or low-quality outputs.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Aligns the Model with Human or AI Preferences</a:t>
            </a:r>
            <a:br>
              <a:rPr lang="en-US" dirty="0"/>
            </a:br>
            <a:r>
              <a:rPr lang="en-US" dirty="0"/>
              <a:t>It helps the model generate responses that are more aligned with what people (or AI judges) expect—like politeness, clarity, and helpfulness.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Boosts Model Performance Beyond Data</a:t>
            </a:r>
            <a:br>
              <a:rPr lang="en-US" dirty="0"/>
            </a:br>
            <a:r>
              <a:rPr lang="en-US" dirty="0"/>
              <a:t>Feedback enables models to improve not just by learning patterns from data, but by understanding what kind of outputs are actually preferred.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Enables Detailed Behavioral Control</a:t>
            </a:r>
            <a:br>
              <a:rPr lang="en-US" dirty="0"/>
            </a:br>
            <a:r>
              <a:rPr lang="en-US" dirty="0"/>
              <a:t>Feedback allows developers to train models to follow specific goals—like being concise, avoiding bias, or sounding professional.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Serves as the Reward Signal in RL</a:t>
            </a:r>
            <a:br>
              <a:rPr lang="en-US" dirty="0"/>
            </a:br>
            <a:r>
              <a:rPr lang="en-US" dirty="0"/>
              <a:t>The model learns by maximizing the rewards it receives from feedback, much like a game player learns by scoring points.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Makes Learning Scalable with AI Feedback (RLAIF)</a:t>
            </a:r>
            <a:br>
              <a:rPr lang="en-US" dirty="0"/>
            </a:br>
            <a:r>
              <a:rPr lang="en-US" dirty="0"/>
              <a:t>Human feedback is powerful but expensive and slow. AI feedback (RLAIF) makes it faster and cheaper to scale training for large models.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5287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81643-CF18-8D05-A717-1EFEEAD39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b="1" dirty="0"/>
              <a:t>Types of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8A3DD-44B9-8086-40DF-9855B1FDD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730477"/>
            <a:ext cx="10691265" cy="42314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There are </a:t>
            </a:r>
            <a:r>
              <a:rPr lang="en-US" sz="1400" b="1" dirty="0"/>
              <a:t>two main types of feedback</a:t>
            </a:r>
          </a:p>
          <a:p>
            <a:pPr>
              <a:buNone/>
            </a:pPr>
            <a:r>
              <a:rPr lang="en-US" sz="1400" b="1" dirty="0"/>
              <a:t>1. Human Feedback (RLHF)( </a:t>
            </a:r>
            <a:r>
              <a:rPr lang="en-US" sz="1400" b="1" dirty="0" err="1"/>
              <a:t>Eg</a:t>
            </a:r>
            <a:r>
              <a:rPr lang="en-US" sz="1400" b="1" dirty="0"/>
              <a:t> ChatGPT)</a:t>
            </a:r>
          </a:p>
          <a:p>
            <a:pPr>
              <a:buNone/>
            </a:pPr>
            <a:r>
              <a:rPr lang="en-US" sz="1400" dirty="0"/>
              <a:t>Feedback is given by real human annotators, who evaluate and compare the model’s responses to guide its learning.</a:t>
            </a:r>
          </a:p>
          <a:p>
            <a:pPr>
              <a:buNone/>
            </a:pPr>
            <a:r>
              <a:rPr lang="en-US" sz="1400" b="1" dirty="0"/>
              <a:t>For Example: </a:t>
            </a:r>
          </a:p>
          <a:p>
            <a:pPr>
              <a:buNone/>
            </a:pPr>
            <a:r>
              <a:rPr lang="en-US" sz="1400" dirty="0"/>
              <a:t>The model is prompted with:</a:t>
            </a:r>
          </a:p>
          <a:p>
            <a:pPr>
              <a:buNone/>
            </a:pPr>
            <a:r>
              <a:rPr lang="en-US" sz="1400" dirty="0"/>
              <a:t>"Respond to: 'You’re completely wrong and clearly clueless.’”</a:t>
            </a:r>
          </a:p>
          <a:p>
            <a:pPr>
              <a:buNone/>
            </a:pPr>
            <a:r>
              <a:rPr lang="en-US" sz="1400" dirty="0"/>
              <a:t>It gives two responses:</a:t>
            </a:r>
          </a:p>
          <a:p>
            <a:pPr>
              <a:buNone/>
            </a:pPr>
            <a:r>
              <a:rPr lang="en-US" sz="1400" b="1" dirty="0"/>
              <a:t>Response A: "Maybe you misunderstood my point. Let's try to clarify."</a:t>
            </a:r>
          </a:p>
          <a:p>
            <a:pPr>
              <a:buNone/>
            </a:pPr>
            <a:r>
              <a:rPr lang="en-US" sz="1400" b="1" dirty="0"/>
              <a:t>Response B: "No, you're just dumb and wrong.“</a:t>
            </a:r>
            <a:endParaRPr lang="en-US" sz="1400" dirty="0"/>
          </a:p>
          <a:p>
            <a:pPr>
              <a:buNone/>
            </a:pPr>
            <a:r>
              <a:rPr lang="en-US" sz="1400" dirty="0"/>
              <a:t>You show both responses to human evaluators and ask:</a:t>
            </a:r>
          </a:p>
          <a:p>
            <a:pPr>
              <a:buNone/>
            </a:pPr>
            <a:r>
              <a:rPr lang="en-US" sz="1400" dirty="0"/>
              <a:t>"Which response is better in tone and constructiveness?"</a:t>
            </a:r>
          </a:p>
          <a:p>
            <a:pPr>
              <a:buNone/>
            </a:pPr>
            <a:r>
              <a:rPr lang="en-US" sz="1400" dirty="0"/>
              <a:t>Humans choose Response A.</a:t>
            </a:r>
          </a:p>
        </p:txBody>
      </p:sp>
    </p:spTree>
    <p:extLst>
      <p:ext uri="{BB962C8B-B14F-4D97-AF65-F5344CB8AC3E}">
        <p14:creationId xmlns:p14="http://schemas.microsoft.com/office/powerpoint/2010/main" val="3030804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515B9-DDF8-B092-FD80-14B2C9B5B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27587"/>
          </a:xfrm>
        </p:spPr>
        <p:txBody>
          <a:bodyPr>
            <a:normAutofit/>
          </a:bodyPr>
          <a:lstStyle/>
          <a:p>
            <a:r>
              <a:rPr lang="en-CA" sz="2800" b="1" dirty="0"/>
              <a:t>Types of feedback</a:t>
            </a:r>
            <a:endParaRPr lang="en-CA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E5851-B18C-E9FD-841E-EC02363DE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455175"/>
            <a:ext cx="10782300" cy="450671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400" b="1" dirty="0"/>
              <a:t>2. AI Feedback (RLAIF) (</a:t>
            </a:r>
            <a:r>
              <a:rPr lang="en-US" sz="1400" b="1" dirty="0" err="1"/>
              <a:t>Eg</a:t>
            </a:r>
            <a:r>
              <a:rPr lang="en-US" sz="1400" b="1" dirty="0"/>
              <a:t> </a:t>
            </a:r>
            <a:r>
              <a:rPr lang="en-US" sz="1400" b="1" dirty="0" err="1"/>
              <a:t>PaLM</a:t>
            </a:r>
            <a:r>
              <a:rPr lang="en-US" sz="1400" b="1" dirty="0"/>
              <a:t> or GPT-4)</a:t>
            </a:r>
          </a:p>
          <a:p>
            <a:pPr>
              <a:buNone/>
            </a:pPr>
            <a:r>
              <a:rPr lang="en-US" sz="1400" dirty="0"/>
              <a:t>Feedback is generated by an </a:t>
            </a:r>
            <a:r>
              <a:rPr lang="en-US" sz="1400" b="1" dirty="0"/>
              <a:t>off-the-shelf LLM (Language Model)</a:t>
            </a:r>
            <a:r>
              <a:rPr lang="en-US" sz="1400" dirty="0"/>
              <a:t> instead of a human. The AI acts as a judge to decide which response is better.</a:t>
            </a:r>
          </a:p>
          <a:p>
            <a:pPr>
              <a:buNone/>
            </a:pPr>
            <a:r>
              <a:rPr lang="en-US" sz="1400" b="1" dirty="0" err="1"/>
              <a:t>Eg</a:t>
            </a:r>
            <a:r>
              <a:rPr lang="en-US" sz="1400" b="1" dirty="0"/>
              <a:t> Model Output (Same Prompt):</a:t>
            </a:r>
          </a:p>
          <a:p>
            <a:pPr>
              <a:buNone/>
            </a:pPr>
            <a:r>
              <a:rPr lang="en-US" sz="1400" dirty="0"/>
              <a:t>"Respond to: 'You’re completely wrong and clearly clueless.'"</a:t>
            </a:r>
          </a:p>
          <a:p>
            <a:pPr>
              <a:buNone/>
            </a:pPr>
            <a:r>
              <a:rPr lang="en-US" sz="1400" dirty="0"/>
              <a:t>Model generates:</a:t>
            </a:r>
          </a:p>
          <a:p>
            <a:pPr>
              <a:buNone/>
            </a:pPr>
            <a:r>
              <a:rPr lang="en-US" sz="1400" b="1" dirty="0"/>
              <a:t>Response A: </a:t>
            </a:r>
            <a:r>
              <a:rPr lang="en-US" sz="1400" dirty="0"/>
              <a:t>"Maybe you misunderstood my point. Let's try to clarify."</a:t>
            </a:r>
          </a:p>
          <a:p>
            <a:pPr>
              <a:buNone/>
            </a:pPr>
            <a:r>
              <a:rPr lang="en-US" sz="1400" b="1" dirty="0"/>
              <a:t>Response B: </a:t>
            </a:r>
            <a:r>
              <a:rPr lang="en-US" sz="1400" dirty="0"/>
              <a:t>"No, you're just dumb and wrong.“</a:t>
            </a:r>
          </a:p>
          <a:p>
            <a:pPr>
              <a:buNone/>
            </a:pPr>
            <a:r>
              <a:rPr lang="en-US" sz="1400" dirty="0"/>
              <a:t>You prompt the LLM:</a:t>
            </a:r>
          </a:p>
          <a:p>
            <a:pPr>
              <a:buNone/>
            </a:pPr>
            <a:r>
              <a:rPr lang="en-US" sz="1400" dirty="0"/>
              <a:t>"Given these two responses, which one is more polite and less toxic? Please explain."</a:t>
            </a:r>
          </a:p>
          <a:p>
            <a:pPr>
              <a:buNone/>
            </a:pPr>
            <a:r>
              <a:rPr lang="en-US" sz="1400" dirty="0"/>
              <a:t>LLM replies:</a:t>
            </a:r>
          </a:p>
          <a:p>
            <a:pPr>
              <a:buNone/>
            </a:pPr>
            <a:r>
              <a:rPr lang="en-US" sz="1400" dirty="0"/>
              <a:t>"Response A is more polite and encourages a healthy discussion, while Response B is insulting and aggressive."</a:t>
            </a:r>
          </a:p>
          <a:p>
            <a:pPr>
              <a:buNone/>
            </a:pPr>
            <a:r>
              <a:rPr lang="en-US" sz="1400" dirty="0"/>
              <a:t>The AI chooses Response A.</a:t>
            </a:r>
          </a:p>
          <a:p>
            <a:pPr>
              <a:buNone/>
            </a:pPr>
            <a:endParaRPr lang="en-US" sz="1400" dirty="0"/>
          </a:p>
          <a:p>
            <a:pPr>
              <a:buNone/>
            </a:pPr>
            <a:endParaRPr lang="en-US" sz="1400" dirty="0"/>
          </a:p>
          <a:p>
            <a:pPr>
              <a:buNone/>
            </a:pPr>
            <a:endParaRPr lang="en-US" sz="1400" dirty="0"/>
          </a:p>
          <a:p>
            <a:pPr>
              <a:buNone/>
            </a:pP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3826103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C5B4-202C-3EC8-4AD2-F87DA544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53466"/>
          </a:xfrm>
        </p:spPr>
        <p:txBody>
          <a:bodyPr>
            <a:normAutofit/>
          </a:bodyPr>
          <a:lstStyle/>
          <a:p>
            <a:r>
              <a:rPr lang="en-CA" sz="2800" b="1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92AE97-EF74-404F-E937-DE1AB7472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1946847"/>
            <a:ext cx="9849378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Reinforcement Learning from Human Feedback (RLHF) is a key method for aligning language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models with human preferences.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RLHF has been instrumental in the success of models like ChatGPT and Bard.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major challenge of RLHF is its dependency on costly and time-consuming human feedback.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address this, Reinforcement Learning from AI Feedback (RLAIF) was introduced.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RLAIF replaces human labels with preferences generated by off-the-shelf LLMs.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paper compares the effectiveness of RLHF and RLAIF across three tasks: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Summarization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Helpful Dialogue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                   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Harmless Dialogue Generation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fact, RLAIF outperforms RLHF in harmlessness, achieving an 88% harmless rate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(vs. RLHF’s 76% and SFT’s 64%).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step further, the paper introduces direct-RLAIF (d-RLAIF), which bypasses training a reward model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 directly using AI-generated rewards during RL. d-RLAIF matches or exceeds canonical RLAIF performance.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results suggest that RLAIF and d-RLAIF are viable, scalable alternatives to RLHF, especially when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human annotation is limited or costly.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5571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58C6-9E5B-CD60-1D47-39C922BD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how the RLAIF and d-RLAIF systems are implemented</a:t>
            </a:r>
            <a:endParaRPr lang="en-CA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0BDAD-551C-1308-4B75-5B3AB1B08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400" dirty="0"/>
              <a:t>This section outlines the key components of how the RLAIF and d-RLAIF systems are implemented, covering: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How is RL generated using an LLM?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How is RL applied?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And how performance is evaluated?</a:t>
            </a:r>
          </a:p>
        </p:txBody>
      </p:sp>
    </p:spTree>
    <p:extLst>
      <p:ext uri="{BB962C8B-B14F-4D97-AF65-F5344CB8AC3E}">
        <p14:creationId xmlns:p14="http://schemas.microsoft.com/office/powerpoint/2010/main" val="175122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93F6CD-BE8E-425D-AA5D-265DA6A01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86171-FCB9-9907-0759-0F5CBCFE4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2800" b="1" dirty="0"/>
              <a:t>Preference Labeling with LLMs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F9D6B-178F-B074-CEBA-55576B06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5830214" cy="373989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To train a reward model without human feedback, preferences are generated using an </a:t>
            </a:r>
            <a:r>
              <a:rPr lang="en-US" sz="1400" b="1" dirty="0"/>
              <a:t>off-the-shelf LLM</a:t>
            </a:r>
            <a:r>
              <a:rPr lang="en-US" sz="1400" dirty="0"/>
              <a:t> (pre-trained or instruction-tuned but not fine-tuned for this specific task).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400" b="1" dirty="0"/>
              <a:t>1. Prompt Construction</a:t>
            </a:r>
          </a:p>
          <a:p>
            <a:pPr>
              <a:buNone/>
            </a:pPr>
            <a:r>
              <a:rPr lang="en-US" sz="1400" dirty="0"/>
              <a:t>The LLM is prompted with:</a:t>
            </a:r>
          </a:p>
          <a:p>
            <a:pPr>
              <a:buAutoNum type="arabicPeriod"/>
            </a:pPr>
            <a:r>
              <a:rPr lang="en-US" sz="1400" dirty="0"/>
              <a:t>Preamble- Introduction and instructions describing the task at hand </a:t>
            </a:r>
          </a:p>
          <a:p>
            <a:pPr>
              <a:buAutoNum type="arabicPeriod"/>
            </a:pPr>
            <a:r>
              <a:rPr lang="en-US" sz="1400" dirty="0"/>
              <a:t>Few-shot exemplars (optional)- An example input con text, a pair of responses, a chain-of-thought rationale (optional), and a preference label </a:t>
            </a:r>
          </a:p>
          <a:p>
            <a:pPr>
              <a:buAutoNum type="arabicPeriod"/>
            </a:pPr>
            <a:r>
              <a:rPr lang="en-US" sz="1400" dirty="0"/>
              <a:t>Sample to annotate- An input context and a pair of responses to be labeled </a:t>
            </a:r>
          </a:p>
          <a:p>
            <a:pPr>
              <a:buAutoNum type="arabicPeriod"/>
            </a:pPr>
            <a:r>
              <a:rPr lang="en-US" sz="1400" dirty="0"/>
              <a:t>Ending- The ending text to prompt the LLM (e.g. “Preferred Response=”</a:t>
            </a:r>
          </a:p>
          <a:p>
            <a:pPr marL="0" indent="0">
              <a:buNone/>
            </a:pP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55756-1CCB-1D53-922D-1FEECF29A1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339" y="2217229"/>
            <a:ext cx="5159623" cy="2154143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4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7884E-D438-729A-B758-32C6F3604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b="1" dirty="0"/>
              <a:t>Preference Labeling with LLMs</a:t>
            </a:r>
            <a:endParaRPr lang="en-CA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2E1FFD-CB7B-0413-06F1-9A07C46CE4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0100" y="2221992"/>
            <a:ext cx="9298771" cy="3200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2. LLM Generation Phase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LLM generates a </a:t>
            </a:r>
            <a:r>
              <a:rPr kumimoji="0" lang="en-US" altLang="en-US" sz="14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reasoned response</a:t>
            </a: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(COT-style), explaining which summary it prefers.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“Summary 1 is better because it is more coherent and complete.”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response is appended to the original prompt along with the final line: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"Preferred Summary=“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3. LLM Scoring Phase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Next, the LLM is used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predict the likelihood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either "1" or "2" being selected.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It computes log probabilities of "1" and "2".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These are passed through 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softmax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function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get a preference distribution.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softmax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(log P("1")) = 0.6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softmax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(log P("2")) = 0.4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soft label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gives more nuanced feedback than just picking one option (as in one-hot labels).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330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E802-F4EE-A6B6-20A2-1545930E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Mitigating Position Bias in LLM Preference Evaluation</a:t>
            </a:r>
            <a:endParaRPr lang="en-CA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2119F-6DD9-0E19-D157-C2DD12218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/>
              <a:t>Addressing Position Bias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Position bias</a:t>
            </a:r>
            <a:r>
              <a:rPr lang="en-US" dirty="0"/>
              <a:t> is when the order of the responses influences the LLM’s decision.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example, the model may favor the first option just because it's shown first—not because it's better.</a:t>
            </a:r>
          </a:p>
          <a:p>
            <a:pPr>
              <a:buNone/>
            </a:pPr>
            <a:r>
              <a:rPr lang="en-US" b="1" dirty="0"/>
              <a:t>What did the authors observe from the study?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Position bias is more prominent in smaller LLMs.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bias can skew preference labels, reducing quality.</a:t>
            </a:r>
          </a:p>
          <a:p>
            <a:pPr>
              <a:buNone/>
            </a:pPr>
            <a:r>
              <a:rPr lang="en-US" b="1" dirty="0"/>
              <a:t>How do they fix it?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Two inferences</a:t>
            </a:r>
            <a:r>
              <a:rPr lang="en-US" dirty="0"/>
              <a:t> are made per sample: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Present Summary 1 first, Summary 2 second.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Present Summary 2 first, Summary 1 second.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Final preference score is the average</a:t>
            </a:r>
            <a:r>
              <a:rPr lang="en-US" dirty="0"/>
              <a:t> of both results.</a:t>
            </a:r>
          </a:p>
          <a:p>
            <a:r>
              <a:rPr lang="en-US" dirty="0"/>
              <a:t> This balances out any unfair advantage from position and makes scoring more reliable.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8912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90FAA-A600-00E8-CF23-63C0C0F35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Enhancing Preference Labeling with Chain-of-Thought Reasoning</a:t>
            </a:r>
            <a:endParaRPr lang="en-CA" sz="2800" b="1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C338421-F7F1-DDCD-5553-C0B4A768F5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2753111"/>
            <a:ext cx="980152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Eliciting Chain-of-Thought (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Reasoning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CoT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prompts encourage the LLM to explain its reasoning step-by-step.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helps the model produce more thoughtful and accurate preference labels.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does it work?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standard prompt ending is replaced with an instruction asking for a detailed explanation: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“Consider the coherence, accuracy, coverage, and overall quality of each summary and explain which one is better. Rationale:”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LLM responds with a justification (e.g., "Summary 1 is more coherent...").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That response is then combined with the original prompt and the standard ending: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“Preferred Summary=”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Finally, the model scores the options using its internal probability distributions (via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softmax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over tokens “1” and “2”).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This method not only gives better label quality but also improves alignment with human-like reasoning.</a:t>
            </a:r>
          </a:p>
        </p:txBody>
      </p:sp>
    </p:spTree>
    <p:extLst>
      <p:ext uri="{BB962C8B-B14F-4D97-AF65-F5344CB8AC3E}">
        <p14:creationId xmlns:p14="http://schemas.microsoft.com/office/powerpoint/2010/main" val="3289847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11AE-F1A9-AD2A-0722-8C6C1CCA6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Reinforcement Learning from AI Feedback 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3DDED-9D75-3974-E15E-92AB98152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Canonical RLAIF (Standard Setup)</a:t>
            </a:r>
          </a:p>
          <a:p>
            <a:pPr>
              <a:buNone/>
            </a:pPr>
            <a:r>
              <a:rPr lang="en-US" b="1" dirty="0"/>
              <a:t>How it works: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Train a Reward Model (RM)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RM is trained on preference labels from an off-the-shelf LLM.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These preferences are soft labels (e.g., [0.6, 0.4] instead of [1, 0]).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RM training uses cross-entropy loss on the </a:t>
            </a:r>
            <a:r>
              <a:rPr lang="en-US" dirty="0" err="1"/>
              <a:t>softmax</a:t>
            </a:r>
            <a:r>
              <a:rPr lang="en-US" dirty="0"/>
              <a:t> scores.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This process is considered a form of model distillation—the RM learns from a more capable LLM.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Policy Training with RL</a:t>
            </a:r>
            <a:r>
              <a:rPr lang="en-US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Once the RM is trained, it is used to assign rewards to the model’s responses.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/>
              <a:t>The policy (the model being trained) is updated through reinforcement learning using these rewards.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dirty="0"/>
              <a:t>Summary:</a:t>
            </a:r>
            <a:br>
              <a:rPr lang="en-US" dirty="0"/>
            </a:br>
            <a:r>
              <a:rPr lang="en-US" dirty="0"/>
              <a:t>Canonical RLAIF relies on a trained reward model that distills LLM preferences and provides rewards during RL.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79023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C9C3C-5698-A151-D1C4-D81DD7B61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b="1" dirty="0"/>
              <a:t>Direct-RLAIF (d-RLAIF):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7CE0A83-DE0D-1092-13FF-4D157BD8F3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2265378"/>
            <a:ext cx="10507844" cy="3488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CA" sz="1400" b="1" dirty="0"/>
              <a:t>Problem with Canonical RLAIF: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canonical RLAIF, we use a Reward Model (RM) trained on AI-generated preferences to guide learning.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But here’s the catch: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As the policy model keeps improving, the type of outputs it generates change.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Reward Model (RM) is trained only on older outputs from the initial version of the policy.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That means the RM doesn’t know how to judge the newer outputs, and its feedback becomes "stale" — less useful or even misleading.</a:t>
            </a:r>
          </a:p>
          <a:p>
            <a:pPr>
              <a:buNone/>
            </a:pPr>
            <a:r>
              <a:rPr lang="en-US" sz="1400" b="1" dirty="0"/>
              <a:t>Real-World Analogy:</a:t>
            </a:r>
          </a:p>
          <a:p>
            <a:pPr>
              <a:buNone/>
            </a:pPr>
            <a:r>
              <a:rPr lang="en-US" sz="1400" dirty="0"/>
              <a:t>Imagine a school teacher who graded only beginner-level essays.</a:t>
            </a:r>
          </a:p>
          <a:p>
            <a:pPr>
              <a:buNone/>
            </a:pPr>
            <a:r>
              <a:rPr lang="en-US" sz="1400" dirty="0"/>
              <a:t>Then later, students start writing advanced essays — but the teacher still uses the old rubric.</a:t>
            </a:r>
          </a:p>
          <a:p>
            <a:pPr>
              <a:buNone/>
            </a:pPr>
            <a:r>
              <a:rPr lang="en-US" sz="1400" dirty="0"/>
              <a:t> Result: The teacher gives bad grades to better answers because they don’t match the old format.</a:t>
            </a:r>
          </a:p>
          <a:p>
            <a:r>
              <a:rPr lang="en-US" sz="1400" dirty="0"/>
              <a:t>That’s exactly what happens when the Reward Model (RM) is not updated.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6632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61CF4-0548-6AFB-2B2F-C4C9F1D8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540774"/>
          </a:xfrm>
        </p:spPr>
        <p:txBody>
          <a:bodyPr>
            <a:normAutofit/>
          </a:bodyPr>
          <a:lstStyle/>
          <a:p>
            <a:r>
              <a:rPr lang="en-CA" sz="2800" b="1" dirty="0"/>
              <a:t>Detailed Process of d-RLAIF: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06EC8B-F216-F565-C4A0-19AD57237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1661652"/>
            <a:ext cx="10691265" cy="4300236"/>
          </a:xfrm>
        </p:spPr>
        <p:txBody>
          <a:bodyPr>
            <a:normAutofit fontScale="62500" lnSpcReduction="20000"/>
          </a:bodyPr>
          <a:lstStyle/>
          <a:p>
            <a:r>
              <a:rPr lang="en-US" sz="2200" dirty="0"/>
              <a:t>In d-RLAIF, we skip the Reward Model entirely and use the LLM directly during reinforcement learning to assign scores.</a:t>
            </a:r>
          </a:p>
          <a:p>
            <a:pPr>
              <a:buNone/>
            </a:pPr>
            <a:r>
              <a:rPr lang="en-US" sz="2200" b="1" dirty="0"/>
              <a:t>Step 1: Policy Model Generates Output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The current version of the policy model (e.g., chatbot) generates a response.</a:t>
            </a:r>
          </a:p>
          <a:p>
            <a:pPr>
              <a:buNone/>
            </a:pPr>
            <a:r>
              <a:rPr lang="en-US" sz="2200" b="1" dirty="0"/>
              <a:t>Step 2: LLM is Prompted to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The LLM is given a prompt:</a:t>
            </a:r>
            <a:br>
              <a:rPr lang="en-US" sz="2200" dirty="0"/>
            </a:br>
            <a:r>
              <a:rPr lang="en-US" sz="2200" i="1" dirty="0"/>
              <a:t>“Rate this response from 1 to 10 based on helpfulness / accuracy / coherence...”</a:t>
            </a:r>
            <a:endParaRPr lang="en-US" sz="2200" dirty="0"/>
          </a:p>
          <a:p>
            <a:pPr>
              <a:buNone/>
            </a:pPr>
            <a:r>
              <a:rPr lang="en-US" sz="2200" b="1" dirty="0"/>
              <a:t>Step 3: LLM Returns a Score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The LLM doesn’t return a fixed score. Instead, it gives log-likelihoods of each score (from 1 to 10).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Example: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200" dirty="0"/>
              <a:t>P(1) = 0.05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200" dirty="0"/>
              <a:t>P(2) = 0.10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200" dirty="0"/>
              <a:t>...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200" dirty="0"/>
              <a:t>P(8) = 0.40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200" dirty="0"/>
              <a:t>P(9) = 0.30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2200" dirty="0"/>
              <a:t>P(10) = 0.05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28829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E7BEBB-9A6F-DEFA-B8D0-0EF831A38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0" lang="en-CA" sz="2800" b="1" i="0" u="none" strike="noStrike" kern="1200" cap="all" spc="30" normalizeH="0" baseline="0" noProof="0">
                <a:ln>
                  <a:noFill/>
                </a:ln>
                <a:effectLst/>
                <a:uLnTx/>
                <a:uFillTx/>
                <a:latin typeface="Univers Condensed"/>
                <a:ea typeface="+mj-ea"/>
                <a:cs typeface="+mj-cs"/>
              </a:rPr>
              <a:t>Detailed Process of d-RLAIF and </a:t>
            </a:r>
            <a:r>
              <a:rPr kumimoji="0" lang="en-US" sz="2800" b="1" i="0" u="none" strike="noStrike" kern="1200" cap="all" spc="30" normalizeH="0" baseline="0" noProof="0">
                <a:ln>
                  <a:noFill/>
                </a:ln>
                <a:effectLst/>
                <a:uLnTx/>
                <a:uFillTx/>
                <a:latin typeface="Univers Condensed"/>
                <a:ea typeface="+mj-ea"/>
                <a:cs typeface="+mj-cs"/>
              </a:rPr>
              <a:t>Why d-RLAIF Is Better in Many Cases:</a:t>
            </a:r>
            <a:endParaRPr lang="en-CA" sz="28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0D89B-4452-05D0-9561-E990B91BE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8" y="2221992"/>
            <a:ext cx="6400800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dirty="0"/>
              <a:t>Step 4: Compute Weighted Score</a:t>
            </a:r>
            <a:endParaRPr lang="en-US" sz="1400" b="1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A weighted sum is calculated:</a:t>
            </a:r>
            <a:endParaRPr lang="en-US" sz="1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CA" sz="1400" dirty="0"/>
              <a:t>s(</a:t>
            </a:r>
            <a:r>
              <a:rPr lang="en-CA" sz="1400" dirty="0" err="1"/>
              <a:t>y|x</a:t>
            </a:r>
            <a:r>
              <a:rPr lang="en-CA" sz="1400" dirty="0"/>
              <a:t>) = 10 </a:t>
            </a:r>
            <a:r>
              <a:rPr lang="en-CA" sz="1400" dirty="0" err="1"/>
              <a:t>i</a:t>
            </a:r>
            <a:r>
              <a:rPr lang="en-CA" sz="1400" dirty="0"/>
              <a:t>=1 </a:t>
            </a:r>
            <a:r>
              <a:rPr lang="en-CA" sz="1400" dirty="0" err="1"/>
              <a:t>iP</a:t>
            </a:r>
            <a:r>
              <a:rPr lang="en-CA" sz="1400" dirty="0"/>
              <a:t>(</a:t>
            </a:r>
            <a:r>
              <a:rPr lang="en-CA" sz="1400" dirty="0" err="1"/>
              <a:t>i|y,x</a:t>
            </a:r>
            <a:r>
              <a:rPr lang="en-CA" sz="1400" dirty="0"/>
              <a:t>),</a:t>
            </a:r>
            <a:endParaRPr lang="en-CA" sz="140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/>
              <a:t>Example: s(</a:t>
            </a:r>
            <a:r>
              <a:rPr lang="en-US" sz="1400" dirty="0" err="1"/>
              <a:t>y∣x</a:t>
            </a:r>
            <a:r>
              <a:rPr lang="en-US" sz="1400" dirty="0"/>
              <a:t>)=1×0.05+2×0.10+...+8×0.40+9×0.30+10×0.05=7.9 </a:t>
            </a:r>
            <a:endParaRPr lang="en-US" sz="140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Step 5: Normalize the Score</a:t>
            </a:r>
            <a:endParaRPr lang="en-US" sz="1400" b="1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This score is </a:t>
            </a:r>
            <a:r>
              <a:rPr lang="en-US" sz="1400" b="1" dirty="0"/>
              <a:t>rescaled to the range [-1, 1]</a:t>
            </a:r>
            <a:r>
              <a:rPr lang="en-US" sz="1400" dirty="0"/>
              <a:t> to be compatible with standard RL training.</a:t>
            </a:r>
            <a:endParaRPr lang="en-US" sz="1400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Example: 7.9 → normalized to +0.78</a:t>
            </a:r>
            <a:endParaRPr lang="en-US" sz="1400"/>
          </a:p>
          <a:p>
            <a:pPr>
              <a:lnSpc>
                <a:spcPct val="100000"/>
              </a:lnSpc>
              <a:buNone/>
            </a:pPr>
            <a:r>
              <a:rPr lang="en-US" sz="1400" b="1" dirty="0"/>
              <a:t>Step 6: Use This Score as Reward in RL</a:t>
            </a:r>
            <a:endParaRPr lang="en-US" sz="1400" b="1"/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The policy updates its parameters to generate more outputs like the ones that got high scores</a:t>
            </a:r>
            <a:r>
              <a:rPr lang="en-US" sz="1400"/>
              <a:t>.</a:t>
            </a:r>
          </a:p>
          <a:p>
            <a:pPr>
              <a:lnSpc>
                <a:spcPct val="100000"/>
              </a:lnSpc>
            </a:pPr>
            <a:endParaRPr lang="en-CA" sz="14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8FF9A19-F471-ADC8-A47F-866321C34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081018"/>
              </p:ext>
            </p:extLst>
          </p:nvPr>
        </p:nvGraphicFramePr>
        <p:xfrm>
          <a:off x="7487920" y="1616157"/>
          <a:ext cx="4261057" cy="3675636"/>
        </p:xfrm>
        <a:graphic>
          <a:graphicData uri="http://schemas.openxmlformats.org/drawingml/2006/table">
            <a:tbl>
              <a:tblPr firstRow="1" bandRow="1">
                <a:noFill/>
                <a:tableStyleId>{073A0DAA-6AF3-43AB-8588-CEC1D06C72B9}</a:tableStyleId>
              </a:tblPr>
              <a:tblGrid>
                <a:gridCol w="1370729">
                  <a:extLst>
                    <a:ext uri="{9D8B030D-6E8A-4147-A177-3AD203B41FA5}">
                      <a16:colId xmlns:a16="http://schemas.microsoft.com/office/drawing/2014/main" val="3483688873"/>
                    </a:ext>
                  </a:extLst>
                </a:gridCol>
                <a:gridCol w="1568754">
                  <a:extLst>
                    <a:ext uri="{9D8B030D-6E8A-4147-A177-3AD203B41FA5}">
                      <a16:colId xmlns:a16="http://schemas.microsoft.com/office/drawing/2014/main" val="3526271840"/>
                    </a:ext>
                  </a:extLst>
                </a:gridCol>
                <a:gridCol w="1321574">
                  <a:extLst>
                    <a:ext uri="{9D8B030D-6E8A-4147-A177-3AD203B41FA5}">
                      <a16:colId xmlns:a16="http://schemas.microsoft.com/office/drawing/2014/main" val="440354889"/>
                    </a:ext>
                  </a:extLst>
                </a:gridCol>
              </a:tblGrid>
              <a:tr h="978335">
                <a:tc>
                  <a:txBody>
                    <a:bodyPr/>
                    <a:lstStyle/>
                    <a:p>
                      <a:pPr algn="ctr"/>
                      <a:r>
                        <a:rPr lang="en-CA" sz="1300" b="0" cap="all" spc="150">
                          <a:solidFill>
                            <a:schemeClr val="lt1"/>
                          </a:solidFill>
                        </a:rPr>
                        <a:t>Issue</a:t>
                      </a:r>
                    </a:p>
                  </a:txBody>
                  <a:tcPr marL="111175" marR="111175" marT="111175" marB="11117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300" b="0" cap="all" spc="150" dirty="0">
                          <a:solidFill>
                            <a:schemeClr val="lt1"/>
                          </a:solidFill>
                        </a:rPr>
                        <a:t>Canonical RLAIF</a:t>
                      </a:r>
                    </a:p>
                  </a:txBody>
                  <a:tcPr marL="111175" marR="111175" marT="111175" marB="111175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300" b="0" cap="all" spc="150">
                          <a:solidFill>
                            <a:schemeClr val="lt1"/>
                          </a:solidFill>
                        </a:rPr>
                        <a:t>d-RLAIF</a:t>
                      </a:r>
                    </a:p>
                  </a:txBody>
                  <a:tcPr marL="111175" marR="111175" marT="111175" marB="11117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980450"/>
                  </a:ext>
                </a:extLst>
              </a:tr>
              <a:tr h="571483">
                <a:tc>
                  <a:txBody>
                    <a:bodyPr/>
                    <a:lstStyle/>
                    <a:p>
                      <a:pPr algn="ctr">
                        <a:lnSpc>
                          <a:spcPts val="1177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b="1" cap="none" spc="0"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    Stale Feedback</a:t>
                      </a:r>
                      <a:endParaRPr lang="en-CA" sz="1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111175" marR="111175" marT="111175" marB="111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Yes (old RM)</a:t>
                      </a:r>
                      <a:endParaRPr lang="en-CA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 (uses live scoring)</a:t>
                      </a:r>
                      <a:endParaRPr lang="en-CA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072065"/>
                  </a:ext>
                </a:extLst>
              </a:tr>
              <a:tr h="571483"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Needs RM Training</a:t>
                      </a:r>
                      <a:endParaRPr lang="en-CA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cap="none" spc="0" dirty="0"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cap="none" spc="0"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8309813"/>
                  </a:ext>
                </a:extLst>
              </a:tr>
              <a:tr h="411369"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Complex Setup</a:t>
                      </a:r>
                      <a:endParaRPr lang="en-CA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More complex</a:t>
                      </a:r>
                      <a:endParaRPr lang="en-CA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cap="none" spc="0">
                          <a:solidFill>
                            <a:schemeClr val="tx1"/>
                          </a:solidFill>
                        </a:rPr>
                        <a:t>Simpler</a:t>
                      </a: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0152415"/>
                  </a:ext>
                </a:extLst>
              </a:tr>
              <a:tr h="571483"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Scoring Quality</a:t>
                      </a:r>
                      <a:endParaRPr lang="en-CA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Degrades over time</a:t>
                      </a:r>
                      <a:endParaRPr lang="en-CA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Always up-to-date</a:t>
                      </a:r>
                      <a:endParaRPr lang="en-CA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9685352"/>
                  </a:ext>
                </a:extLst>
              </a:tr>
              <a:tr h="571483">
                <a:tc>
                  <a:txBody>
                    <a:bodyPr/>
                    <a:lstStyle/>
                    <a:p>
                      <a:pPr algn="ctr">
                        <a:lnSpc>
                          <a:spcPts val="1177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CA" sz="1100" b="1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Computational Cost</a:t>
                      </a:r>
                      <a:endParaRPr lang="en-CA" sz="1100" cap="none" spc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11175" marR="111175" marT="111175" marB="11117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retraining RM</a:t>
                      </a:r>
                      <a:endParaRPr lang="en-CA" sz="11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sz="1100" b="1" i="0" kern="1200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One-time LLM API calls</a:t>
                      </a:r>
                      <a:endParaRPr lang="en-CA" sz="11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111175" marR="111175" marT="111175" marB="11117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216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915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9C92E-1BBB-374D-82C3-D53340E53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33434"/>
          </a:xfrm>
        </p:spPr>
        <p:txBody>
          <a:bodyPr>
            <a:normAutofit/>
          </a:bodyPr>
          <a:lstStyle/>
          <a:p>
            <a:r>
              <a:rPr lang="en-US" sz="2800" b="1" dirty="0"/>
              <a:t>Evaluation Metrics</a:t>
            </a:r>
            <a:endParaRPr lang="en-CA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2B6FA-7261-5BBD-8A41-C28B041327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311" y="1647834"/>
            <a:ext cx="10691265" cy="4295766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We evaluate using 3 key metrics:</a:t>
            </a:r>
          </a:p>
          <a:p>
            <a:pPr>
              <a:buNone/>
            </a:pPr>
            <a:r>
              <a:rPr lang="en-US" b="1" dirty="0"/>
              <a:t>1. AI Labeler Alignment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Measures how often AI preferences match human preferences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Convert soft label [0.6, 0.4] → [1, 0] → Compare with human label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Accuracy = % agreement</a:t>
            </a:r>
          </a:p>
          <a:p>
            <a:pPr>
              <a:buNone/>
            </a:pPr>
            <a:r>
              <a:rPr lang="en-US" b="1" dirty="0"/>
              <a:t>2. Win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two models (e.g., RLAIF vs. RLHF), we ask humans:</a:t>
            </a:r>
            <a:br>
              <a:rPr lang="en-US" dirty="0"/>
            </a:br>
            <a:r>
              <a:rPr lang="en-US" i="1" dirty="0"/>
              <a:t>“Which output is better?”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Win Rate = % of times one model is preferred</a:t>
            </a:r>
          </a:p>
          <a:p>
            <a:pPr>
              <a:buNone/>
            </a:pPr>
            <a:r>
              <a:rPr lang="en-US" b="1" dirty="0"/>
              <a:t>3. Harmless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% of outputs considered safe (non-toxic)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Especially used for harmless dialogue tasks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ranking – just “harmless or not”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55682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85DF19-D3B7-3CA1-F11F-5FC25F218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10925176" cy="112887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CA" sz="2800" b="1" dirty="0"/>
              <a:t>Experimental results: RLHF VS RLAIF</a:t>
            </a:r>
            <a:endParaRPr lang="en-US" sz="2800" b="1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4C5173A-0901-BAD7-CBA4-977EF8BC9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99" y="1770537"/>
            <a:ext cx="3288467" cy="422954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DBEED5-1DB9-2042-6EA2-F651D9CBF5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175683" y="2743208"/>
            <a:ext cx="7728245" cy="2762847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B21692-652C-4371-95C5-05248EF34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789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2898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42" name="Rectangle 924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59954-D773-EDF6-9FEF-5D56B244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14399"/>
            <a:ext cx="10164209" cy="1621147"/>
          </a:xfrm>
        </p:spPr>
        <p:txBody>
          <a:bodyPr>
            <a:normAutofit/>
          </a:bodyPr>
          <a:lstStyle/>
          <a:p>
            <a:r>
              <a:rPr lang="en-CA" sz="2800" b="1" dirty="0"/>
              <a:t>Experimental results: RLHF VS RLAIF</a:t>
            </a:r>
          </a:p>
        </p:txBody>
      </p:sp>
      <p:cxnSp>
        <p:nvCxnSpPr>
          <p:cNvPr id="9243" name="Straight Connector 1">
            <a:extLst>
              <a:ext uri="{FF2B5EF4-FFF2-40B4-BE49-F238E27FC236}">
                <a16:creationId xmlns:a16="http://schemas.microsoft.com/office/drawing/2014/main" id="{7D3DF08D-8EDA-0FB3-59D9-B692F2ADD1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5046C5-933C-A4C4-B848-BA1A27A09B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087" y="2078851"/>
            <a:ext cx="986812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RLAIF performs comparably to or better than RLHF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all three tasks (summarization, helpful dialogue, and harmless dialogue), with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 win rates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over the SFT baseline: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Summarization: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RLAIF 71%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RLHF 73%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Helpful Dialogue: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RLAIF 63%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RLHF 64%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 rate difference between RLAIF and RLHF is not statistically significant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meaning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are equally preferred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human annotators when compared directly.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harmless dialogue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RLAIF achieves the highest harmlessness rate at 88%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outperforming both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RLHF (76%)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SFT (64%)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indicating better safety alignment.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Both RLAIF and RLHF tend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longer responses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than SFT, which may bias human evaluations. Even after controlling for response length,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RLAIF and RLHF still outperform SFT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and AI feedback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training did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improve performance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beyond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human feedback alone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though other hybrid methods might still show potential (see Appendix K).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RLAIF offers a cost-effective and scalable alternative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RLHF by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eliminating the need for human labels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feedback costs by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 10x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compared to human annotation</a:t>
            </a:r>
          </a:p>
        </p:txBody>
      </p:sp>
    </p:spTree>
    <p:extLst>
      <p:ext uri="{BB962C8B-B14F-4D97-AF65-F5344CB8AC3E}">
        <p14:creationId xmlns:p14="http://schemas.microsoft.com/office/powerpoint/2010/main" val="2544629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3D507-3DF9-8E1F-EBE1-D6B8C4958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27587"/>
          </a:xfrm>
        </p:spPr>
        <p:txBody>
          <a:bodyPr>
            <a:normAutofit fontScale="90000"/>
          </a:bodyPr>
          <a:lstStyle/>
          <a:p>
            <a:r>
              <a:rPr lang="en-CA" sz="2800" b="1" dirty="0"/>
              <a:t>Direct RLAIF (d-RLAIF)</a:t>
            </a:r>
            <a:br>
              <a:rPr lang="en-CA" b="1" dirty="0"/>
            </a:br>
            <a:endParaRPr lang="en-CA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F9DA455-E8D3-D361-9580-9D55E111E4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1641987"/>
            <a:ext cx="906167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d-RLAIF (direct preference learning) was tested on summarization and helpfulness tasks using the smaller, instruction-tuned 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PaLM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2 XS model as the AI labeler to reduce compute costs.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summarization, human annotators preferred d-RLAIF over SFT (Supervised Fine-Tuning) 74% of the time, showing strong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compared to same-size RLAIF (which uses a Reward Model distilled from LLM feedback), d-RLAIF had a higher win rate (74% vs. 68%), showing statistically significant improvement.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Annotators also preferred d-RLAIF over RLAIF 60% of the time, suggesting that directly using LLM preferences is more effective than relying on a reward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likely reason for d-RLAIF's superiority is that it avoids the "staleness" problem—reward models may become outdated or misaligned during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 the helpful dialogue generation task, d-RLAIF achieved a 66% win rate over the SFT baseline, demonstrating an example of LLM self-improvement, as the model giving feedback and the policy being trained were the same.</a:t>
            </a:r>
          </a:p>
        </p:txBody>
      </p:sp>
    </p:spTree>
    <p:extLst>
      <p:ext uri="{BB962C8B-B14F-4D97-AF65-F5344CB8AC3E}">
        <p14:creationId xmlns:p14="http://schemas.microsoft.com/office/powerpoint/2010/main" val="17568680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CBEEB-058D-01C8-E3C6-F65B59172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7283706" cy="8896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AI Labeler Alignment by Prompt Type</a:t>
            </a:r>
            <a:endParaRPr lang="en-CA" sz="2800" dirty="0"/>
          </a:p>
        </p:txBody>
      </p:sp>
      <p:cxnSp>
        <p:nvCxnSpPr>
          <p:cNvPr id="10249" name="Straight Connector 10248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682B-72B0-DA49-F642-58A3290D2C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94" y="1712870"/>
            <a:ext cx="10691812" cy="37398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Chain-of-Thought (</a:t>
            </a:r>
            <a:r>
              <a:rPr lang="en-US" sz="1400" dirty="0" err="1"/>
              <a:t>CoT</a:t>
            </a:r>
            <a:r>
              <a:rPr lang="en-US" sz="1400" dirty="0"/>
              <a:t>) reasoning improves AI labeler alignment, especially for summarization tasks, and helps with helpful/harmless dialogue only when used with the Base prompt.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Detailed preambles boost alignment in summarization, but show mixed results for helpfulness and harmlessness, likely due to the simplicity of these tasks.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In-context learning (few-shot prompting) only helps with harmlessness; for summarization and helpfulness, alignment decreases as the number of examples increases.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The best AI alignment score (78.0%) came from the Detailed + </a:t>
            </a:r>
            <a:r>
              <a:rPr lang="en-US" sz="1400" dirty="0" err="1"/>
              <a:t>CoT</a:t>
            </a:r>
            <a:r>
              <a:rPr lang="en-US" sz="1400" dirty="0"/>
              <a:t> 0-shot prompt, even outperforming estimated human inter-annotator agreement (73–77%).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Self-consistency, which samples multiple </a:t>
            </a:r>
            <a:r>
              <a:rPr lang="en-US" sz="1400" dirty="0" err="1"/>
              <a:t>CoT</a:t>
            </a:r>
            <a:r>
              <a:rPr lang="en-US" sz="1400" dirty="0"/>
              <a:t> rationales, degrades alignment, contrary to expectations.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Training RLAIF policies with better-aligned AI labels leads to higher performance, suggesting a direct link between label quality and policy effectiveness.</a:t>
            </a:r>
            <a:endParaRPr lang="en-CA" sz="1400" dirty="0"/>
          </a:p>
        </p:txBody>
      </p:sp>
      <p:cxnSp>
        <p:nvCxnSpPr>
          <p:cNvPr id="10251" name="Straight Connector 10250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2334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1" name="Rectangle 1127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D64047-C47D-B7A0-BB67-7E4DE9335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8" y="909637"/>
            <a:ext cx="6400800" cy="69978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AI Labeler Alignment vs. Model Size</a:t>
            </a:r>
            <a:endParaRPr lang="en-CA" sz="2800" dirty="0"/>
          </a:p>
        </p:txBody>
      </p:sp>
      <p:cxnSp>
        <p:nvCxnSpPr>
          <p:cNvPr id="11273" name="Straight Connector 11272">
            <a:extLst>
              <a:ext uri="{FF2B5EF4-FFF2-40B4-BE49-F238E27FC236}">
                <a16:creationId xmlns:a16="http://schemas.microsoft.com/office/drawing/2014/main" id="{8E813B4C-6731-0B72-5252-A79AB0E20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1F94D-6FDA-E55E-FCEB-DC5D25E1E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9808" y="4142946"/>
            <a:ext cx="6400800" cy="196654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400" dirty="0"/>
              <a:t>This chart shows that as the </a:t>
            </a:r>
            <a:r>
              <a:rPr lang="en-US" sz="1400" b="1" dirty="0"/>
              <a:t>LLM model size increases</a:t>
            </a:r>
            <a:r>
              <a:rPr lang="en-US" sz="1400" dirty="0"/>
              <a:t>, the alignment with human preferences also improves: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PaLM</a:t>
            </a:r>
            <a:r>
              <a:rPr lang="en-US" sz="1400" b="1" dirty="0"/>
              <a:t> 2 L</a:t>
            </a:r>
            <a:r>
              <a:rPr lang="en-US" sz="1400" dirty="0"/>
              <a:t> achieves the highest alignment at </a:t>
            </a:r>
            <a:r>
              <a:rPr lang="en-US" sz="1400" b="1" dirty="0"/>
              <a:t>78.0%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PaLM</a:t>
            </a:r>
            <a:r>
              <a:rPr lang="en-US" sz="1400" b="1" dirty="0"/>
              <a:t> 2 S</a:t>
            </a:r>
            <a:r>
              <a:rPr lang="en-US" sz="1400" dirty="0"/>
              <a:t> drops to </a:t>
            </a:r>
            <a:r>
              <a:rPr lang="en-US" sz="1400" b="1" dirty="0"/>
              <a:t>73.8%</a:t>
            </a:r>
            <a:r>
              <a:rPr lang="en-US" sz="1400" dirty="0"/>
              <a:t>, and </a:t>
            </a:r>
            <a:r>
              <a:rPr lang="en-US" sz="1400" b="1" dirty="0" err="1"/>
              <a:t>PaLM</a:t>
            </a:r>
            <a:r>
              <a:rPr lang="en-US" sz="1400" b="1" dirty="0"/>
              <a:t> 2 XS</a:t>
            </a:r>
            <a:r>
              <a:rPr lang="en-US" sz="1400" dirty="0"/>
              <a:t> further down to </a:t>
            </a:r>
            <a:r>
              <a:rPr lang="en-US" sz="1400" b="1" dirty="0"/>
              <a:t>62.7%</a:t>
            </a:r>
            <a:r>
              <a:rPr lang="en-US" sz="1400" dirty="0"/>
              <a:t>.</a:t>
            </a:r>
          </a:p>
          <a:p>
            <a:r>
              <a:rPr lang="en-US" sz="1400" dirty="0"/>
              <a:t>Let me know if you’d like these added to your presentation slides.</a:t>
            </a:r>
          </a:p>
          <a:p>
            <a:endParaRPr lang="en-CA" dirty="0"/>
          </a:p>
        </p:txBody>
      </p:sp>
      <p:pic>
        <p:nvPicPr>
          <p:cNvPr id="11266" name="Picture 2" descr="Output image">
            <a:extLst>
              <a:ext uri="{FF2B5EF4-FFF2-40B4-BE49-F238E27FC236}">
                <a16:creationId xmlns:a16="http://schemas.microsoft.com/office/drawing/2014/main" id="{A0F8464E-6C37-3DFE-2895-C3E2618B0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0246" y="1751049"/>
            <a:ext cx="3309223" cy="2250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275" name="Straight Connector 11274">
            <a:extLst>
              <a:ext uri="{FF2B5EF4-FFF2-40B4-BE49-F238E27FC236}">
                <a16:creationId xmlns:a16="http://schemas.microsoft.com/office/drawing/2014/main" id="{6E0E8146-6E65-2E6C-0C86-547E3C9254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49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00E53-820E-CD95-03CA-38DF7B206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b="1" dirty="0"/>
              <a:t>Qualitative 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9E71A-AD39-036A-B7DB-81ED08F56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517" y="2054942"/>
            <a:ext cx="10477500" cy="3415332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Similarity in Outputs</a:t>
            </a:r>
            <a:r>
              <a:rPr lang="en-US" sz="1600" dirty="0"/>
              <a:t>: In many test cases, RLAIF and RLHF generated similar summaries, reflecting their comparable win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RLHF Hallucinations</a:t>
            </a:r>
            <a:r>
              <a:rPr lang="en-US" sz="1600" dirty="0"/>
              <a:t>: RLHF occasionally hallucinated details not present in the original text.</a:t>
            </a:r>
            <a:br>
              <a:rPr lang="en-US" sz="1600" dirty="0"/>
            </a:br>
            <a:r>
              <a:rPr lang="en-US" sz="1600" i="1" dirty="0"/>
              <a:t>Example: RLHF summary stated the author is 20 years old, though the source never mentioned it.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RLAIF Repetition Issues</a:t>
            </a:r>
            <a:r>
              <a:rPr lang="en-US" sz="1600" dirty="0"/>
              <a:t>: Some RLAIF summaries had repeated phrases or less fluent structure, such as unnecessary repetition like </a:t>
            </a:r>
            <a:r>
              <a:rPr lang="en-US" sz="1600" i="1" dirty="0"/>
              <a:t>“How do I get over this?”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Fluency Trade-Off</a:t>
            </a:r>
            <a:r>
              <a:rPr lang="en-US" sz="1600" dirty="0"/>
              <a:t>: RLHF responses were more fluent but sometimes less grounded, while RLAIF was more factual but occasionally less polished.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/>
              <a:t>Human Evaluation</a:t>
            </a:r>
            <a:r>
              <a:rPr lang="en-US" sz="1600" dirty="0"/>
              <a:t>: A blind ranking by humans on 70 examples showed no statistically significant difference between RLHF and RLAIF in terms of: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Accuracy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Coverage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Coherence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33756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A4CE-DD05-BE39-F680-1829C83EF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19432"/>
          </a:xfrm>
        </p:spPr>
        <p:txBody>
          <a:bodyPr>
            <a:normAutofit/>
          </a:bodyPr>
          <a:lstStyle/>
          <a:p>
            <a:r>
              <a:rPr lang="en-CA" sz="2800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46767C-912D-C5DA-0679-A43E0A3993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0635" y="2183725"/>
            <a:ext cx="1108206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RLAIF Matches RLHF: RLAIF provides comparable or better results than RLHF across summarization, helpfulness, and harmlessness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RLAIF is Scalable &amp; Cost-Effective: It reduces the need for expensive human labeling by using LLM-generated feedback, cutting costs 10x cheaper.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d-RLAIF Outperforms Canonical RLAIF: Directly using LLM feedback during RL removes the need for training a reward model and avoids RM staleness.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Engineering Matters: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Chain-of-Thought (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CoT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reasoning improves alignment.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Detailed preambles work best for complex tasks like summarization.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In-context learning has mixed effects.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Size Matters: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Larger models = better alignment with human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But even same-size models can self-improve under RLAIF!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Questions Remain: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can RLAIF be applied in model-based RL settings?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AI + human feedback combination yield better results?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8454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C9CD-67D5-79B0-1E3F-06D6E3067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b="1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42CAF-B6AE-53FE-D915-C34B7A030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CA" sz="1400" b="1" dirty="0"/>
              <a:t>🧪 3. Experimental Details</a:t>
            </a:r>
          </a:p>
          <a:p>
            <a:pPr>
              <a:buNone/>
            </a:pPr>
            <a:r>
              <a:rPr lang="en-CA" sz="1400" b="1" dirty="0"/>
              <a:t>📚 3.1. Datasets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400" b="1" dirty="0"/>
              <a:t>Reddit TL;DR</a:t>
            </a:r>
            <a:r>
              <a:rPr lang="en-CA" sz="1400" dirty="0"/>
              <a:t>: Contains Reddit posts and their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400" b="1" dirty="0"/>
              <a:t>OpenAI’s Human Preferences</a:t>
            </a:r>
            <a:r>
              <a:rPr lang="en-CA" sz="1400" dirty="0"/>
              <a:t>: A subset of Reddit TL;DR with human-annotated preferred summaries.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400" b="1" dirty="0"/>
              <a:t>Anthropic Human Preferences</a:t>
            </a:r>
            <a:r>
              <a:rPr lang="en-CA" sz="1400" dirty="0"/>
              <a:t>: Human vs AI conversations with ratings for helpfulness and harmlessness.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400" dirty="0"/>
              <a:t>Tried </a:t>
            </a:r>
            <a:r>
              <a:rPr lang="en-CA" sz="1400" b="1" dirty="0"/>
              <a:t>Stanford Human Preferences</a:t>
            </a:r>
            <a:r>
              <a:rPr lang="en-CA" sz="1400" dirty="0"/>
              <a:t>, but no major gains seen after correcting bias.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925410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D1E34-2BD0-F190-8511-2D8EA2CD8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100" b="1" dirty="0"/>
              <a:t>Appendix</a:t>
            </a:r>
            <a:br>
              <a:rPr lang="en-CA" dirty="0"/>
            </a:b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426878-F172-D718-278B-002F3C4FB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1400" b="1" dirty="0"/>
              <a:t>3.2. LLM Labeling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Used </a:t>
            </a:r>
            <a:r>
              <a:rPr lang="en-US" sz="1400" b="1" dirty="0" err="1"/>
              <a:t>PaLM</a:t>
            </a:r>
            <a:r>
              <a:rPr lang="en-US" sz="1400" b="1" dirty="0"/>
              <a:t> 2 (Large)</a:t>
            </a:r>
            <a:r>
              <a:rPr lang="en-US" sz="1400" dirty="0"/>
              <a:t> models for labeling AI preferences.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Summarization examples were filtered to only include high-confidence human preferences.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Around </a:t>
            </a:r>
            <a:r>
              <a:rPr lang="en-US" sz="1400" b="1" dirty="0"/>
              <a:t>3-4k examples per task</a:t>
            </a:r>
            <a:r>
              <a:rPr lang="en-US" sz="1400" dirty="0"/>
              <a:t> used after filtering.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Labels were generated using the best-performing prompts.</a:t>
            </a:r>
          </a:p>
        </p:txBody>
      </p:sp>
    </p:spTree>
    <p:extLst>
      <p:ext uri="{BB962C8B-B14F-4D97-AF65-F5344CB8AC3E}">
        <p14:creationId xmlns:p14="http://schemas.microsoft.com/office/powerpoint/2010/main" val="22933693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FC92E-B03C-9FDC-F7E3-998C48327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b="1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4A82D-AF5C-1355-11A0-D0DC961B0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CA" sz="1400" b="1" dirty="0"/>
              <a:t>⚙️ 3.3. Model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400" b="1" dirty="0"/>
              <a:t>SFT Models</a:t>
            </a:r>
            <a:r>
              <a:rPr lang="en-CA" sz="1400" dirty="0"/>
              <a:t>: Initialized from </a:t>
            </a:r>
            <a:r>
              <a:rPr lang="en-CA" sz="1400" b="1" dirty="0" err="1"/>
              <a:t>PaLM</a:t>
            </a:r>
            <a:r>
              <a:rPr lang="en-CA" sz="1400" b="1" dirty="0"/>
              <a:t> 2 Extra-Small (XS)</a:t>
            </a:r>
            <a:r>
              <a:rPr lang="en-CA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400" dirty="0"/>
              <a:t>For summarization: Fine-tuned on Reddit TL;DR.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400" b="1" dirty="0"/>
              <a:t>Reward Models (RM)</a:t>
            </a:r>
            <a:r>
              <a:rPr lang="en-CA" sz="1400" dirty="0"/>
              <a:t>: Also based on </a:t>
            </a:r>
            <a:r>
              <a:rPr lang="en-CA" sz="1400" dirty="0" err="1"/>
              <a:t>PaLM</a:t>
            </a:r>
            <a:r>
              <a:rPr lang="en-CA" sz="1400" dirty="0"/>
              <a:t> 2 XS.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400" b="1" dirty="0"/>
              <a:t>RL Phase</a:t>
            </a:r>
            <a:r>
              <a:rPr lang="en-CA" sz="1400" dirty="0"/>
              <a:t>: Used a simplified version of REINFORCE algorithm (instead of PPO) to train policy models.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1400" dirty="0"/>
              <a:t>Policies were trained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/>
              <a:t>Reddit TL;DR for summarization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sz="1400" dirty="0"/>
              <a:t>Anthropic datasets for helpful/harmless dialogue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79977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955B-79FF-332A-449D-4C17452BD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2800" b="1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10151E-B656-70D4-BE47-658DB6D87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400" b="1" dirty="0"/>
              <a:t>👨‍⚖️ 3.4. Human Evaluation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Human evaluators ranked responses from different models (SFT, RLAIF, RLHF).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For harmlessness, each response was marked as either "harmless" or "harmful".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Used </a:t>
            </a:r>
            <a:r>
              <a:rPr lang="en-US" sz="1400" b="1" dirty="0"/>
              <a:t>test split data</a:t>
            </a:r>
            <a:r>
              <a:rPr lang="en-US" sz="1400" dirty="0"/>
              <a:t> to ensure fair evaluation (not seen during training)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06292208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3278</Words>
  <Application>Microsoft Office PowerPoint</Application>
  <PresentationFormat>Widescreen</PresentationFormat>
  <Paragraphs>275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Aptos</vt:lpstr>
      <vt:lpstr>Arial</vt:lpstr>
      <vt:lpstr>Calisto MT</vt:lpstr>
      <vt:lpstr>Times New Roman</vt:lpstr>
      <vt:lpstr>Univers Condensed</vt:lpstr>
      <vt:lpstr>ChronicleVTI</vt:lpstr>
      <vt:lpstr>RLAIF vs. RLHF: Scaling Reinforcement Learning from Human Feedback with AI Feedback  Group  1 – Milestone 5 </vt:lpstr>
      <vt:lpstr>What is Feedback in Reinforcement Learning (RL)? </vt:lpstr>
      <vt:lpstr>Why Feedback is Important in Reinforcement Learning:</vt:lpstr>
      <vt:lpstr>Types of feedback</vt:lpstr>
      <vt:lpstr>Types of feedback</vt:lpstr>
      <vt:lpstr>INTRODUCTION</vt:lpstr>
      <vt:lpstr>how the RLAIF and d-RLAIF systems are implemented</vt:lpstr>
      <vt:lpstr>Preference Labeling with LLMs</vt:lpstr>
      <vt:lpstr>Preference Labeling with LLMs</vt:lpstr>
      <vt:lpstr>Mitigating Position Bias in LLM Preference Evaluation</vt:lpstr>
      <vt:lpstr>Enhancing Preference Labeling with Chain-of-Thought Reasoning</vt:lpstr>
      <vt:lpstr>Reinforcement Learning from AI Feedback </vt:lpstr>
      <vt:lpstr>Direct-RLAIF (d-RLAIF):</vt:lpstr>
      <vt:lpstr>Detailed Process of d-RLAIF:</vt:lpstr>
      <vt:lpstr>Detailed Process of d-RLAIF and Why d-RLAIF Is Better in Many Cases:</vt:lpstr>
      <vt:lpstr>Evaluation Metrics</vt:lpstr>
      <vt:lpstr>Experimental results: RLHF VS RLAIF</vt:lpstr>
      <vt:lpstr>Experimental results: RLHF VS RLAIF</vt:lpstr>
      <vt:lpstr>Direct RLAIF (d-RLAIF) </vt:lpstr>
      <vt:lpstr>AI Labeler Alignment by Prompt Type</vt:lpstr>
      <vt:lpstr>AI Labeler Alignment vs. Model Size</vt:lpstr>
      <vt:lpstr>Qualitative Observations</vt:lpstr>
      <vt:lpstr>Conclusion</vt:lpstr>
      <vt:lpstr>Appendix</vt:lpstr>
      <vt:lpstr>Appendix </vt:lpstr>
      <vt:lpstr>Appendix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Jobina Joy</dc:creator>
  <cp:lastModifiedBy>Anand Chathananickal Sajeevan</cp:lastModifiedBy>
  <cp:revision>5</cp:revision>
  <dcterms:created xsi:type="dcterms:W3CDTF">2025-03-24T19:31:36Z</dcterms:created>
  <dcterms:modified xsi:type="dcterms:W3CDTF">2025-03-25T03:52:30Z</dcterms:modified>
</cp:coreProperties>
</file>