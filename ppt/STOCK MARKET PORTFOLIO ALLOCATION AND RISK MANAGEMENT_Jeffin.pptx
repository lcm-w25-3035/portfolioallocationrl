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 Ultra-Bold" charset="1" panose="00000900000000000000"/>
      <p:regular r:id="rId12"/>
    </p:embeddedFont>
    <p:embeddedFont>
      <p:font typeface="Montserrat Semi-Bold" charset="1" panose="00000700000000000000"/>
      <p:regular r:id="rId13"/>
    </p:embeddedFont>
    <p:embeddedFont>
      <p:font typeface="Montserrat Medium" charset="1" panose="00000600000000000000"/>
      <p:regular r:id="rId14"/>
    </p:embeddedFont>
    <p:embeddedFont>
      <p:font typeface="Montserrat Bold" charset="1" panose="00000800000000000000"/>
      <p:regular r:id="rId15"/>
    </p:embeddedFont>
    <p:embeddedFont>
      <p:font typeface="Montserrat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png" Type="http://schemas.openxmlformats.org/officeDocument/2006/relationships/image"/><Relationship Id="rId9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7D7D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2108199" y="8854053"/>
            <a:ext cx="7983637" cy="7983637"/>
            <a:chOff x="0" y="0"/>
            <a:chExt cx="2102686" cy="2102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2686" cy="2102686"/>
            </a:xfrm>
            <a:custGeom>
              <a:avLst/>
              <a:gdLst/>
              <a:ahLst/>
              <a:cxnLst/>
              <a:rect r="r" b="b" t="t" l="l"/>
              <a:pathLst>
                <a:path h="2102686" w="2102686">
                  <a:moveTo>
                    <a:pt x="96972" y="0"/>
                  </a:moveTo>
                  <a:lnTo>
                    <a:pt x="2005714" y="0"/>
                  </a:lnTo>
                  <a:cubicBezTo>
                    <a:pt x="2059270" y="0"/>
                    <a:pt x="2102686" y="43416"/>
                    <a:pt x="2102686" y="96972"/>
                  </a:cubicBezTo>
                  <a:lnTo>
                    <a:pt x="2102686" y="2005714"/>
                  </a:lnTo>
                  <a:cubicBezTo>
                    <a:pt x="2102686" y="2059270"/>
                    <a:pt x="2059270" y="2102686"/>
                    <a:pt x="2005714" y="2102686"/>
                  </a:cubicBezTo>
                  <a:lnTo>
                    <a:pt x="96972" y="2102686"/>
                  </a:lnTo>
                  <a:cubicBezTo>
                    <a:pt x="43416" y="2102686"/>
                    <a:pt x="0" y="2059270"/>
                    <a:pt x="0" y="2005714"/>
                  </a:cubicBezTo>
                  <a:lnTo>
                    <a:pt x="0" y="96972"/>
                  </a:lnTo>
                  <a:cubicBezTo>
                    <a:pt x="0" y="43416"/>
                    <a:pt x="43416" y="0"/>
                    <a:pt x="96972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2686" cy="214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87463" y="-1416292"/>
            <a:ext cx="6508271" cy="6508271"/>
          </a:xfrm>
          <a:custGeom>
            <a:avLst/>
            <a:gdLst/>
            <a:ahLst/>
            <a:cxnLst/>
            <a:rect r="r" b="b" t="t" l="l"/>
            <a:pathLst>
              <a:path h="6508271" w="6508271">
                <a:moveTo>
                  <a:pt x="0" y="0"/>
                </a:moveTo>
                <a:lnTo>
                  <a:pt x="6508271" y="0"/>
                </a:lnTo>
                <a:lnTo>
                  <a:pt x="6508271" y="6508271"/>
                </a:lnTo>
                <a:lnTo>
                  <a:pt x="0" y="6508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700000">
            <a:off x="15541426" y="1151682"/>
            <a:ext cx="7983637" cy="7983637"/>
            <a:chOff x="0" y="0"/>
            <a:chExt cx="2102686" cy="21026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2686" cy="2102686"/>
            </a:xfrm>
            <a:custGeom>
              <a:avLst/>
              <a:gdLst/>
              <a:ahLst/>
              <a:cxnLst/>
              <a:rect r="r" b="b" t="t" l="l"/>
              <a:pathLst>
                <a:path h="2102686" w="2102686">
                  <a:moveTo>
                    <a:pt x="0" y="0"/>
                  </a:moveTo>
                  <a:lnTo>
                    <a:pt x="2102686" y="0"/>
                  </a:lnTo>
                  <a:lnTo>
                    <a:pt x="2102686" y="2102686"/>
                  </a:lnTo>
                  <a:lnTo>
                    <a:pt x="0" y="2102686"/>
                  </a:ln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2686" cy="214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6500" y="2188559"/>
            <a:ext cx="7069741" cy="70697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0093" b="0"/>
              </a:stretch>
            </a:blipFill>
            <a:ln w="142875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true" flipV="false" rot="0">
            <a:off x="16095734" y="9258300"/>
            <a:ext cx="1163566" cy="491607"/>
          </a:xfrm>
          <a:custGeom>
            <a:avLst/>
            <a:gdLst/>
            <a:ahLst/>
            <a:cxnLst/>
            <a:rect r="r" b="b" t="t" l="l"/>
            <a:pathLst>
              <a:path h="491607" w="1163566">
                <a:moveTo>
                  <a:pt x="1163566" y="0"/>
                </a:moveTo>
                <a:lnTo>
                  <a:pt x="0" y="0"/>
                </a:lnTo>
                <a:lnTo>
                  <a:pt x="0" y="491607"/>
                </a:lnTo>
                <a:lnTo>
                  <a:pt x="1163566" y="491607"/>
                </a:lnTo>
                <a:lnTo>
                  <a:pt x="116356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585340"/>
            <a:ext cx="10879733" cy="6823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2"/>
              </a:lnSpc>
            </a:pPr>
            <a:r>
              <a:rPr lang="en-US" sz="6634" b="true">
                <a:solidFill>
                  <a:srgbClr val="0901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STOCK MARKET PORTFOLIO ALLOCATION AND RISK MANAGEMENT USING REINFORCEMENT LEARNING</a:t>
            </a:r>
          </a:p>
          <a:p>
            <a:pPr algn="l">
              <a:lnSpc>
                <a:spcPts val="776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37612" y="6773994"/>
            <a:ext cx="9698888" cy="189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7"/>
              </a:lnSpc>
            </a:pPr>
            <a:r>
              <a:rPr lang="en-US" sz="302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An end-to-end reinforcement learning system for intelligent investment decisions and risk control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7D7D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0199400" y="-4175098"/>
            <a:ext cx="7983637" cy="7983637"/>
            <a:chOff x="0" y="0"/>
            <a:chExt cx="2102686" cy="2102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2686" cy="2102686"/>
            </a:xfrm>
            <a:custGeom>
              <a:avLst/>
              <a:gdLst/>
              <a:ahLst/>
              <a:cxnLst/>
              <a:rect r="r" b="b" t="t" l="l"/>
              <a:pathLst>
                <a:path h="2102686" w="2102686">
                  <a:moveTo>
                    <a:pt x="0" y="0"/>
                  </a:moveTo>
                  <a:lnTo>
                    <a:pt x="2102686" y="0"/>
                  </a:lnTo>
                  <a:lnTo>
                    <a:pt x="2102686" y="2102686"/>
                  </a:lnTo>
                  <a:lnTo>
                    <a:pt x="0" y="2102686"/>
                  </a:ln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2686" cy="214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700000">
            <a:off x="7254802" y="10377113"/>
            <a:ext cx="7983637" cy="7983637"/>
            <a:chOff x="0" y="0"/>
            <a:chExt cx="2102686" cy="2102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2686" cy="2102686"/>
            </a:xfrm>
            <a:custGeom>
              <a:avLst/>
              <a:gdLst/>
              <a:ahLst/>
              <a:cxnLst/>
              <a:rect r="r" b="b" t="t" l="l"/>
              <a:pathLst>
                <a:path h="2102686" w="2102686">
                  <a:moveTo>
                    <a:pt x="96972" y="0"/>
                  </a:moveTo>
                  <a:lnTo>
                    <a:pt x="2005714" y="0"/>
                  </a:lnTo>
                  <a:cubicBezTo>
                    <a:pt x="2059270" y="0"/>
                    <a:pt x="2102686" y="43416"/>
                    <a:pt x="2102686" y="96972"/>
                  </a:cubicBezTo>
                  <a:lnTo>
                    <a:pt x="2102686" y="2005714"/>
                  </a:lnTo>
                  <a:cubicBezTo>
                    <a:pt x="2102686" y="2059270"/>
                    <a:pt x="2059270" y="2102686"/>
                    <a:pt x="2005714" y="2102686"/>
                  </a:cubicBezTo>
                  <a:lnTo>
                    <a:pt x="96972" y="2102686"/>
                  </a:lnTo>
                  <a:cubicBezTo>
                    <a:pt x="43416" y="2102686"/>
                    <a:pt x="0" y="2059270"/>
                    <a:pt x="0" y="2005714"/>
                  </a:cubicBezTo>
                  <a:lnTo>
                    <a:pt x="0" y="96972"/>
                  </a:lnTo>
                  <a:cubicBezTo>
                    <a:pt x="0" y="43416"/>
                    <a:pt x="43416" y="0"/>
                    <a:pt x="969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02686" cy="214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97332" y="1362017"/>
            <a:ext cx="6787774" cy="67877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579181" y="866540"/>
            <a:ext cx="4303353" cy="4303353"/>
          </a:xfrm>
          <a:custGeom>
            <a:avLst/>
            <a:gdLst/>
            <a:ahLst/>
            <a:cxnLst/>
            <a:rect r="r" b="b" t="t" l="l"/>
            <a:pathLst>
              <a:path h="4303353" w="4303353">
                <a:moveTo>
                  <a:pt x="0" y="0"/>
                </a:moveTo>
                <a:lnTo>
                  <a:pt x="4303352" y="0"/>
                </a:lnTo>
                <a:lnTo>
                  <a:pt x="4303352" y="4303353"/>
                </a:lnTo>
                <a:lnTo>
                  <a:pt x="0" y="4303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18290" y="2737423"/>
            <a:ext cx="9184948" cy="2527840"/>
            <a:chOff x="0" y="0"/>
            <a:chExt cx="2764504" cy="760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4505" cy="760834"/>
            </a:xfrm>
            <a:custGeom>
              <a:avLst/>
              <a:gdLst/>
              <a:ahLst/>
              <a:cxnLst/>
              <a:rect r="r" b="b" t="t" l="l"/>
              <a:pathLst>
                <a:path h="760834" w="2764505">
                  <a:moveTo>
                    <a:pt x="18544" y="0"/>
                  </a:moveTo>
                  <a:lnTo>
                    <a:pt x="2745961" y="0"/>
                  </a:lnTo>
                  <a:cubicBezTo>
                    <a:pt x="2756202" y="0"/>
                    <a:pt x="2764505" y="8302"/>
                    <a:pt x="2764505" y="18544"/>
                  </a:cubicBezTo>
                  <a:lnTo>
                    <a:pt x="2764505" y="742291"/>
                  </a:lnTo>
                  <a:cubicBezTo>
                    <a:pt x="2764505" y="752532"/>
                    <a:pt x="2756202" y="760834"/>
                    <a:pt x="2745961" y="760834"/>
                  </a:cubicBezTo>
                  <a:lnTo>
                    <a:pt x="18544" y="760834"/>
                  </a:lnTo>
                  <a:cubicBezTo>
                    <a:pt x="8302" y="760834"/>
                    <a:pt x="0" y="752532"/>
                    <a:pt x="0" y="742291"/>
                  </a:cubicBezTo>
                  <a:lnTo>
                    <a:pt x="0" y="18544"/>
                  </a:lnTo>
                  <a:cubicBezTo>
                    <a:pt x="0" y="8302"/>
                    <a:pt x="8302" y="0"/>
                    <a:pt x="185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901A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64504" cy="798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1787" y="1996472"/>
            <a:ext cx="5518864" cy="551886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9074" t="0" r="-41019" b="0"/>
              </a:stretch>
            </a:blipFill>
            <a:ln w="666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7D7D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3607922" y="8837687"/>
            <a:ext cx="4303353" cy="4303353"/>
          </a:xfrm>
          <a:custGeom>
            <a:avLst/>
            <a:gdLst/>
            <a:ahLst/>
            <a:cxnLst/>
            <a:rect r="r" b="b" t="t" l="l"/>
            <a:pathLst>
              <a:path h="4303353" w="4303353">
                <a:moveTo>
                  <a:pt x="0" y="0"/>
                </a:moveTo>
                <a:lnTo>
                  <a:pt x="4303352" y="0"/>
                </a:lnTo>
                <a:lnTo>
                  <a:pt x="4303352" y="4303353"/>
                </a:lnTo>
                <a:lnTo>
                  <a:pt x="0" y="4303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18290" y="6239686"/>
            <a:ext cx="709460" cy="458101"/>
            <a:chOff x="0" y="0"/>
            <a:chExt cx="186854" cy="1206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854" cy="120652"/>
            </a:xfrm>
            <a:custGeom>
              <a:avLst/>
              <a:gdLst/>
              <a:ahLst/>
              <a:cxnLst/>
              <a:rect r="r" b="b" t="t" l="l"/>
              <a:pathLst>
                <a:path h="120652" w="186854">
                  <a:moveTo>
                    <a:pt x="60326" y="0"/>
                  </a:moveTo>
                  <a:lnTo>
                    <a:pt x="126528" y="0"/>
                  </a:lnTo>
                  <a:cubicBezTo>
                    <a:pt x="159845" y="0"/>
                    <a:pt x="186854" y="27009"/>
                    <a:pt x="186854" y="60326"/>
                  </a:cubicBezTo>
                  <a:lnTo>
                    <a:pt x="186854" y="60326"/>
                  </a:lnTo>
                  <a:cubicBezTo>
                    <a:pt x="186854" y="76326"/>
                    <a:pt x="180498" y="91670"/>
                    <a:pt x="169185" y="102983"/>
                  </a:cubicBezTo>
                  <a:cubicBezTo>
                    <a:pt x="157871" y="114296"/>
                    <a:pt x="142527" y="120652"/>
                    <a:pt x="126528" y="120652"/>
                  </a:cubicBezTo>
                  <a:lnTo>
                    <a:pt x="60326" y="120652"/>
                  </a:lnTo>
                  <a:cubicBezTo>
                    <a:pt x="44327" y="120652"/>
                    <a:pt x="28982" y="114296"/>
                    <a:pt x="17669" y="102983"/>
                  </a:cubicBezTo>
                  <a:cubicBezTo>
                    <a:pt x="6356" y="91670"/>
                    <a:pt x="0" y="76326"/>
                    <a:pt x="0" y="60326"/>
                  </a:cubicBezTo>
                  <a:lnTo>
                    <a:pt x="0" y="60326"/>
                  </a:lnTo>
                  <a:cubicBezTo>
                    <a:pt x="0" y="44327"/>
                    <a:pt x="6356" y="28982"/>
                    <a:pt x="17669" y="17669"/>
                  </a:cubicBezTo>
                  <a:cubicBezTo>
                    <a:pt x="28982" y="6356"/>
                    <a:pt x="44327" y="0"/>
                    <a:pt x="603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6854" cy="15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18290" y="7276760"/>
            <a:ext cx="709460" cy="458101"/>
            <a:chOff x="0" y="0"/>
            <a:chExt cx="186854" cy="1206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854" cy="120652"/>
            </a:xfrm>
            <a:custGeom>
              <a:avLst/>
              <a:gdLst/>
              <a:ahLst/>
              <a:cxnLst/>
              <a:rect r="r" b="b" t="t" l="l"/>
              <a:pathLst>
                <a:path h="120652" w="186854">
                  <a:moveTo>
                    <a:pt x="60326" y="0"/>
                  </a:moveTo>
                  <a:lnTo>
                    <a:pt x="126528" y="0"/>
                  </a:lnTo>
                  <a:cubicBezTo>
                    <a:pt x="159845" y="0"/>
                    <a:pt x="186854" y="27009"/>
                    <a:pt x="186854" y="60326"/>
                  </a:cubicBezTo>
                  <a:lnTo>
                    <a:pt x="186854" y="60326"/>
                  </a:lnTo>
                  <a:cubicBezTo>
                    <a:pt x="186854" y="76326"/>
                    <a:pt x="180498" y="91670"/>
                    <a:pt x="169185" y="102983"/>
                  </a:cubicBezTo>
                  <a:cubicBezTo>
                    <a:pt x="157871" y="114296"/>
                    <a:pt x="142527" y="120652"/>
                    <a:pt x="126528" y="120652"/>
                  </a:cubicBezTo>
                  <a:lnTo>
                    <a:pt x="60326" y="120652"/>
                  </a:lnTo>
                  <a:cubicBezTo>
                    <a:pt x="44327" y="120652"/>
                    <a:pt x="28982" y="114296"/>
                    <a:pt x="17669" y="102983"/>
                  </a:cubicBezTo>
                  <a:cubicBezTo>
                    <a:pt x="6356" y="91670"/>
                    <a:pt x="0" y="76326"/>
                    <a:pt x="0" y="60326"/>
                  </a:cubicBezTo>
                  <a:lnTo>
                    <a:pt x="0" y="60326"/>
                  </a:lnTo>
                  <a:cubicBezTo>
                    <a:pt x="0" y="44327"/>
                    <a:pt x="6356" y="28982"/>
                    <a:pt x="17669" y="17669"/>
                  </a:cubicBezTo>
                  <a:cubicBezTo>
                    <a:pt x="28982" y="6356"/>
                    <a:pt x="44327" y="0"/>
                    <a:pt x="603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86854" cy="15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18290" y="1466697"/>
            <a:ext cx="9184948" cy="76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128" b="true">
                <a:solidFill>
                  <a:srgbClr val="0901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OVERVIEW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3019" y="3043950"/>
            <a:ext cx="8672258" cy="260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110" spc="82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AI-powered investment assistant designed to help beginner investors  to easily input investment amount, select a risk profile (Low, Medium, High) along with the investment period and run a personalized portfolio simulation with clear visual summaries and recommendations with added reason —all without needing financial or technical expertise.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82215" y="8177612"/>
            <a:ext cx="8479701" cy="69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988" spc="7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ipywidget UI for interaction</a:t>
            </a:r>
          </a:p>
          <a:p>
            <a:pPr algn="l">
              <a:lnSpc>
                <a:spcPts val="2783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182215" y="7140537"/>
            <a:ext cx="6961785" cy="69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988" spc="7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Uses historical stock data from Yahoo Finance via a custom Gym environment.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8456" y="6265344"/>
            <a:ext cx="549126" cy="37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 spc="86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8456" y="7302418"/>
            <a:ext cx="549126" cy="37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 spc="86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18290" y="8170215"/>
            <a:ext cx="709460" cy="409812"/>
            <a:chOff x="0" y="0"/>
            <a:chExt cx="186854" cy="1079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6854" cy="107934"/>
            </a:xfrm>
            <a:custGeom>
              <a:avLst/>
              <a:gdLst/>
              <a:ahLst/>
              <a:cxnLst/>
              <a:rect r="r" b="b" t="t" l="l"/>
              <a:pathLst>
                <a:path h="107934" w="186854">
                  <a:moveTo>
                    <a:pt x="53967" y="0"/>
                  </a:moveTo>
                  <a:lnTo>
                    <a:pt x="132887" y="0"/>
                  </a:lnTo>
                  <a:cubicBezTo>
                    <a:pt x="162692" y="0"/>
                    <a:pt x="186854" y="24162"/>
                    <a:pt x="186854" y="53967"/>
                  </a:cubicBezTo>
                  <a:lnTo>
                    <a:pt x="186854" y="53967"/>
                  </a:lnTo>
                  <a:cubicBezTo>
                    <a:pt x="186854" y="68280"/>
                    <a:pt x="181168" y="82007"/>
                    <a:pt x="171047" y="92128"/>
                  </a:cubicBezTo>
                  <a:cubicBezTo>
                    <a:pt x="160926" y="102248"/>
                    <a:pt x="147200" y="107934"/>
                    <a:pt x="132887" y="107934"/>
                  </a:cubicBezTo>
                  <a:lnTo>
                    <a:pt x="53967" y="107934"/>
                  </a:lnTo>
                  <a:cubicBezTo>
                    <a:pt x="24162" y="107934"/>
                    <a:pt x="0" y="83772"/>
                    <a:pt x="0" y="53967"/>
                  </a:cubicBezTo>
                  <a:lnTo>
                    <a:pt x="0" y="53967"/>
                  </a:lnTo>
                  <a:cubicBezTo>
                    <a:pt x="0" y="24162"/>
                    <a:pt x="24162" y="0"/>
                    <a:pt x="539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86854" cy="14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182215" y="6122512"/>
            <a:ext cx="6838242" cy="69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988" spc="7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Trained using DDPG for continuous portfolio allocation and risk management.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8456" y="8169256"/>
            <a:ext cx="549126" cy="37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b="true" sz="2209" spc="86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Freeform 35" id="35"/>
          <p:cNvSpPr/>
          <p:nvPr/>
        </p:nvSpPr>
        <p:spPr>
          <a:xfrm flipH="true" flipV="false" rot="0">
            <a:off x="15509793" y="8468104"/>
            <a:ext cx="1749507" cy="739167"/>
          </a:xfrm>
          <a:custGeom>
            <a:avLst/>
            <a:gdLst/>
            <a:ahLst/>
            <a:cxnLst/>
            <a:rect r="r" b="b" t="t" l="l"/>
            <a:pathLst>
              <a:path h="739167" w="1749507">
                <a:moveTo>
                  <a:pt x="1749507" y="0"/>
                </a:moveTo>
                <a:lnTo>
                  <a:pt x="0" y="0"/>
                </a:lnTo>
                <a:lnTo>
                  <a:pt x="0" y="739166"/>
                </a:lnTo>
                <a:lnTo>
                  <a:pt x="1749507" y="739166"/>
                </a:lnTo>
                <a:lnTo>
                  <a:pt x="174950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7D7D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9400847" cy="5657850"/>
            <a:chOff x="0" y="0"/>
            <a:chExt cx="5109688" cy="1490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09688" cy="1490133"/>
            </a:xfrm>
            <a:custGeom>
              <a:avLst/>
              <a:gdLst/>
              <a:ahLst/>
              <a:cxnLst/>
              <a:rect r="r" b="b" t="t" l="l"/>
              <a:pathLst>
                <a:path h="1490133" w="5109688">
                  <a:moveTo>
                    <a:pt x="20352" y="0"/>
                  </a:moveTo>
                  <a:lnTo>
                    <a:pt x="5089337" y="0"/>
                  </a:lnTo>
                  <a:cubicBezTo>
                    <a:pt x="5100576" y="0"/>
                    <a:pt x="5109688" y="9112"/>
                    <a:pt x="5109688" y="20352"/>
                  </a:cubicBezTo>
                  <a:lnTo>
                    <a:pt x="5109688" y="1469782"/>
                  </a:lnTo>
                  <a:cubicBezTo>
                    <a:pt x="5109688" y="1481022"/>
                    <a:pt x="5100576" y="1490133"/>
                    <a:pt x="5089337" y="1490133"/>
                  </a:cubicBezTo>
                  <a:lnTo>
                    <a:pt x="20352" y="1490133"/>
                  </a:lnTo>
                  <a:cubicBezTo>
                    <a:pt x="9112" y="1490133"/>
                    <a:pt x="0" y="1481022"/>
                    <a:pt x="0" y="1469782"/>
                  </a:cubicBezTo>
                  <a:lnTo>
                    <a:pt x="0" y="20352"/>
                  </a:lnTo>
                  <a:cubicBezTo>
                    <a:pt x="0" y="9112"/>
                    <a:pt x="9112" y="0"/>
                    <a:pt x="203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09688" cy="1528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7393" y="3174574"/>
            <a:ext cx="9093168" cy="69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988" spc="77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the growing popularity of retail investing, most beginner traders struggle to achieve consistent returns.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47750" y="3871821"/>
            <a:ext cx="10164031" cy="2543359"/>
          </a:xfrm>
          <a:prstGeom prst="line">
            <a:avLst/>
          </a:prstGeom>
          <a:ln cap="flat" w="66675">
            <a:solidFill>
              <a:srgbClr val="8181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1447393" y="5774328"/>
            <a:ext cx="4471228" cy="3483972"/>
            <a:chOff x="0" y="0"/>
            <a:chExt cx="1101854" cy="8585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1854" cy="858562"/>
            </a:xfrm>
            <a:custGeom>
              <a:avLst/>
              <a:gdLst/>
              <a:ahLst/>
              <a:cxnLst/>
              <a:rect r="r" b="b" t="t" l="l"/>
              <a:pathLst>
                <a:path h="858562" w="1101854">
                  <a:moveTo>
                    <a:pt x="36361" y="0"/>
                  </a:moveTo>
                  <a:lnTo>
                    <a:pt x="1065492" y="0"/>
                  </a:lnTo>
                  <a:cubicBezTo>
                    <a:pt x="1075136" y="0"/>
                    <a:pt x="1084385" y="3831"/>
                    <a:pt x="1091204" y="10650"/>
                  </a:cubicBezTo>
                  <a:cubicBezTo>
                    <a:pt x="1098023" y="17469"/>
                    <a:pt x="1101854" y="26718"/>
                    <a:pt x="1101854" y="36361"/>
                  </a:cubicBezTo>
                  <a:lnTo>
                    <a:pt x="1101854" y="822201"/>
                  </a:lnTo>
                  <a:cubicBezTo>
                    <a:pt x="1101854" y="842283"/>
                    <a:pt x="1085574" y="858562"/>
                    <a:pt x="1065492" y="858562"/>
                  </a:cubicBezTo>
                  <a:lnTo>
                    <a:pt x="36361" y="858562"/>
                  </a:lnTo>
                  <a:cubicBezTo>
                    <a:pt x="16280" y="858562"/>
                    <a:pt x="0" y="842283"/>
                    <a:pt x="0" y="822201"/>
                  </a:cubicBezTo>
                  <a:lnTo>
                    <a:pt x="0" y="36361"/>
                  </a:lnTo>
                  <a:cubicBezTo>
                    <a:pt x="0" y="16280"/>
                    <a:pt x="16280" y="0"/>
                    <a:pt x="363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01854" cy="896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12284" y="5774328"/>
            <a:ext cx="4471228" cy="3483972"/>
            <a:chOff x="0" y="0"/>
            <a:chExt cx="1101854" cy="8585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1854" cy="858562"/>
            </a:xfrm>
            <a:custGeom>
              <a:avLst/>
              <a:gdLst/>
              <a:ahLst/>
              <a:cxnLst/>
              <a:rect r="r" b="b" t="t" l="l"/>
              <a:pathLst>
                <a:path h="858562" w="1101854">
                  <a:moveTo>
                    <a:pt x="36361" y="0"/>
                  </a:moveTo>
                  <a:lnTo>
                    <a:pt x="1065492" y="0"/>
                  </a:lnTo>
                  <a:cubicBezTo>
                    <a:pt x="1075136" y="0"/>
                    <a:pt x="1084385" y="3831"/>
                    <a:pt x="1091204" y="10650"/>
                  </a:cubicBezTo>
                  <a:cubicBezTo>
                    <a:pt x="1098023" y="17469"/>
                    <a:pt x="1101854" y="26718"/>
                    <a:pt x="1101854" y="36361"/>
                  </a:cubicBezTo>
                  <a:lnTo>
                    <a:pt x="1101854" y="822201"/>
                  </a:lnTo>
                  <a:cubicBezTo>
                    <a:pt x="1101854" y="842283"/>
                    <a:pt x="1085574" y="858562"/>
                    <a:pt x="1065492" y="858562"/>
                  </a:cubicBezTo>
                  <a:lnTo>
                    <a:pt x="36361" y="858562"/>
                  </a:lnTo>
                  <a:cubicBezTo>
                    <a:pt x="16280" y="858562"/>
                    <a:pt x="0" y="842283"/>
                    <a:pt x="0" y="822201"/>
                  </a:cubicBezTo>
                  <a:lnTo>
                    <a:pt x="0" y="36361"/>
                  </a:lnTo>
                  <a:cubicBezTo>
                    <a:pt x="0" y="16280"/>
                    <a:pt x="16280" y="0"/>
                    <a:pt x="363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01854" cy="896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80527" y="5774328"/>
            <a:ext cx="4471228" cy="3483972"/>
            <a:chOff x="0" y="0"/>
            <a:chExt cx="1101854" cy="8585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1854" cy="858562"/>
            </a:xfrm>
            <a:custGeom>
              <a:avLst/>
              <a:gdLst/>
              <a:ahLst/>
              <a:cxnLst/>
              <a:rect r="r" b="b" t="t" l="l"/>
              <a:pathLst>
                <a:path h="858562" w="1101854">
                  <a:moveTo>
                    <a:pt x="36361" y="0"/>
                  </a:moveTo>
                  <a:lnTo>
                    <a:pt x="1065492" y="0"/>
                  </a:lnTo>
                  <a:cubicBezTo>
                    <a:pt x="1075136" y="0"/>
                    <a:pt x="1084385" y="3831"/>
                    <a:pt x="1091204" y="10650"/>
                  </a:cubicBezTo>
                  <a:cubicBezTo>
                    <a:pt x="1098023" y="17469"/>
                    <a:pt x="1101854" y="26718"/>
                    <a:pt x="1101854" y="36361"/>
                  </a:cubicBezTo>
                  <a:lnTo>
                    <a:pt x="1101854" y="822201"/>
                  </a:lnTo>
                  <a:cubicBezTo>
                    <a:pt x="1101854" y="842283"/>
                    <a:pt x="1085574" y="858562"/>
                    <a:pt x="1065492" y="858562"/>
                  </a:cubicBezTo>
                  <a:lnTo>
                    <a:pt x="36361" y="858562"/>
                  </a:lnTo>
                  <a:cubicBezTo>
                    <a:pt x="16280" y="858562"/>
                    <a:pt x="0" y="842283"/>
                    <a:pt x="0" y="822201"/>
                  </a:cubicBezTo>
                  <a:lnTo>
                    <a:pt x="0" y="36361"/>
                  </a:lnTo>
                  <a:cubicBezTo>
                    <a:pt x="0" y="16280"/>
                    <a:pt x="16280" y="0"/>
                    <a:pt x="363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01854" cy="896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654516" y="797100"/>
            <a:ext cx="3604784" cy="3604784"/>
          </a:xfrm>
          <a:custGeom>
            <a:avLst/>
            <a:gdLst/>
            <a:ahLst/>
            <a:cxnLst/>
            <a:rect r="r" b="b" t="t" l="l"/>
            <a:pathLst>
              <a:path h="3604784" w="3604784">
                <a:moveTo>
                  <a:pt x="0" y="0"/>
                </a:moveTo>
                <a:lnTo>
                  <a:pt x="3604784" y="0"/>
                </a:lnTo>
                <a:lnTo>
                  <a:pt x="3604784" y="3604784"/>
                </a:lnTo>
                <a:lnTo>
                  <a:pt x="0" y="3604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84845" y="6644663"/>
            <a:ext cx="4143956" cy="224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spc="8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Ove</a:t>
            </a:r>
            <a:r>
              <a:rPr lang="en-US" sz="2124" spc="8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 75% of retail traders lose money annually due to ineffective portfolio strategies and lack of diversification</a:t>
            </a: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649736" y="6914948"/>
            <a:ext cx="3890824" cy="224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spc="8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Many traders fail to incorporate dynamic risk-adjusted strategies, resulting in overexposure to volatile assets.</a:t>
            </a: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503806" y="6914948"/>
            <a:ext cx="3824669" cy="262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spc="8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Retail trader</a:t>
            </a:r>
            <a:r>
              <a:rPr lang="en-US" sz="2124" spc="82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 often lack the expertise and time to make data-driven decisions, especially in fast-changing market conditions</a:t>
            </a: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784845" y="6101631"/>
            <a:ext cx="4143956" cy="7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spc="82" b="true">
                <a:solidFill>
                  <a:srgbClr val="0901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UNDER-PERFORMANCE</a:t>
            </a: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649736" y="6101631"/>
            <a:ext cx="4143956" cy="111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spc="82" b="true">
                <a:solidFill>
                  <a:srgbClr val="0901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INADEQUATE RISK MANAGEMENT</a:t>
            </a: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517979" y="6101631"/>
            <a:ext cx="4143956" cy="111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spc="82" b="true">
                <a:solidFill>
                  <a:srgbClr val="0901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TIME AND KNOWLEDGE CONSTRAINTS</a:t>
            </a:r>
          </a:p>
          <a:p>
            <a:pPr algn="l">
              <a:lnSpc>
                <a:spcPts val="297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447393" y="1263813"/>
            <a:ext cx="9422761" cy="77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5"/>
              </a:lnSpc>
            </a:pPr>
            <a:r>
              <a:rPr lang="en-US" sz="5261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REAL-WORLD PROBLEMS</a:t>
            </a:r>
          </a:p>
        </p:txBody>
      </p:sp>
      <p:grpSp>
        <p:nvGrpSpPr>
          <p:cNvPr name="Group 24" id="24"/>
          <p:cNvGrpSpPr/>
          <p:nvPr/>
        </p:nvGrpSpPr>
        <p:grpSpPr>
          <a:xfrm rot="2700000">
            <a:off x="17696400" y="4413874"/>
            <a:ext cx="7983637" cy="7983637"/>
            <a:chOff x="0" y="0"/>
            <a:chExt cx="2102686" cy="21026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2686" cy="2102686"/>
            </a:xfrm>
            <a:custGeom>
              <a:avLst/>
              <a:gdLst/>
              <a:ahLst/>
              <a:cxnLst/>
              <a:rect r="r" b="b" t="t" l="l"/>
              <a:pathLst>
                <a:path h="2102686" w="2102686">
                  <a:moveTo>
                    <a:pt x="64971" y="0"/>
                  </a:moveTo>
                  <a:lnTo>
                    <a:pt x="2037715" y="0"/>
                  </a:lnTo>
                  <a:cubicBezTo>
                    <a:pt x="2073597" y="0"/>
                    <a:pt x="2102686" y="29089"/>
                    <a:pt x="2102686" y="64971"/>
                  </a:cubicBezTo>
                  <a:lnTo>
                    <a:pt x="2102686" y="2037715"/>
                  </a:lnTo>
                  <a:cubicBezTo>
                    <a:pt x="2102686" y="2054946"/>
                    <a:pt x="2095841" y="2071472"/>
                    <a:pt x="2083657" y="2083657"/>
                  </a:cubicBezTo>
                  <a:cubicBezTo>
                    <a:pt x="2071472" y="2095841"/>
                    <a:pt x="2054946" y="2102686"/>
                    <a:pt x="2037715" y="2102686"/>
                  </a:cubicBezTo>
                  <a:lnTo>
                    <a:pt x="64971" y="2102686"/>
                  </a:lnTo>
                  <a:cubicBezTo>
                    <a:pt x="47740" y="2102686"/>
                    <a:pt x="31214" y="2095841"/>
                    <a:pt x="19030" y="2083657"/>
                  </a:cubicBezTo>
                  <a:cubicBezTo>
                    <a:pt x="6845" y="2071472"/>
                    <a:pt x="0" y="2054946"/>
                    <a:pt x="0" y="2037715"/>
                  </a:cubicBezTo>
                  <a:lnTo>
                    <a:pt x="0" y="64971"/>
                  </a:lnTo>
                  <a:cubicBezTo>
                    <a:pt x="0" y="47740"/>
                    <a:pt x="6845" y="31214"/>
                    <a:pt x="19030" y="19030"/>
                  </a:cubicBezTo>
                  <a:cubicBezTo>
                    <a:pt x="31214" y="6845"/>
                    <a:pt x="47740" y="0"/>
                    <a:pt x="64971" y="0"/>
                  </a:cubicBezTo>
                  <a:close/>
                </a:path>
              </a:pathLst>
            </a:custGeom>
            <a:solidFill>
              <a:srgbClr val="818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02686" cy="214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-985869" y="8405692"/>
            <a:ext cx="6616863" cy="6616863"/>
          </a:xfrm>
          <a:custGeom>
            <a:avLst/>
            <a:gdLst/>
            <a:ahLst/>
            <a:cxnLst/>
            <a:rect r="r" b="b" t="t" l="l"/>
            <a:pathLst>
              <a:path h="6616863" w="6616863">
                <a:moveTo>
                  <a:pt x="0" y="0"/>
                </a:moveTo>
                <a:lnTo>
                  <a:pt x="6616863" y="0"/>
                </a:lnTo>
                <a:lnTo>
                  <a:pt x="6616863" y="6616863"/>
                </a:lnTo>
                <a:lnTo>
                  <a:pt x="0" y="6616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15509793" y="9166073"/>
            <a:ext cx="1749507" cy="739167"/>
          </a:xfrm>
          <a:custGeom>
            <a:avLst/>
            <a:gdLst/>
            <a:ahLst/>
            <a:cxnLst/>
            <a:rect r="r" b="b" t="t" l="l"/>
            <a:pathLst>
              <a:path h="739167" w="1749507">
                <a:moveTo>
                  <a:pt x="1749507" y="0"/>
                </a:moveTo>
                <a:lnTo>
                  <a:pt x="0" y="0"/>
                </a:lnTo>
                <a:lnTo>
                  <a:pt x="0" y="739166"/>
                </a:lnTo>
                <a:lnTo>
                  <a:pt x="1749507" y="739166"/>
                </a:lnTo>
                <a:lnTo>
                  <a:pt x="174950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7D7D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5539" y="0"/>
            <a:ext cx="10907264" cy="11427401"/>
            <a:chOff x="0" y="0"/>
            <a:chExt cx="2872695" cy="3009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72695" cy="3009686"/>
            </a:xfrm>
            <a:custGeom>
              <a:avLst/>
              <a:gdLst/>
              <a:ahLst/>
              <a:cxnLst/>
              <a:rect r="r" b="b" t="t" l="l"/>
              <a:pathLst>
                <a:path h="3009686" w="2872695">
                  <a:moveTo>
                    <a:pt x="70979" y="0"/>
                  </a:moveTo>
                  <a:lnTo>
                    <a:pt x="2801716" y="0"/>
                  </a:lnTo>
                  <a:cubicBezTo>
                    <a:pt x="2840917" y="0"/>
                    <a:pt x="2872695" y="31779"/>
                    <a:pt x="2872695" y="70979"/>
                  </a:cubicBezTo>
                  <a:lnTo>
                    <a:pt x="2872695" y="2938706"/>
                  </a:lnTo>
                  <a:cubicBezTo>
                    <a:pt x="2872695" y="2977907"/>
                    <a:pt x="2840917" y="3009686"/>
                    <a:pt x="2801716" y="3009686"/>
                  </a:cubicBezTo>
                  <a:lnTo>
                    <a:pt x="70979" y="3009686"/>
                  </a:lnTo>
                  <a:cubicBezTo>
                    <a:pt x="31779" y="3009686"/>
                    <a:pt x="0" y="2977907"/>
                    <a:pt x="0" y="2938706"/>
                  </a:cubicBezTo>
                  <a:lnTo>
                    <a:pt x="0" y="70979"/>
                  </a:lnTo>
                  <a:cubicBezTo>
                    <a:pt x="0" y="31779"/>
                    <a:pt x="31779" y="0"/>
                    <a:pt x="709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72695" cy="3047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8998" y="4581072"/>
            <a:ext cx="7795959" cy="1132628"/>
            <a:chOff x="0" y="0"/>
            <a:chExt cx="1855264" cy="269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5264" cy="269540"/>
            </a:xfrm>
            <a:custGeom>
              <a:avLst/>
              <a:gdLst/>
              <a:ahLst/>
              <a:cxnLst/>
              <a:rect r="r" b="b" t="t" l="l"/>
              <a:pathLst>
                <a:path h="269540" w="1855264">
                  <a:moveTo>
                    <a:pt x="20854" y="0"/>
                  </a:moveTo>
                  <a:lnTo>
                    <a:pt x="1834409" y="0"/>
                  </a:lnTo>
                  <a:cubicBezTo>
                    <a:pt x="1845927" y="0"/>
                    <a:pt x="1855264" y="9337"/>
                    <a:pt x="1855264" y="20854"/>
                  </a:cubicBezTo>
                  <a:lnTo>
                    <a:pt x="1855264" y="248686"/>
                  </a:lnTo>
                  <a:cubicBezTo>
                    <a:pt x="1855264" y="254217"/>
                    <a:pt x="1853067" y="259521"/>
                    <a:pt x="1849156" y="263432"/>
                  </a:cubicBezTo>
                  <a:cubicBezTo>
                    <a:pt x="1845245" y="267343"/>
                    <a:pt x="1839940" y="269540"/>
                    <a:pt x="1834409" y="269540"/>
                  </a:cubicBezTo>
                  <a:lnTo>
                    <a:pt x="20854" y="269540"/>
                  </a:lnTo>
                  <a:cubicBezTo>
                    <a:pt x="15323" y="269540"/>
                    <a:pt x="10019" y="267343"/>
                    <a:pt x="6108" y="263432"/>
                  </a:cubicBezTo>
                  <a:cubicBezTo>
                    <a:pt x="2197" y="259521"/>
                    <a:pt x="0" y="254217"/>
                    <a:pt x="0" y="248686"/>
                  </a:cubicBezTo>
                  <a:lnTo>
                    <a:pt x="0" y="20854"/>
                  </a:lnTo>
                  <a:cubicBezTo>
                    <a:pt x="0" y="15323"/>
                    <a:pt x="2197" y="10019"/>
                    <a:pt x="6108" y="6108"/>
                  </a:cubicBezTo>
                  <a:cubicBezTo>
                    <a:pt x="10019" y="2197"/>
                    <a:pt x="15323" y="0"/>
                    <a:pt x="20854" y="0"/>
                  </a:cubicBezTo>
                  <a:close/>
                </a:path>
              </a:pathLst>
            </a:custGeom>
            <a:solidFill>
              <a:srgbClr val="818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55264" cy="307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8998" y="6010481"/>
            <a:ext cx="7795959" cy="1027275"/>
            <a:chOff x="0" y="0"/>
            <a:chExt cx="1855264" cy="244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5264" cy="244468"/>
            </a:xfrm>
            <a:custGeom>
              <a:avLst/>
              <a:gdLst/>
              <a:ahLst/>
              <a:cxnLst/>
              <a:rect r="r" b="b" t="t" l="l"/>
              <a:pathLst>
                <a:path h="244468" w="1855264">
                  <a:moveTo>
                    <a:pt x="20854" y="0"/>
                  </a:moveTo>
                  <a:lnTo>
                    <a:pt x="1834409" y="0"/>
                  </a:lnTo>
                  <a:cubicBezTo>
                    <a:pt x="1845927" y="0"/>
                    <a:pt x="1855264" y="9337"/>
                    <a:pt x="1855264" y="20854"/>
                  </a:cubicBezTo>
                  <a:lnTo>
                    <a:pt x="1855264" y="223614"/>
                  </a:lnTo>
                  <a:cubicBezTo>
                    <a:pt x="1855264" y="229145"/>
                    <a:pt x="1853067" y="234449"/>
                    <a:pt x="1849156" y="238360"/>
                  </a:cubicBezTo>
                  <a:cubicBezTo>
                    <a:pt x="1845245" y="242271"/>
                    <a:pt x="1839940" y="244468"/>
                    <a:pt x="1834409" y="244468"/>
                  </a:cubicBezTo>
                  <a:lnTo>
                    <a:pt x="20854" y="244468"/>
                  </a:lnTo>
                  <a:cubicBezTo>
                    <a:pt x="15323" y="244468"/>
                    <a:pt x="10019" y="242271"/>
                    <a:pt x="6108" y="238360"/>
                  </a:cubicBezTo>
                  <a:cubicBezTo>
                    <a:pt x="2197" y="234449"/>
                    <a:pt x="0" y="229145"/>
                    <a:pt x="0" y="223614"/>
                  </a:cubicBezTo>
                  <a:lnTo>
                    <a:pt x="0" y="20854"/>
                  </a:lnTo>
                  <a:cubicBezTo>
                    <a:pt x="0" y="15323"/>
                    <a:pt x="2197" y="10019"/>
                    <a:pt x="6108" y="6108"/>
                  </a:cubicBezTo>
                  <a:cubicBezTo>
                    <a:pt x="10019" y="2197"/>
                    <a:pt x="15323" y="0"/>
                    <a:pt x="20854" y="0"/>
                  </a:cubicBezTo>
                  <a:close/>
                </a:path>
              </a:pathLst>
            </a:custGeom>
            <a:solidFill>
              <a:srgbClr val="818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55264" cy="282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700000">
            <a:off x="11489261" y="7834737"/>
            <a:ext cx="7983637" cy="7983637"/>
            <a:chOff x="0" y="0"/>
            <a:chExt cx="2102686" cy="2102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2686" cy="2102686"/>
            </a:xfrm>
            <a:custGeom>
              <a:avLst/>
              <a:gdLst/>
              <a:ahLst/>
              <a:cxnLst/>
              <a:rect r="r" b="b" t="t" l="l"/>
              <a:pathLst>
                <a:path h="2102686" w="2102686">
                  <a:moveTo>
                    <a:pt x="64971" y="0"/>
                  </a:moveTo>
                  <a:lnTo>
                    <a:pt x="2037715" y="0"/>
                  </a:lnTo>
                  <a:cubicBezTo>
                    <a:pt x="2073597" y="0"/>
                    <a:pt x="2102686" y="29089"/>
                    <a:pt x="2102686" y="64971"/>
                  </a:cubicBezTo>
                  <a:lnTo>
                    <a:pt x="2102686" y="2037715"/>
                  </a:lnTo>
                  <a:cubicBezTo>
                    <a:pt x="2102686" y="2054946"/>
                    <a:pt x="2095841" y="2071472"/>
                    <a:pt x="2083657" y="2083657"/>
                  </a:cubicBezTo>
                  <a:cubicBezTo>
                    <a:pt x="2071472" y="2095841"/>
                    <a:pt x="2054946" y="2102686"/>
                    <a:pt x="2037715" y="2102686"/>
                  </a:cubicBezTo>
                  <a:lnTo>
                    <a:pt x="64971" y="2102686"/>
                  </a:lnTo>
                  <a:cubicBezTo>
                    <a:pt x="47740" y="2102686"/>
                    <a:pt x="31214" y="2095841"/>
                    <a:pt x="19030" y="2083657"/>
                  </a:cubicBezTo>
                  <a:cubicBezTo>
                    <a:pt x="6845" y="2071472"/>
                    <a:pt x="0" y="2054946"/>
                    <a:pt x="0" y="2037715"/>
                  </a:cubicBezTo>
                  <a:lnTo>
                    <a:pt x="0" y="64971"/>
                  </a:lnTo>
                  <a:cubicBezTo>
                    <a:pt x="0" y="47740"/>
                    <a:pt x="6845" y="31214"/>
                    <a:pt x="19030" y="19030"/>
                  </a:cubicBezTo>
                  <a:cubicBezTo>
                    <a:pt x="31214" y="6845"/>
                    <a:pt x="47740" y="0"/>
                    <a:pt x="64971" y="0"/>
                  </a:cubicBezTo>
                  <a:close/>
                </a:path>
              </a:pathLst>
            </a:custGeom>
            <a:solidFill>
              <a:srgbClr val="818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02686" cy="2140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96076" y="2134448"/>
            <a:ext cx="6301324" cy="630132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22785" y="2361157"/>
            <a:ext cx="5847907" cy="584790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7D7D7">
                      <a:alpha val="100000"/>
                    </a:srgbClr>
                  </a:gs>
                </a:gsLst>
                <a:lin ang="0"/>
              </a:gradFill>
              <a:prstDash val="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60647" y="2799019"/>
            <a:ext cx="4972182" cy="49721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4906" t="0" r="-24906" b="0"/>
              </a:stretch>
            </a:blipFill>
            <a:ln w="666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7D7D7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05161" y="2244905"/>
            <a:ext cx="8538839" cy="222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524" spc="98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The online trading market is rapidly growing, driven by younger investors, with over 60% of retail traders seeking advanced tools for personalized portfolio management and risk control.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046796" y="-975632"/>
            <a:ext cx="4575716" cy="4575716"/>
          </a:xfrm>
          <a:custGeom>
            <a:avLst/>
            <a:gdLst/>
            <a:ahLst/>
            <a:cxnLst/>
            <a:rect r="r" b="b" t="t" l="l"/>
            <a:pathLst>
              <a:path h="4575716" w="4575716">
                <a:moveTo>
                  <a:pt x="0" y="0"/>
                </a:moveTo>
                <a:lnTo>
                  <a:pt x="4575716" y="0"/>
                </a:lnTo>
                <a:lnTo>
                  <a:pt x="4575716" y="4575716"/>
                </a:lnTo>
                <a:lnTo>
                  <a:pt x="0" y="45757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15903493" y="1217413"/>
            <a:ext cx="1458672" cy="616289"/>
          </a:xfrm>
          <a:custGeom>
            <a:avLst/>
            <a:gdLst/>
            <a:ahLst/>
            <a:cxnLst/>
            <a:rect r="r" b="b" t="t" l="l"/>
            <a:pathLst>
              <a:path h="616289" w="1458672">
                <a:moveTo>
                  <a:pt x="1458672" y="0"/>
                </a:moveTo>
                <a:lnTo>
                  <a:pt x="0" y="0"/>
                </a:lnTo>
                <a:lnTo>
                  <a:pt x="0" y="616289"/>
                </a:lnTo>
                <a:lnTo>
                  <a:pt x="1458672" y="616289"/>
                </a:lnTo>
                <a:lnTo>
                  <a:pt x="145867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182556" y="5238297"/>
            <a:ext cx="5122401" cy="326553"/>
          </a:xfrm>
          <a:custGeom>
            <a:avLst/>
            <a:gdLst/>
            <a:ahLst/>
            <a:cxnLst/>
            <a:rect r="r" b="b" t="t" l="l"/>
            <a:pathLst>
              <a:path h="326553" w="5122401">
                <a:moveTo>
                  <a:pt x="0" y="0"/>
                </a:moveTo>
                <a:lnTo>
                  <a:pt x="5122401" y="0"/>
                </a:lnTo>
                <a:lnTo>
                  <a:pt x="5122401" y="326553"/>
                </a:lnTo>
                <a:lnTo>
                  <a:pt x="0" y="3265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182556" y="6958853"/>
            <a:ext cx="5122401" cy="326553"/>
          </a:xfrm>
          <a:custGeom>
            <a:avLst/>
            <a:gdLst/>
            <a:ahLst/>
            <a:cxnLst/>
            <a:rect r="r" b="b" t="t" l="l"/>
            <a:pathLst>
              <a:path h="326553" w="5122401">
                <a:moveTo>
                  <a:pt x="0" y="0"/>
                </a:moveTo>
                <a:lnTo>
                  <a:pt x="5122401" y="0"/>
                </a:lnTo>
                <a:lnTo>
                  <a:pt x="5122401" y="326553"/>
                </a:lnTo>
                <a:lnTo>
                  <a:pt x="0" y="3265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37388" y="4879600"/>
            <a:ext cx="676609" cy="676609"/>
          </a:xfrm>
          <a:custGeom>
            <a:avLst/>
            <a:gdLst/>
            <a:ahLst/>
            <a:cxnLst/>
            <a:rect r="r" b="b" t="t" l="l"/>
            <a:pathLst>
              <a:path h="676609" w="676609">
                <a:moveTo>
                  <a:pt x="0" y="0"/>
                </a:moveTo>
                <a:lnTo>
                  <a:pt x="676609" y="0"/>
                </a:lnTo>
                <a:lnTo>
                  <a:pt x="676609" y="676609"/>
                </a:lnTo>
                <a:lnTo>
                  <a:pt x="0" y="676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37388" y="6181272"/>
            <a:ext cx="676609" cy="676609"/>
          </a:xfrm>
          <a:custGeom>
            <a:avLst/>
            <a:gdLst/>
            <a:ahLst/>
            <a:cxnLst/>
            <a:rect r="r" b="b" t="t" l="l"/>
            <a:pathLst>
              <a:path h="676609" w="676609">
                <a:moveTo>
                  <a:pt x="0" y="0"/>
                </a:moveTo>
                <a:lnTo>
                  <a:pt x="676609" y="0"/>
                </a:lnTo>
                <a:lnTo>
                  <a:pt x="676609" y="676609"/>
                </a:lnTo>
                <a:lnTo>
                  <a:pt x="0" y="676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728384" y="4885257"/>
            <a:ext cx="7357187" cy="100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spc="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Tech-Savvy Millennials and Gen Z</a:t>
            </a:r>
          </a:p>
          <a:p>
            <a:pPr algn="l">
              <a:lnSpc>
                <a:spcPts val="4094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728384" y="6209078"/>
            <a:ext cx="7357187" cy="91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4"/>
              </a:lnSpc>
            </a:pPr>
            <a:r>
              <a:rPr lang="en-US" sz="3024" spc="11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Retail Traders</a:t>
            </a:r>
          </a:p>
          <a:p>
            <a:pPr algn="l">
              <a:lnSpc>
                <a:spcPts val="3114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05161" y="909375"/>
            <a:ext cx="7779747" cy="127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4343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OPPORTUNITIES AND TARGET AUDIENCE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538695" y="7367044"/>
            <a:ext cx="7795959" cy="1068728"/>
            <a:chOff x="0" y="0"/>
            <a:chExt cx="1855264" cy="2543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55264" cy="254333"/>
            </a:xfrm>
            <a:custGeom>
              <a:avLst/>
              <a:gdLst/>
              <a:ahLst/>
              <a:cxnLst/>
              <a:rect r="r" b="b" t="t" l="l"/>
              <a:pathLst>
                <a:path h="254333" w="1855264">
                  <a:moveTo>
                    <a:pt x="20854" y="0"/>
                  </a:moveTo>
                  <a:lnTo>
                    <a:pt x="1834409" y="0"/>
                  </a:lnTo>
                  <a:cubicBezTo>
                    <a:pt x="1845927" y="0"/>
                    <a:pt x="1855264" y="9337"/>
                    <a:pt x="1855264" y="20854"/>
                  </a:cubicBezTo>
                  <a:lnTo>
                    <a:pt x="1855264" y="233479"/>
                  </a:lnTo>
                  <a:cubicBezTo>
                    <a:pt x="1855264" y="239010"/>
                    <a:pt x="1853067" y="244314"/>
                    <a:pt x="1849156" y="248225"/>
                  </a:cubicBezTo>
                  <a:cubicBezTo>
                    <a:pt x="1845245" y="252136"/>
                    <a:pt x="1839940" y="254333"/>
                    <a:pt x="1834409" y="254333"/>
                  </a:cubicBezTo>
                  <a:lnTo>
                    <a:pt x="20854" y="254333"/>
                  </a:lnTo>
                  <a:cubicBezTo>
                    <a:pt x="15323" y="254333"/>
                    <a:pt x="10019" y="252136"/>
                    <a:pt x="6108" y="248225"/>
                  </a:cubicBezTo>
                  <a:cubicBezTo>
                    <a:pt x="2197" y="244314"/>
                    <a:pt x="0" y="239010"/>
                    <a:pt x="0" y="233479"/>
                  </a:cubicBezTo>
                  <a:lnTo>
                    <a:pt x="0" y="20854"/>
                  </a:lnTo>
                  <a:cubicBezTo>
                    <a:pt x="0" y="15323"/>
                    <a:pt x="2197" y="10019"/>
                    <a:pt x="6108" y="6108"/>
                  </a:cubicBezTo>
                  <a:cubicBezTo>
                    <a:pt x="10019" y="2197"/>
                    <a:pt x="15323" y="0"/>
                    <a:pt x="20854" y="0"/>
                  </a:cubicBezTo>
                  <a:close/>
                </a:path>
              </a:pathLst>
            </a:custGeom>
            <a:solidFill>
              <a:srgbClr val="818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855264" cy="292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4182556" y="8679409"/>
            <a:ext cx="5122401" cy="326553"/>
          </a:xfrm>
          <a:custGeom>
            <a:avLst/>
            <a:gdLst/>
            <a:ahLst/>
            <a:cxnLst/>
            <a:rect r="r" b="b" t="t" l="l"/>
            <a:pathLst>
              <a:path h="326553" w="5122401">
                <a:moveTo>
                  <a:pt x="0" y="0"/>
                </a:moveTo>
                <a:lnTo>
                  <a:pt x="5122401" y="0"/>
                </a:lnTo>
                <a:lnTo>
                  <a:pt x="5122401" y="326553"/>
                </a:lnTo>
                <a:lnTo>
                  <a:pt x="0" y="3265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37388" y="7532454"/>
            <a:ext cx="676609" cy="676609"/>
          </a:xfrm>
          <a:custGeom>
            <a:avLst/>
            <a:gdLst/>
            <a:ahLst/>
            <a:cxnLst/>
            <a:rect r="r" b="b" t="t" l="l"/>
            <a:pathLst>
              <a:path h="676609" w="676609">
                <a:moveTo>
                  <a:pt x="0" y="0"/>
                </a:moveTo>
                <a:lnTo>
                  <a:pt x="676609" y="0"/>
                </a:lnTo>
                <a:lnTo>
                  <a:pt x="676609" y="676609"/>
                </a:lnTo>
                <a:lnTo>
                  <a:pt x="0" y="676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728384" y="7523531"/>
            <a:ext cx="7357187" cy="102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4"/>
              </a:lnSpc>
            </a:pPr>
            <a:r>
              <a:rPr lang="en-US" sz="3024" spc="11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Part-Time Traders</a:t>
            </a:r>
          </a:p>
          <a:p>
            <a:pPr algn="l">
              <a:lnSpc>
                <a:spcPts val="409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7D7D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7887" y="3590573"/>
            <a:ext cx="845467" cy="545922"/>
            <a:chOff x="0" y="0"/>
            <a:chExt cx="186854" cy="120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854" cy="120652"/>
            </a:xfrm>
            <a:custGeom>
              <a:avLst/>
              <a:gdLst/>
              <a:ahLst/>
              <a:cxnLst/>
              <a:rect r="r" b="b" t="t" l="l"/>
              <a:pathLst>
                <a:path h="120652" w="186854">
                  <a:moveTo>
                    <a:pt x="60326" y="0"/>
                  </a:moveTo>
                  <a:lnTo>
                    <a:pt x="126528" y="0"/>
                  </a:lnTo>
                  <a:cubicBezTo>
                    <a:pt x="159845" y="0"/>
                    <a:pt x="186854" y="27009"/>
                    <a:pt x="186854" y="60326"/>
                  </a:cubicBezTo>
                  <a:lnTo>
                    <a:pt x="186854" y="60326"/>
                  </a:lnTo>
                  <a:cubicBezTo>
                    <a:pt x="186854" y="76326"/>
                    <a:pt x="180498" y="91670"/>
                    <a:pt x="169185" y="102983"/>
                  </a:cubicBezTo>
                  <a:cubicBezTo>
                    <a:pt x="157871" y="114296"/>
                    <a:pt x="142527" y="120652"/>
                    <a:pt x="126528" y="120652"/>
                  </a:cubicBezTo>
                  <a:lnTo>
                    <a:pt x="60326" y="120652"/>
                  </a:lnTo>
                  <a:cubicBezTo>
                    <a:pt x="44327" y="120652"/>
                    <a:pt x="28982" y="114296"/>
                    <a:pt x="17669" y="102983"/>
                  </a:cubicBezTo>
                  <a:cubicBezTo>
                    <a:pt x="6356" y="91670"/>
                    <a:pt x="0" y="76326"/>
                    <a:pt x="0" y="60326"/>
                  </a:cubicBezTo>
                  <a:lnTo>
                    <a:pt x="0" y="60326"/>
                  </a:lnTo>
                  <a:cubicBezTo>
                    <a:pt x="0" y="44327"/>
                    <a:pt x="6356" y="28982"/>
                    <a:pt x="17669" y="17669"/>
                  </a:cubicBezTo>
                  <a:cubicBezTo>
                    <a:pt x="28982" y="6356"/>
                    <a:pt x="44327" y="0"/>
                    <a:pt x="60326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6854" cy="15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887" y="4913596"/>
            <a:ext cx="845467" cy="545922"/>
            <a:chOff x="0" y="0"/>
            <a:chExt cx="186854" cy="1206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6854" cy="120652"/>
            </a:xfrm>
            <a:custGeom>
              <a:avLst/>
              <a:gdLst/>
              <a:ahLst/>
              <a:cxnLst/>
              <a:rect r="r" b="b" t="t" l="l"/>
              <a:pathLst>
                <a:path h="120652" w="186854">
                  <a:moveTo>
                    <a:pt x="60326" y="0"/>
                  </a:moveTo>
                  <a:lnTo>
                    <a:pt x="126528" y="0"/>
                  </a:lnTo>
                  <a:cubicBezTo>
                    <a:pt x="159845" y="0"/>
                    <a:pt x="186854" y="27009"/>
                    <a:pt x="186854" y="60326"/>
                  </a:cubicBezTo>
                  <a:lnTo>
                    <a:pt x="186854" y="60326"/>
                  </a:lnTo>
                  <a:cubicBezTo>
                    <a:pt x="186854" y="76326"/>
                    <a:pt x="180498" y="91670"/>
                    <a:pt x="169185" y="102983"/>
                  </a:cubicBezTo>
                  <a:cubicBezTo>
                    <a:pt x="157871" y="114296"/>
                    <a:pt x="142527" y="120652"/>
                    <a:pt x="126528" y="120652"/>
                  </a:cubicBezTo>
                  <a:lnTo>
                    <a:pt x="60326" y="120652"/>
                  </a:lnTo>
                  <a:cubicBezTo>
                    <a:pt x="44327" y="120652"/>
                    <a:pt x="28982" y="114296"/>
                    <a:pt x="17669" y="102983"/>
                  </a:cubicBezTo>
                  <a:cubicBezTo>
                    <a:pt x="6356" y="91670"/>
                    <a:pt x="0" y="76326"/>
                    <a:pt x="0" y="60326"/>
                  </a:cubicBezTo>
                  <a:lnTo>
                    <a:pt x="0" y="60326"/>
                  </a:lnTo>
                  <a:cubicBezTo>
                    <a:pt x="0" y="44327"/>
                    <a:pt x="6356" y="28982"/>
                    <a:pt x="17669" y="17669"/>
                  </a:cubicBezTo>
                  <a:cubicBezTo>
                    <a:pt x="28982" y="6356"/>
                    <a:pt x="44327" y="0"/>
                    <a:pt x="603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6854" cy="15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887" y="6160639"/>
            <a:ext cx="845467" cy="545922"/>
            <a:chOff x="0" y="0"/>
            <a:chExt cx="186854" cy="1206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854" cy="120652"/>
            </a:xfrm>
            <a:custGeom>
              <a:avLst/>
              <a:gdLst/>
              <a:ahLst/>
              <a:cxnLst/>
              <a:rect r="r" b="b" t="t" l="l"/>
              <a:pathLst>
                <a:path h="120652" w="186854">
                  <a:moveTo>
                    <a:pt x="60326" y="0"/>
                  </a:moveTo>
                  <a:lnTo>
                    <a:pt x="126528" y="0"/>
                  </a:lnTo>
                  <a:cubicBezTo>
                    <a:pt x="159845" y="0"/>
                    <a:pt x="186854" y="27009"/>
                    <a:pt x="186854" y="60326"/>
                  </a:cubicBezTo>
                  <a:lnTo>
                    <a:pt x="186854" y="60326"/>
                  </a:lnTo>
                  <a:cubicBezTo>
                    <a:pt x="186854" y="76326"/>
                    <a:pt x="180498" y="91670"/>
                    <a:pt x="169185" y="102983"/>
                  </a:cubicBezTo>
                  <a:cubicBezTo>
                    <a:pt x="157871" y="114296"/>
                    <a:pt x="142527" y="120652"/>
                    <a:pt x="126528" y="120652"/>
                  </a:cubicBezTo>
                  <a:lnTo>
                    <a:pt x="60326" y="120652"/>
                  </a:lnTo>
                  <a:cubicBezTo>
                    <a:pt x="44327" y="120652"/>
                    <a:pt x="28982" y="114296"/>
                    <a:pt x="17669" y="102983"/>
                  </a:cubicBezTo>
                  <a:cubicBezTo>
                    <a:pt x="6356" y="91670"/>
                    <a:pt x="0" y="76326"/>
                    <a:pt x="0" y="60326"/>
                  </a:cubicBezTo>
                  <a:lnTo>
                    <a:pt x="0" y="60326"/>
                  </a:lnTo>
                  <a:cubicBezTo>
                    <a:pt x="0" y="44327"/>
                    <a:pt x="6356" y="28982"/>
                    <a:pt x="17669" y="17669"/>
                  </a:cubicBezTo>
                  <a:cubicBezTo>
                    <a:pt x="28982" y="6356"/>
                    <a:pt x="44327" y="0"/>
                    <a:pt x="60326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6854" cy="15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69577" y="6563437"/>
            <a:ext cx="845467" cy="545922"/>
            <a:chOff x="0" y="0"/>
            <a:chExt cx="186854" cy="1206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854" cy="120652"/>
            </a:xfrm>
            <a:custGeom>
              <a:avLst/>
              <a:gdLst/>
              <a:ahLst/>
              <a:cxnLst/>
              <a:rect r="r" b="b" t="t" l="l"/>
              <a:pathLst>
                <a:path h="120652" w="186854">
                  <a:moveTo>
                    <a:pt x="60326" y="0"/>
                  </a:moveTo>
                  <a:lnTo>
                    <a:pt x="126528" y="0"/>
                  </a:lnTo>
                  <a:cubicBezTo>
                    <a:pt x="159845" y="0"/>
                    <a:pt x="186854" y="27009"/>
                    <a:pt x="186854" y="60326"/>
                  </a:cubicBezTo>
                  <a:lnTo>
                    <a:pt x="186854" y="60326"/>
                  </a:lnTo>
                  <a:cubicBezTo>
                    <a:pt x="186854" y="76326"/>
                    <a:pt x="180498" y="91670"/>
                    <a:pt x="169185" y="102983"/>
                  </a:cubicBezTo>
                  <a:cubicBezTo>
                    <a:pt x="157871" y="114296"/>
                    <a:pt x="142527" y="120652"/>
                    <a:pt x="126528" y="120652"/>
                  </a:cubicBezTo>
                  <a:lnTo>
                    <a:pt x="60326" y="120652"/>
                  </a:lnTo>
                  <a:cubicBezTo>
                    <a:pt x="44327" y="120652"/>
                    <a:pt x="28982" y="114296"/>
                    <a:pt x="17669" y="102983"/>
                  </a:cubicBezTo>
                  <a:cubicBezTo>
                    <a:pt x="6356" y="91670"/>
                    <a:pt x="0" y="76326"/>
                    <a:pt x="0" y="60326"/>
                  </a:cubicBezTo>
                  <a:lnTo>
                    <a:pt x="0" y="60326"/>
                  </a:lnTo>
                  <a:cubicBezTo>
                    <a:pt x="0" y="44327"/>
                    <a:pt x="6356" y="28982"/>
                    <a:pt x="17669" y="17669"/>
                  </a:cubicBezTo>
                  <a:cubicBezTo>
                    <a:pt x="28982" y="6356"/>
                    <a:pt x="44327" y="0"/>
                    <a:pt x="60326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6854" cy="15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2484" y="1436420"/>
            <a:ext cx="14671166" cy="7349069"/>
            <a:chOff x="0" y="0"/>
            <a:chExt cx="3864011" cy="19355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64011" cy="1935557"/>
            </a:xfrm>
            <a:custGeom>
              <a:avLst/>
              <a:gdLst/>
              <a:ahLst/>
              <a:cxnLst/>
              <a:rect r="r" b="b" t="t" l="l"/>
              <a:pathLst>
                <a:path h="1935557" w="3864011">
                  <a:moveTo>
                    <a:pt x="31662" y="0"/>
                  </a:moveTo>
                  <a:lnTo>
                    <a:pt x="3832349" y="0"/>
                  </a:lnTo>
                  <a:cubicBezTo>
                    <a:pt x="3840746" y="0"/>
                    <a:pt x="3848800" y="3336"/>
                    <a:pt x="3854737" y="9274"/>
                  </a:cubicBezTo>
                  <a:cubicBezTo>
                    <a:pt x="3860675" y="15211"/>
                    <a:pt x="3864011" y="23265"/>
                    <a:pt x="3864011" y="31662"/>
                  </a:cubicBezTo>
                  <a:lnTo>
                    <a:pt x="3864011" y="1903895"/>
                  </a:lnTo>
                  <a:cubicBezTo>
                    <a:pt x="3864011" y="1912293"/>
                    <a:pt x="3860675" y="1920346"/>
                    <a:pt x="3854737" y="1926284"/>
                  </a:cubicBezTo>
                  <a:cubicBezTo>
                    <a:pt x="3848800" y="1932221"/>
                    <a:pt x="3840746" y="1935557"/>
                    <a:pt x="3832349" y="1935557"/>
                  </a:cubicBezTo>
                  <a:lnTo>
                    <a:pt x="31662" y="1935557"/>
                  </a:lnTo>
                  <a:cubicBezTo>
                    <a:pt x="23265" y="1935557"/>
                    <a:pt x="15211" y="1932221"/>
                    <a:pt x="9274" y="1926284"/>
                  </a:cubicBezTo>
                  <a:cubicBezTo>
                    <a:pt x="3336" y="1920346"/>
                    <a:pt x="0" y="1912293"/>
                    <a:pt x="0" y="1903895"/>
                  </a:cubicBezTo>
                  <a:lnTo>
                    <a:pt x="0" y="31662"/>
                  </a:lnTo>
                  <a:cubicBezTo>
                    <a:pt x="0" y="23265"/>
                    <a:pt x="3336" y="15211"/>
                    <a:pt x="9274" y="9274"/>
                  </a:cubicBezTo>
                  <a:cubicBezTo>
                    <a:pt x="15211" y="3336"/>
                    <a:pt x="23265" y="0"/>
                    <a:pt x="3166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864011" cy="1973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2700000">
            <a:off x="13866777" y="8843056"/>
            <a:ext cx="6785046" cy="6510343"/>
            <a:chOff x="0" y="0"/>
            <a:chExt cx="1787008" cy="17146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87008" cy="1714658"/>
            </a:xfrm>
            <a:custGeom>
              <a:avLst/>
              <a:gdLst/>
              <a:ahLst/>
              <a:cxnLst/>
              <a:rect r="r" b="b" t="t" l="l"/>
              <a:pathLst>
                <a:path h="1714658" w="1787008">
                  <a:moveTo>
                    <a:pt x="76449" y="0"/>
                  </a:moveTo>
                  <a:lnTo>
                    <a:pt x="1710559" y="0"/>
                  </a:lnTo>
                  <a:cubicBezTo>
                    <a:pt x="1752781" y="0"/>
                    <a:pt x="1787008" y="34227"/>
                    <a:pt x="1787008" y="76449"/>
                  </a:cubicBezTo>
                  <a:lnTo>
                    <a:pt x="1787008" y="1638210"/>
                  </a:lnTo>
                  <a:cubicBezTo>
                    <a:pt x="1787008" y="1680431"/>
                    <a:pt x="1752781" y="1714658"/>
                    <a:pt x="1710559" y="1714658"/>
                  </a:cubicBezTo>
                  <a:lnTo>
                    <a:pt x="76449" y="1714658"/>
                  </a:lnTo>
                  <a:cubicBezTo>
                    <a:pt x="34227" y="1714658"/>
                    <a:pt x="0" y="1680431"/>
                    <a:pt x="0" y="1638210"/>
                  </a:cubicBezTo>
                  <a:lnTo>
                    <a:pt x="0" y="76449"/>
                  </a:lnTo>
                  <a:cubicBezTo>
                    <a:pt x="0" y="34227"/>
                    <a:pt x="34227" y="0"/>
                    <a:pt x="76449" y="0"/>
                  </a:cubicBezTo>
                  <a:close/>
                </a:path>
              </a:pathLst>
            </a:custGeom>
            <a:solidFill>
              <a:srgbClr val="818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87008" cy="1752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1622848" y="7955082"/>
            <a:ext cx="6372539" cy="6372539"/>
          </a:xfrm>
          <a:custGeom>
            <a:avLst/>
            <a:gdLst/>
            <a:ahLst/>
            <a:cxnLst/>
            <a:rect r="r" b="b" t="t" l="l"/>
            <a:pathLst>
              <a:path h="6372539" w="6372539">
                <a:moveTo>
                  <a:pt x="0" y="0"/>
                </a:moveTo>
                <a:lnTo>
                  <a:pt x="6372540" y="0"/>
                </a:lnTo>
                <a:lnTo>
                  <a:pt x="6372540" y="6372539"/>
                </a:lnTo>
                <a:lnTo>
                  <a:pt x="0" y="6372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3267634" y="8632131"/>
            <a:ext cx="1482057" cy="626169"/>
          </a:xfrm>
          <a:custGeom>
            <a:avLst/>
            <a:gdLst/>
            <a:ahLst/>
            <a:cxnLst/>
            <a:rect r="r" b="b" t="t" l="l"/>
            <a:pathLst>
              <a:path h="626169" w="1482057">
                <a:moveTo>
                  <a:pt x="1482058" y="0"/>
                </a:moveTo>
                <a:lnTo>
                  <a:pt x="0" y="0"/>
                </a:lnTo>
                <a:lnTo>
                  <a:pt x="0" y="626169"/>
                </a:lnTo>
                <a:lnTo>
                  <a:pt x="1482058" y="626169"/>
                </a:lnTo>
                <a:lnTo>
                  <a:pt x="14820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307476" y="1241667"/>
            <a:ext cx="1951824" cy="1393115"/>
          </a:xfrm>
          <a:custGeom>
            <a:avLst/>
            <a:gdLst/>
            <a:ahLst/>
            <a:cxnLst/>
            <a:rect r="r" b="b" t="t" l="l"/>
            <a:pathLst>
              <a:path h="1393115" w="1951824">
                <a:moveTo>
                  <a:pt x="0" y="0"/>
                </a:moveTo>
                <a:lnTo>
                  <a:pt x="1951824" y="0"/>
                </a:lnTo>
                <a:lnTo>
                  <a:pt x="1951824" y="1393114"/>
                </a:lnTo>
                <a:lnTo>
                  <a:pt x="0" y="1393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63422" y="865426"/>
            <a:ext cx="6442120" cy="261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7"/>
              </a:lnSpc>
            </a:pPr>
            <a:r>
              <a:rPr lang="en-US" sz="5134" b="true">
                <a:solidFill>
                  <a:srgbClr val="0901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IMPLEMENTED FEATURES</a:t>
            </a:r>
          </a:p>
          <a:p>
            <a:pPr algn="l">
              <a:lnSpc>
                <a:spcPts val="8623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526544" y="5963780"/>
            <a:ext cx="6967278" cy="123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 spc="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sz="2409" spc="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ersonalized Allocations:</a:t>
            </a:r>
            <a:r>
              <a:rPr lang="en-US" sz="2409" spc="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Align investments with your goals(investment period) and risk appetite.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26544" y="4838697"/>
            <a:ext cx="6598795" cy="81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 spc="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</a:t>
            </a:r>
            <a:r>
              <a:rPr lang="en-US" sz="2409" spc="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egic Budget Use: </a:t>
            </a:r>
            <a:r>
              <a:rPr lang="en-US" sz="2409" spc="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Plan how much to invest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26544" y="3440653"/>
            <a:ext cx="7276333" cy="81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 spc="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sz="2409" spc="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isk Profile Selection:</a:t>
            </a:r>
            <a:r>
              <a:rPr lang="en-US" sz="2409" spc="9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Choose Low, Medium, or High risk levels.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63422" y="3618929"/>
            <a:ext cx="654397" cy="44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b="true" sz="2633" spc="10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63422" y="4941952"/>
            <a:ext cx="654397" cy="44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b="true" sz="2633" spc="10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3422" y="6188995"/>
            <a:ext cx="654397" cy="44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b="true" sz="2633" spc="10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69577" y="3793445"/>
            <a:ext cx="845467" cy="545922"/>
            <a:chOff x="0" y="0"/>
            <a:chExt cx="186854" cy="1206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6854" cy="120652"/>
            </a:xfrm>
            <a:custGeom>
              <a:avLst/>
              <a:gdLst/>
              <a:ahLst/>
              <a:cxnLst/>
              <a:rect r="r" b="b" t="t" l="l"/>
              <a:pathLst>
                <a:path h="120652" w="186854">
                  <a:moveTo>
                    <a:pt x="60326" y="0"/>
                  </a:moveTo>
                  <a:lnTo>
                    <a:pt x="126528" y="0"/>
                  </a:lnTo>
                  <a:cubicBezTo>
                    <a:pt x="159845" y="0"/>
                    <a:pt x="186854" y="27009"/>
                    <a:pt x="186854" y="60326"/>
                  </a:cubicBezTo>
                  <a:lnTo>
                    <a:pt x="186854" y="60326"/>
                  </a:lnTo>
                  <a:cubicBezTo>
                    <a:pt x="186854" y="76326"/>
                    <a:pt x="180498" y="91670"/>
                    <a:pt x="169185" y="102983"/>
                  </a:cubicBezTo>
                  <a:cubicBezTo>
                    <a:pt x="157871" y="114296"/>
                    <a:pt x="142527" y="120652"/>
                    <a:pt x="126528" y="120652"/>
                  </a:cubicBezTo>
                  <a:lnTo>
                    <a:pt x="60326" y="120652"/>
                  </a:lnTo>
                  <a:cubicBezTo>
                    <a:pt x="44327" y="120652"/>
                    <a:pt x="28982" y="114296"/>
                    <a:pt x="17669" y="102983"/>
                  </a:cubicBezTo>
                  <a:cubicBezTo>
                    <a:pt x="6356" y="91670"/>
                    <a:pt x="0" y="76326"/>
                    <a:pt x="0" y="60326"/>
                  </a:cubicBezTo>
                  <a:lnTo>
                    <a:pt x="0" y="60326"/>
                  </a:lnTo>
                  <a:cubicBezTo>
                    <a:pt x="0" y="44327"/>
                    <a:pt x="6356" y="28982"/>
                    <a:pt x="17669" y="17669"/>
                  </a:cubicBezTo>
                  <a:cubicBezTo>
                    <a:pt x="28982" y="6356"/>
                    <a:pt x="44327" y="0"/>
                    <a:pt x="60326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86854" cy="15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165112" y="3808279"/>
            <a:ext cx="654397" cy="44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b="true" sz="2633" spc="10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069577" y="5728919"/>
            <a:ext cx="845467" cy="545922"/>
            <a:chOff x="0" y="0"/>
            <a:chExt cx="186854" cy="1206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6854" cy="120652"/>
            </a:xfrm>
            <a:custGeom>
              <a:avLst/>
              <a:gdLst/>
              <a:ahLst/>
              <a:cxnLst/>
              <a:rect r="r" b="b" t="t" l="l"/>
              <a:pathLst>
                <a:path h="120652" w="186854">
                  <a:moveTo>
                    <a:pt x="60326" y="0"/>
                  </a:moveTo>
                  <a:lnTo>
                    <a:pt x="126528" y="0"/>
                  </a:lnTo>
                  <a:cubicBezTo>
                    <a:pt x="159845" y="0"/>
                    <a:pt x="186854" y="27009"/>
                    <a:pt x="186854" y="60326"/>
                  </a:cubicBezTo>
                  <a:lnTo>
                    <a:pt x="186854" y="60326"/>
                  </a:lnTo>
                  <a:cubicBezTo>
                    <a:pt x="186854" y="76326"/>
                    <a:pt x="180498" y="91670"/>
                    <a:pt x="169185" y="102983"/>
                  </a:cubicBezTo>
                  <a:cubicBezTo>
                    <a:pt x="157871" y="114296"/>
                    <a:pt x="142527" y="120652"/>
                    <a:pt x="126528" y="120652"/>
                  </a:cubicBezTo>
                  <a:lnTo>
                    <a:pt x="60326" y="120652"/>
                  </a:lnTo>
                  <a:cubicBezTo>
                    <a:pt x="44327" y="120652"/>
                    <a:pt x="28982" y="114296"/>
                    <a:pt x="17669" y="102983"/>
                  </a:cubicBezTo>
                  <a:cubicBezTo>
                    <a:pt x="6356" y="91670"/>
                    <a:pt x="0" y="76326"/>
                    <a:pt x="0" y="60326"/>
                  </a:cubicBezTo>
                  <a:lnTo>
                    <a:pt x="0" y="60326"/>
                  </a:lnTo>
                  <a:cubicBezTo>
                    <a:pt x="0" y="44327"/>
                    <a:pt x="6356" y="28982"/>
                    <a:pt x="17669" y="17669"/>
                  </a:cubicBezTo>
                  <a:cubicBezTo>
                    <a:pt x="28982" y="6356"/>
                    <a:pt x="44327" y="0"/>
                    <a:pt x="60326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86854" cy="15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165112" y="5754329"/>
            <a:ext cx="654397" cy="447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b="true" sz="2633" spc="10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162694" y="5556228"/>
            <a:ext cx="6743417" cy="83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359" spc="9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Automated Planning: </a:t>
            </a:r>
            <a:r>
              <a:rPr lang="en-US" sz="2359" spc="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Streamlined investing for users with limited expertise.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86494" y="3542948"/>
            <a:ext cx="6819617" cy="121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346" spc="9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 Scheduling:</a:t>
            </a:r>
            <a:r>
              <a:rPr lang="en-US" sz="2346" spc="9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Get stock recommendations with projected buy/sell/hold  dates.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19844" y="6506287"/>
            <a:ext cx="6743417" cy="125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359" spc="9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Visualizations: </a:t>
            </a:r>
            <a:r>
              <a:rPr lang="en-US" sz="2359" spc="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Provides visualizations to show the projected profit or loss of the invested stocks over time.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069577" y="6836398"/>
            <a:ext cx="845467" cy="545922"/>
            <a:chOff x="0" y="0"/>
            <a:chExt cx="186854" cy="1206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6854" cy="120652"/>
            </a:xfrm>
            <a:custGeom>
              <a:avLst/>
              <a:gdLst/>
              <a:ahLst/>
              <a:cxnLst/>
              <a:rect r="r" b="b" t="t" l="l"/>
              <a:pathLst>
                <a:path h="120652" w="186854">
                  <a:moveTo>
                    <a:pt x="60326" y="0"/>
                  </a:moveTo>
                  <a:lnTo>
                    <a:pt x="126528" y="0"/>
                  </a:lnTo>
                  <a:cubicBezTo>
                    <a:pt x="159845" y="0"/>
                    <a:pt x="186854" y="27009"/>
                    <a:pt x="186854" y="60326"/>
                  </a:cubicBezTo>
                  <a:lnTo>
                    <a:pt x="186854" y="60326"/>
                  </a:lnTo>
                  <a:cubicBezTo>
                    <a:pt x="186854" y="76326"/>
                    <a:pt x="180498" y="91670"/>
                    <a:pt x="169185" y="102983"/>
                  </a:cubicBezTo>
                  <a:cubicBezTo>
                    <a:pt x="157871" y="114296"/>
                    <a:pt x="142527" y="120652"/>
                    <a:pt x="126528" y="120652"/>
                  </a:cubicBezTo>
                  <a:lnTo>
                    <a:pt x="60326" y="120652"/>
                  </a:lnTo>
                  <a:cubicBezTo>
                    <a:pt x="44327" y="120652"/>
                    <a:pt x="28982" y="114296"/>
                    <a:pt x="17669" y="102983"/>
                  </a:cubicBezTo>
                  <a:cubicBezTo>
                    <a:pt x="6356" y="91670"/>
                    <a:pt x="0" y="76326"/>
                    <a:pt x="0" y="60326"/>
                  </a:cubicBezTo>
                  <a:lnTo>
                    <a:pt x="0" y="60326"/>
                  </a:lnTo>
                  <a:cubicBezTo>
                    <a:pt x="0" y="44327"/>
                    <a:pt x="6356" y="28982"/>
                    <a:pt x="17669" y="17669"/>
                  </a:cubicBezTo>
                  <a:cubicBezTo>
                    <a:pt x="28982" y="6356"/>
                    <a:pt x="44327" y="0"/>
                    <a:pt x="60326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86854" cy="158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165112" y="6861812"/>
            <a:ext cx="654397" cy="44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b="true" sz="2633" spc="10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D7D7D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7360" y="4117733"/>
            <a:ext cx="4356136" cy="2361226"/>
            <a:chOff x="0" y="0"/>
            <a:chExt cx="1359373" cy="7368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9374" cy="736843"/>
            </a:xfrm>
            <a:custGeom>
              <a:avLst/>
              <a:gdLst/>
              <a:ahLst/>
              <a:cxnLst/>
              <a:rect r="r" b="b" t="t" l="l"/>
              <a:pathLst>
                <a:path h="736843" w="1359374">
                  <a:moveTo>
                    <a:pt x="39099" y="0"/>
                  </a:moveTo>
                  <a:lnTo>
                    <a:pt x="1320274" y="0"/>
                  </a:lnTo>
                  <a:cubicBezTo>
                    <a:pt x="1330644" y="0"/>
                    <a:pt x="1340589" y="4119"/>
                    <a:pt x="1347922" y="11452"/>
                  </a:cubicBezTo>
                  <a:cubicBezTo>
                    <a:pt x="1355254" y="18785"/>
                    <a:pt x="1359374" y="28730"/>
                    <a:pt x="1359374" y="39099"/>
                  </a:cubicBezTo>
                  <a:lnTo>
                    <a:pt x="1359374" y="697743"/>
                  </a:lnTo>
                  <a:cubicBezTo>
                    <a:pt x="1359374" y="708113"/>
                    <a:pt x="1355254" y="718058"/>
                    <a:pt x="1347922" y="725391"/>
                  </a:cubicBezTo>
                  <a:cubicBezTo>
                    <a:pt x="1340589" y="732723"/>
                    <a:pt x="1330644" y="736843"/>
                    <a:pt x="1320274" y="736843"/>
                  </a:cubicBezTo>
                  <a:lnTo>
                    <a:pt x="39099" y="736843"/>
                  </a:lnTo>
                  <a:cubicBezTo>
                    <a:pt x="17505" y="736843"/>
                    <a:pt x="0" y="719337"/>
                    <a:pt x="0" y="697743"/>
                  </a:cubicBezTo>
                  <a:lnTo>
                    <a:pt x="0" y="39099"/>
                  </a:lnTo>
                  <a:cubicBezTo>
                    <a:pt x="0" y="28730"/>
                    <a:pt x="4119" y="18785"/>
                    <a:pt x="11452" y="11452"/>
                  </a:cubicBezTo>
                  <a:cubicBezTo>
                    <a:pt x="18785" y="4119"/>
                    <a:pt x="28730" y="0"/>
                    <a:pt x="390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59373" cy="774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7360" y="6699069"/>
            <a:ext cx="4356136" cy="3160584"/>
            <a:chOff x="0" y="0"/>
            <a:chExt cx="1359373" cy="986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9374" cy="986290"/>
            </a:xfrm>
            <a:custGeom>
              <a:avLst/>
              <a:gdLst/>
              <a:ahLst/>
              <a:cxnLst/>
              <a:rect r="r" b="b" t="t" l="l"/>
              <a:pathLst>
                <a:path h="986290" w="1359374">
                  <a:moveTo>
                    <a:pt x="39099" y="0"/>
                  </a:moveTo>
                  <a:lnTo>
                    <a:pt x="1320274" y="0"/>
                  </a:lnTo>
                  <a:cubicBezTo>
                    <a:pt x="1330644" y="0"/>
                    <a:pt x="1340589" y="4119"/>
                    <a:pt x="1347922" y="11452"/>
                  </a:cubicBezTo>
                  <a:cubicBezTo>
                    <a:pt x="1355254" y="18785"/>
                    <a:pt x="1359374" y="28730"/>
                    <a:pt x="1359374" y="39099"/>
                  </a:cubicBezTo>
                  <a:lnTo>
                    <a:pt x="1359374" y="947191"/>
                  </a:lnTo>
                  <a:cubicBezTo>
                    <a:pt x="1359374" y="957561"/>
                    <a:pt x="1355254" y="967506"/>
                    <a:pt x="1347922" y="974838"/>
                  </a:cubicBezTo>
                  <a:cubicBezTo>
                    <a:pt x="1340589" y="982171"/>
                    <a:pt x="1330644" y="986290"/>
                    <a:pt x="1320274" y="986290"/>
                  </a:cubicBezTo>
                  <a:lnTo>
                    <a:pt x="39099" y="986290"/>
                  </a:lnTo>
                  <a:cubicBezTo>
                    <a:pt x="28730" y="986290"/>
                    <a:pt x="18785" y="982171"/>
                    <a:pt x="11452" y="974838"/>
                  </a:cubicBezTo>
                  <a:cubicBezTo>
                    <a:pt x="4119" y="967506"/>
                    <a:pt x="0" y="957561"/>
                    <a:pt x="0" y="947191"/>
                  </a:cubicBezTo>
                  <a:lnTo>
                    <a:pt x="0" y="39099"/>
                  </a:lnTo>
                  <a:cubicBezTo>
                    <a:pt x="0" y="28730"/>
                    <a:pt x="4119" y="18785"/>
                    <a:pt x="11452" y="11452"/>
                  </a:cubicBezTo>
                  <a:cubicBezTo>
                    <a:pt x="18785" y="4119"/>
                    <a:pt x="28730" y="0"/>
                    <a:pt x="390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59373" cy="1024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93026" y="5466054"/>
            <a:ext cx="4356136" cy="2253207"/>
            <a:chOff x="0" y="0"/>
            <a:chExt cx="1359373" cy="7031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9374" cy="703135"/>
            </a:xfrm>
            <a:custGeom>
              <a:avLst/>
              <a:gdLst/>
              <a:ahLst/>
              <a:cxnLst/>
              <a:rect r="r" b="b" t="t" l="l"/>
              <a:pathLst>
                <a:path h="703135" w="1359374">
                  <a:moveTo>
                    <a:pt x="39099" y="0"/>
                  </a:moveTo>
                  <a:lnTo>
                    <a:pt x="1320274" y="0"/>
                  </a:lnTo>
                  <a:cubicBezTo>
                    <a:pt x="1330644" y="0"/>
                    <a:pt x="1340589" y="4119"/>
                    <a:pt x="1347922" y="11452"/>
                  </a:cubicBezTo>
                  <a:cubicBezTo>
                    <a:pt x="1355254" y="18785"/>
                    <a:pt x="1359374" y="28730"/>
                    <a:pt x="1359374" y="39099"/>
                  </a:cubicBezTo>
                  <a:lnTo>
                    <a:pt x="1359374" y="664035"/>
                  </a:lnTo>
                  <a:cubicBezTo>
                    <a:pt x="1359374" y="674405"/>
                    <a:pt x="1355254" y="684350"/>
                    <a:pt x="1347922" y="691683"/>
                  </a:cubicBezTo>
                  <a:cubicBezTo>
                    <a:pt x="1340589" y="699015"/>
                    <a:pt x="1330644" y="703135"/>
                    <a:pt x="1320274" y="703135"/>
                  </a:cubicBezTo>
                  <a:lnTo>
                    <a:pt x="39099" y="703135"/>
                  </a:lnTo>
                  <a:cubicBezTo>
                    <a:pt x="28730" y="703135"/>
                    <a:pt x="18785" y="699015"/>
                    <a:pt x="11452" y="691683"/>
                  </a:cubicBezTo>
                  <a:cubicBezTo>
                    <a:pt x="4119" y="684350"/>
                    <a:pt x="0" y="674405"/>
                    <a:pt x="0" y="664035"/>
                  </a:cubicBezTo>
                  <a:lnTo>
                    <a:pt x="0" y="39099"/>
                  </a:lnTo>
                  <a:cubicBezTo>
                    <a:pt x="0" y="28730"/>
                    <a:pt x="4119" y="18785"/>
                    <a:pt x="11452" y="11452"/>
                  </a:cubicBezTo>
                  <a:cubicBezTo>
                    <a:pt x="18785" y="4119"/>
                    <a:pt x="28730" y="0"/>
                    <a:pt x="390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59373" cy="74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52977" y="4268331"/>
            <a:ext cx="3953844" cy="240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60" spc="6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Collection &amp; Preprocessing:</a:t>
            </a:r>
          </a:p>
          <a:p>
            <a:pPr algn="l" marL="379993" indent="-189996" lvl="1">
              <a:lnSpc>
                <a:spcPts val="2675"/>
              </a:lnSpc>
              <a:buFont typeface="Arial"/>
              <a:buChar char="•"/>
            </a:pPr>
            <a:r>
              <a:rPr lang="en-US" b="true" sz="1760" spc="6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Collect stock data using Yahoo Finance API.</a:t>
            </a:r>
          </a:p>
          <a:p>
            <a:pPr algn="l" marL="379993" indent="-189996" lvl="1">
              <a:lnSpc>
                <a:spcPts val="2675"/>
              </a:lnSpc>
              <a:buFont typeface="Arial"/>
              <a:buChar char="•"/>
            </a:pPr>
            <a:r>
              <a:rPr lang="en-US" b="true" sz="1760" spc="6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Preprocess and batch the data for training.</a:t>
            </a:r>
          </a:p>
          <a:p>
            <a:pPr algn="l">
              <a:lnSpc>
                <a:spcPts val="267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01852" y="6829240"/>
            <a:ext cx="4104969" cy="284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60" spc="6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</a:t>
            </a:r>
            <a:r>
              <a:rPr lang="en-US" sz="1960" spc="6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odel Training &amp; Environment:</a:t>
            </a:r>
          </a:p>
          <a:p>
            <a:pPr algn="l" marL="401582" indent="-200791" lvl="1">
              <a:lnSpc>
                <a:spcPts val="2827"/>
              </a:lnSpc>
              <a:buFont typeface="Arial"/>
              <a:buChar char="•"/>
            </a:pPr>
            <a:r>
              <a:rPr lang="en-US" b="true" sz="1860" spc="65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Implement Gym-based PortfolioTradingEnv for reinforcement learning.</a:t>
            </a:r>
          </a:p>
          <a:p>
            <a:pPr algn="l" marL="401582" indent="-200791" lvl="1">
              <a:lnSpc>
                <a:spcPts val="2827"/>
              </a:lnSpc>
              <a:buFont typeface="Arial"/>
              <a:buChar char="•"/>
            </a:pPr>
            <a:r>
              <a:rPr lang="en-US" b="true" sz="1860" spc="65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Train the model using DDPG from Stable-Baselines3 and did hyper parameter tuning.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71859" y="5682716"/>
            <a:ext cx="3743991" cy="215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160" spc="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</a:t>
            </a:r>
          </a:p>
          <a:p>
            <a:pPr algn="l" marL="401582" indent="-200791" lvl="1">
              <a:lnSpc>
                <a:spcPts val="2827"/>
              </a:lnSpc>
              <a:buFont typeface="Arial"/>
              <a:buChar char="•"/>
            </a:pPr>
            <a:r>
              <a:rPr lang="en-US" b="true" sz="1860" spc="65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</a:t>
            </a:r>
            <a:r>
              <a:rPr lang="en-US" b="true" sz="1860" spc="65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isplay real-time stock portfolio management recommendations using Streamlit UI.</a:t>
            </a:r>
          </a:p>
          <a:p>
            <a:pPr algn="l">
              <a:lnSpc>
                <a:spcPts val="2827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2700000">
            <a:off x="12663957" y="8883990"/>
            <a:ext cx="9190685" cy="8183639"/>
            <a:chOff x="0" y="0"/>
            <a:chExt cx="2420592" cy="21553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20592" cy="2155362"/>
            </a:xfrm>
            <a:custGeom>
              <a:avLst/>
              <a:gdLst/>
              <a:ahLst/>
              <a:cxnLst/>
              <a:rect r="r" b="b" t="t" l="l"/>
              <a:pathLst>
                <a:path h="2155362" w="2420592">
                  <a:moveTo>
                    <a:pt x="56439" y="0"/>
                  </a:moveTo>
                  <a:lnTo>
                    <a:pt x="2364153" y="0"/>
                  </a:lnTo>
                  <a:cubicBezTo>
                    <a:pt x="2379122" y="0"/>
                    <a:pt x="2393477" y="5946"/>
                    <a:pt x="2404062" y="16530"/>
                  </a:cubicBezTo>
                  <a:cubicBezTo>
                    <a:pt x="2414646" y="27115"/>
                    <a:pt x="2420592" y="41470"/>
                    <a:pt x="2420592" y="56439"/>
                  </a:cubicBezTo>
                  <a:lnTo>
                    <a:pt x="2420592" y="2098923"/>
                  </a:lnTo>
                  <a:cubicBezTo>
                    <a:pt x="2420592" y="2113892"/>
                    <a:pt x="2414646" y="2128247"/>
                    <a:pt x="2404062" y="2138831"/>
                  </a:cubicBezTo>
                  <a:cubicBezTo>
                    <a:pt x="2393477" y="2149416"/>
                    <a:pt x="2379122" y="2155362"/>
                    <a:pt x="2364153" y="2155362"/>
                  </a:cubicBezTo>
                  <a:lnTo>
                    <a:pt x="56439" y="2155362"/>
                  </a:lnTo>
                  <a:cubicBezTo>
                    <a:pt x="41470" y="2155362"/>
                    <a:pt x="27115" y="2149416"/>
                    <a:pt x="16530" y="2138831"/>
                  </a:cubicBezTo>
                  <a:cubicBezTo>
                    <a:pt x="5946" y="2128247"/>
                    <a:pt x="0" y="2113892"/>
                    <a:pt x="0" y="2098923"/>
                  </a:cubicBezTo>
                  <a:lnTo>
                    <a:pt x="0" y="56439"/>
                  </a:lnTo>
                  <a:cubicBezTo>
                    <a:pt x="0" y="41470"/>
                    <a:pt x="5946" y="27115"/>
                    <a:pt x="16530" y="16530"/>
                  </a:cubicBezTo>
                  <a:cubicBezTo>
                    <a:pt x="27115" y="5946"/>
                    <a:pt x="41470" y="0"/>
                    <a:pt x="56439" y="0"/>
                  </a:cubicBezTo>
                  <a:close/>
                </a:path>
              </a:pathLst>
            </a:custGeom>
            <a:solidFill>
              <a:srgbClr val="818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20592" cy="219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64086" y="-3086585"/>
            <a:ext cx="7755836" cy="7755836"/>
          </a:xfrm>
          <a:custGeom>
            <a:avLst/>
            <a:gdLst/>
            <a:ahLst/>
            <a:cxnLst/>
            <a:rect r="r" b="b" t="t" l="l"/>
            <a:pathLst>
              <a:path h="7755836" w="7755836">
                <a:moveTo>
                  <a:pt x="0" y="0"/>
                </a:moveTo>
                <a:lnTo>
                  <a:pt x="7755836" y="0"/>
                </a:lnTo>
                <a:lnTo>
                  <a:pt x="7755836" y="7755836"/>
                </a:lnTo>
                <a:lnTo>
                  <a:pt x="0" y="7755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>
            <a:off x="1028700" y="3826814"/>
            <a:ext cx="10997658" cy="0"/>
          </a:xfrm>
          <a:prstGeom prst="line">
            <a:avLst/>
          </a:prstGeom>
          <a:ln cap="flat" w="66675">
            <a:solidFill>
              <a:srgbClr val="8181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1761330" y="4039696"/>
            <a:ext cx="3912259" cy="3882917"/>
          </a:xfrm>
          <a:custGeom>
            <a:avLst/>
            <a:gdLst/>
            <a:ahLst/>
            <a:cxnLst/>
            <a:rect r="r" b="b" t="t" l="l"/>
            <a:pathLst>
              <a:path h="3882917" w="3912259">
                <a:moveTo>
                  <a:pt x="0" y="0"/>
                </a:moveTo>
                <a:lnTo>
                  <a:pt x="3912259" y="0"/>
                </a:lnTo>
                <a:lnTo>
                  <a:pt x="3912259" y="3882917"/>
                </a:lnTo>
                <a:lnTo>
                  <a:pt x="0" y="38829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41447" y="666105"/>
            <a:ext cx="10508998" cy="106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6"/>
              </a:lnSpc>
            </a:pPr>
            <a:r>
              <a:rPr lang="en-US" sz="7167" b="true">
                <a:solidFill>
                  <a:srgbClr val="0901A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WORKFLOW</a:t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15777243" y="3491564"/>
            <a:ext cx="1482057" cy="626169"/>
          </a:xfrm>
          <a:custGeom>
            <a:avLst/>
            <a:gdLst/>
            <a:ahLst/>
            <a:cxnLst/>
            <a:rect r="r" b="b" t="t" l="l"/>
            <a:pathLst>
              <a:path h="626169" w="1482057">
                <a:moveTo>
                  <a:pt x="1482057" y="0"/>
                </a:moveTo>
                <a:lnTo>
                  <a:pt x="0" y="0"/>
                </a:lnTo>
                <a:lnTo>
                  <a:pt x="0" y="626169"/>
                </a:lnTo>
                <a:lnTo>
                  <a:pt x="1482057" y="626169"/>
                </a:lnTo>
                <a:lnTo>
                  <a:pt x="14820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06282" y="8952276"/>
            <a:ext cx="3378423" cy="215374"/>
          </a:xfrm>
          <a:custGeom>
            <a:avLst/>
            <a:gdLst/>
            <a:ahLst/>
            <a:cxnLst/>
            <a:rect r="r" b="b" t="t" l="l"/>
            <a:pathLst>
              <a:path h="215374" w="3378423">
                <a:moveTo>
                  <a:pt x="0" y="0"/>
                </a:moveTo>
                <a:lnTo>
                  <a:pt x="3378423" y="0"/>
                </a:lnTo>
                <a:lnTo>
                  <a:pt x="3378423" y="215374"/>
                </a:lnTo>
                <a:lnTo>
                  <a:pt x="0" y="2153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919652" y="6377283"/>
            <a:ext cx="3189835" cy="203352"/>
          </a:xfrm>
          <a:custGeom>
            <a:avLst/>
            <a:gdLst/>
            <a:ahLst/>
            <a:cxnLst/>
            <a:rect r="r" b="b" t="t" l="l"/>
            <a:pathLst>
              <a:path h="203352" w="3189835">
                <a:moveTo>
                  <a:pt x="0" y="0"/>
                </a:moveTo>
                <a:lnTo>
                  <a:pt x="3189835" y="0"/>
                </a:lnTo>
                <a:lnTo>
                  <a:pt x="3189835" y="203352"/>
                </a:lnTo>
                <a:lnTo>
                  <a:pt x="0" y="2033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809563" y="7719261"/>
            <a:ext cx="3189835" cy="203352"/>
          </a:xfrm>
          <a:custGeom>
            <a:avLst/>
            <a:gdLst/>
            <a:ahLst/>
            <a:cxnLst/>
            <a:rect r="r" b="b" t="t" l="l"/>
            <a:pathLst>
              <a:path h="203352" w="3189835">
                <a:moveTo>
                  <a:pt x="0" y="0"/>
                </a:moveTo>
                <a:lnTo>
                  <a:pt x="3189835" y="0"/>
                </a:lnTo>
                <a:lnTo>
                  <a:pt x="3189835" y="203352"/>
                </a:lnTo>
                <a:lnTo>
                  <a:pt x="0" y="2033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4000"/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41447" y="3966744"/>
            <a:ext cx="511531" cy="51153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1447" y="6466190"/>
            <a:ext cx="511531" cy="51153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231753" y="5315928"/>
            <a:ext cx="511531" cy="51153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true" flipV="false" rot="0">
            <a:off x="1492572" y="4058075"/>
            <a:ext cx="209280" cy="328869"/>
          </a:xfrm>
          <a:custGeom>
            <a:avLst/>
            <a:gdLst/>
            <a:ahLst/>
            <a:cxnLst/>
            <a:rect r="r" b="b" t="t" l="l"/>
            <a:pathLst>
              <a:path h="328869" w="209280">
                <a:moveTo>
                  <a:pt x="209280" y="0"/>
                </a:moveTo>
                <a:lnTo>
                  <a:pt x="0" y="0"/>
                </a:lnTo>
                <a:lnTo>
                  <a:pt x="0" y="328869"/>
                </a:lnTo>
                <a:lnTo>
                  <a:pt x="209280" y="328869"/>
                </a:lnTo>
                <a:lnTo>
                  <a:pt x="20928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0">
            <a:off x="1492572" y="6557521"/>
            <a:ext cx="209280" cy="328869"/>
          </a:xfrm>
          <a:custGeom>
            <a:avLst/>
            <a:gdLst/>
            <a:ahLst/>
            <a:cxnLst/>
            <a:rect r="r" b="b" t="t" l="l"/>
            <a:pathLst>
              <a:path h="328869" w="209280">
                <a:moveTo>
                  <a:pt x="209280" y="0"/>
                </a:moveTo>
                <a:lnTo>
                  <a:pt x="0" y="0"/>
                </a:lnTo>
                <a:lnTo>
                  <a:pt x="0" y="328869"/>
                </a:lnTo>
                <a:lnTo>
                  <a:pt x="209280" y="328869"/>
                </a:lnTo>
                <a:lnTo>
                  <a:pt x="20928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false" rot="0">
            <a:off x="6382879" y="5407259"/>
            <a:ext cx="209280" cy="328869"/>
          </a:xfrm>
          <a:custGeom>
            <a:avLst/>
            <a:gdLst/>
            <a:ahLst/>
            <a:cxnLst/>
            <a:rect r="r" b="b" t="t" l="l"/>
            <a:pathLst>
              <a:path h="328869" w="209280">
                <a:moveTo>
                  <a:pt x="209280" y="0"/>
                </a:moveTo>
                <a:lnTo>
                  <a:pt x="0" y="0"/>
                </a:lnTo>
                <a:lnTo>
                  <a:pt x="0" y="328869"/>
                </a:lnTo>
                <a:lnTo>
                  <a:pt x="209280" y="328869"/>
                </a:lnTo>
                <a:lnTo>
                  <a:pt x="20928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6382879" y="2776971"/>
            <a:ext cx="4356136" cy="2253207"/>
            <a:chOff x="0" y="0"/>
            <a:chExt cx="1359373" cy="7031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59374" cy="703135"/>
            </a:xfrm>
            <a:custGeom>
              <a:avLst/>
              <a:gdLst/>
              <a:ahLst/>
              <a:cxnLst/>
              <a:rect r="r" b="b" t="t" l="l"/>
              <a:pathLst>
                <a:path h="703135" w="1359374">
                  <a:moveTo>
                    <a:pt x="39099" y="0"/>
                  </a:moveTo>
                  <a:lnTo>
                    <a:pt x="1320274" y="0"/>
                  </a:lnTo>
                  <a:cubicBezTo>
                    <a:pt x="1330644" y="0"/>
                    <a:pt x="1340589" y="4119"/>
                    <a:pt x="1347922" y="11452"/>
                  </a:cubicBezTo>
                  <a:cubicBezTo>
                    <a:pt x="1355254" y="18785"/>
                    <a:pt x="1359374" y="28730"/>
                    <a:pt x="1359374" y="39099"/>
                  </a:cubicBezTo>
                  <a:lnTo>
                    <a:pt x="1359374" y="664035"/>
                  </a:lnTo>
                  <a:cubicBezTo>
                    <a:pt x="1359374" y="674405"/>
                    <a:pt x="1355254" y="684350"/>
                    <a:pt x="1347922" y="691683"/>
                  </a:cubicBezTo>
                  <a:cubicBezTo>
                    <a:pt x="1340589" y="699015"/>
                    <a:pt x="1330644" y="703135"/>
                    <a:pt x="1320274" y="703135"/>
                  </a:cubicBezTo>
                  <a:lnTo>
                    <a:pt x="39099" y="703135"/>
                  </a:lnTo>
                  <a:cubicBezTo>
                    <a:pt x="28730" y="703135"/>
                    <a:pt x="18785" y="699015"/>
                    <a:pt x="11452" y="691683"/>
                  </a:cubicBezTo>
                  <a:cubicBezTo>
                    <a:pt x="4119" y="684350"/>
                    <a:pt x="0" y="674405"/>
                    <a:pt x="0" y="664035"/>
                  </a:cubicBezTo>
                  <a:lnTo>
                    <a:pt x="0" y="39099"/>
                  </a:lnTo>
                  <a:cubicBezTo>
                    <a:pt x="0" y="28730"/>
                    <a:pt x="4119" y="18785"/>
                    <a:pt x="11452" y="11452"/>
                  </a:cubicBezTo>
                  <a:cubicBezTo>
                    <a:pt x="18785" y="4119"/>
                    <a:pt x="28730" y="0"/>
                    <a:pt x="390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901A2">
                    <a:alpha val="100000"/>
                  </a:srgbClr>
                </a:gs>
                <a:gs pos="100000">
                  <a:srgbClr val="070083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359373" cy="74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595946" y="2993633"/>
            <a:ext cx="3953844" cy="178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060" spc="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Backtesting &amp; Evaluation:</a:t>
            </a:r>
          </a:p>
          <a:p>
            <a:pPr algn="l" marL="401582" indent="-200791" lvl="1">
              <a:lnSpc>
                <a:spcPts val="2827"/>
              </a:lnSpc>
              <a:buFont typeface="Arial"/>
              <a:buChar char="•"/>
            </a:pPr>
            <a:r>
              <a:rPr lang="en-US" b="true" sz="1860" spc="65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Simulate the trading strategy on unseen data to evaluate performance.</a:t>
            </a:r>
          </a:p>
          <a:p>
            <a:pPr algn="l">
              <a:lnSpc>
                <a:spcPts val="2827"/>
              </a:lnSpc>
            </a:pPr>
          </a:p>
        </p:txBody>
      </p:sp>
      <p:grpSp>
        <p:nvGrpSpPr>
          <p:cNvPr name="Group 41" id="41"/>
          <p:cNvGrpSpPr/>
          <p:nvPr/>
        </p:nvGrpSpPr>
        <p:grpSpPr>
          <a:xfrm rot="0">
            <a:off x="6231753" y="2504249"/>
            <a:ext cx="511531" cy="51153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81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true" flipV="false" rot="0">
            <a:off x="6382879" y="2612537"/>
            <a:ext cx="209280" cy="328869"/>
          </a:xfrm>
          <a:custGeom>
            <a:avLst/>
            <a:gdLst/>
            <a:ahLst/>
            <a:cxnLst/>
            <a:rect r="r" b="b" t="t" l="l"/>
            <a:pathLst>
              <a:path h="328869" w="209280">
                <a:moveTo>
                  <a:pt x="209280" y="0"/>
                </a:moveTo>
                <a:lnTo>
                  <a:pt x="0" y="0"/>
                </a:lnTo>
                <a:lnTo>
                  <a:pt x="0" y="328869"/>
                </a:lnTo>
                <a:lnTo>
                  <a:pt x="209280" y="328869"/>
                </a:lnTo>
                <a:lnTo>
                  <a:pt x="20928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DAGj_t0Xxrk</dc:identifier>
  <dcterms:modified xsi:type="dcterms:W3CDTF">2011-08-01T06:04:30Z</dcterms:modified>
  <cp:revision>1</cp:revision>
  <dc:title>STOCK MARKET PORTFOLIO ALLOCATION AND RISK MANAGEMENT</dc:title>
</cp:coreProperties>
</file>