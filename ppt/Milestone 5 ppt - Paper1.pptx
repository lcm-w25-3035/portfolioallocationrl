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309" r:id="rId3"/>
    <p:sldId id="257" r:id="rId4"/>
    <p:sldId id="258" r:id="rId5"/>
    <p:sldId id="259" r:id="rId6"/>
    <p:sldId id="260" r:id="rId7"/>
    <p:sldId id="291" r:id="rId8"/>
    <p:sldId id="261" r:id="rId9"/>
    <p:sldId id="262" r:id="rId10"/>
    <p:sldId id="297" r:id="rId11"/>
    <p:sldId id="294" r:id="rId12"/>
    <p:sldId id="263" r:id="rId13"/>
    <p:sldId id="264" r:id="rId14"/>
    <p:sldId id="298" r:id="rId15"/>
    <p:sldId id="265" r:id="rId16"/>
    <p:sldId id="266" r:id="rId17"/>
    <p:sldId id="299" r:id="rId18"/>
    <p:sldId id="267" r:id="rId19"/>
    <p:sldId id="300" r:id="rId20"/>
    <p:sldId id="268" r:id="rId21"/>
    <p:sldId id="269" r:id="rId22"/>
    <p:sldId id="301" r:id="rId23"/>
    <p:sldId id="302" r:id="rId24"/>
    <p:sldId id="303" r:id="rId25"/>
    <p:sldId id="270" r:id="rId26"/>
    <p:sldId id="288" r:id="rId27"/>
    <p:sldId id="289" r:id="rId28"/>
    <p:sldId id="290" r:id="rId29"/>
    <p:sldId id="304" r:id="rId30"/>
    <p:sldId id="305" r:id="rId31"/>
    <p:sldId id="306" r:id="rId32"/>
    <p:sldId id="307"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snapToObjects="1">
      <p:cViewPr>
        <p:scale>
          <a:sx n="81" d="100"/>
          <a:sy n="81" d="100"/>
        </p:scale>
        <p:origin x="1424" y="1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3/24/2025</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2776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07251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28874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10004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0972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2894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2960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58497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3/24/2025</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78427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29700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54683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3/24/2025</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1020133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6255" y="977462"/>
            <a:ext cx="8229600" cy="2554545"/>
          </a:xfrm>
          <a:prstGeom prst="rect">
            <a:avLst/>
          </a:prstGeom>
          <a:noFill/>
        </p:spPr>
        <p:txBody>
          <a:bodyPr wrap="square">
            <a:spAutoFit/>
          </a:bodyPr>
          <a:lstStyle/>
          <a:p>
            <a:pPr algn="ctr"/>
            <a:r>
              <a:rPr lang="en-US" sz="3200" b="1" dirty="0">
                <a:latin typeface="+mj-lt"/>
              </a:rPr>
              <a:t>A Self-Rewarding Mechanism in Deep Reinforcement Learning for Trading Strategy Optimization</a:t>
            </a:r>
          </a:p>
          <a:p>
            <a:pPr algn="ctr"/>
            <a:endParaRPr lang="en-US" sz="3200" b="1" dirty="0">
              <a:latin typeface="+mj-lt"/>
            </a:endParaRPr>
          </a:p>
          <a:p>
            <a:pPr algn="ctr"/>
            <a:r>
              <a:rPr lang="en-US" sz="3200" b="1" dirty="0">
                <a:latin typeface="+mj-lt"/>
              </a:rPr>
              <a:t>Milestone 5 Paper </a:t>
            </a:r>
            <a:endParaRPr sz="3200" b="1" dirty="0">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E927D-4BDC-1A25-D693-F1C15202A0F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14DA58-B790-E675-6A38-B1833510A7A8}"/>
              </a:ext>
            </a:extLst>
          </p:cNvPr>
          <p:cNvSpPr txBox="1"/>
          <p:nvPr/>
        </p:nvSpPr>
        <p:spPr>
          <a:xfrm>
            <a:off x="457200" y="274320"/>
            <a:ext cx="3687228" cy="461665"/>
          </a:xfrm>
          <a:prstGeom prst="rect">
            <a:avLst/>
          </a:prstGeom>
          <a:noFill/>
        </p:spPr>
        <p:txBody>
          <a:bodyPr wrap="none">
            <a:spAutoFit/>
          </a:bodyPr>
          <a:lstStyle/>
          <a:p>
            <a:pPr>
              <a:defRPr sz="3200" b="1"/>
            </a:pPr>
            <a:r>
              <a:rPr sz="2400" dirty="0">
                <a:latin typeface="+mj-lt"/>
              </a:rPr>
              <a:t>Reinforcement Learning</a:t>
            </a:r>
          </a:p>
        </p:txBody>
      </p:sp>
      <p:sp>
        <p:nvSpPr>
          <p:cNvPr id="4" name="TextBox 3">
            <a:extLst>
              <a:ext uri="{FF2B5EF4-FFF2-40B4-BE49-F238E27FC236}">
                <a16:creationId xmlns:a16="http://schemas.microsoft.com/office/drawing/2014/main" id="{4B893FDE-3E8E-734A-3F8F-BAD3A3F05915}"/>
              </a:ext>
            </a:extLst>
          </p:cNvPr>
          <p:cNvSpPr txBox="1"/>
          <p:nvPr/>
        </p:nvSpPr>
        <p:spPr>
          <a:xfrm>
            <a:off x="386255" y="977462"/>
            <a:ext cx="8229600" cy="2800767"/>
          </a:xfrm>
          <a:prstGeom prst="rect">
            <a:avLst/>
          </a:prstGeom>
          <a:noFill/>
        </p:spPr>
        <p:txBody>
          <a:bodyPr wrap="square">
            <a:spAutoFit/>
          </a:bodyPr>
          <a:lstStyle/>
          <a:p>
            <a:endParaRPr sz="1600" dirty="0"/>
          </a:p>
          <a:p>
            <a:pPr marL="285750" indent="-285750">
              <a:buFont typeface="Arial" panose="020B0604020202020204" pitchFamily="34" charset="0"/>
              <a:buChar char="•"/>
              <a:defRPr sz="1800"/>
            </a:pPr>
            <a:r>
              <a:rPr sz="1600" dirty="0"/>
              <a:t>Reinforcement learning is a type of machine learning where an agent learns by interacting with an environment. </a:t>
            </a:r>
            <a:endParaRPr lang="en-CA" sz="1600" dirty="0"/>
          </a:p>
          <a:p>
            <a:pPr marL="285750" indent="-285750">
              <a:buFont typeface="Arial" panose="020B0604020202020204" pitchFamily="34" charset="0"/>
              <a:buChar char="•"/>
              <a:defRPr sz="1800"/>
            </a:pPr>
            <a:endParaRPr lang="en-CA" sz="1600" dirty="0"/>
          </a:p>
          <a:p>
            <a:pPr marL="285750" indent="-285750">
              <a:buFont typeface="Arial" panose="020B0604020202020204" pitchFamily="34" charset="0"/>
              <a:buChar char="•"/>
              <a:defRPr sz="1800"/>
            </a:pPr>
            <a:r>
              <a:rPr sz="1600" dirty="0"/>
              <a:t>It takes actions, gets rewards or penalties, and learns from experience to make better decisions over time.</a:t>
            </a:r>
            <a:endParaRPr lang="en-CA" sz="1600" dirty="0"/>
          </a:p>
          <a:p>
            <a:pPr marL="285750" indent="-285750">
              <a:buFont typeface="Arial" panose="020B0604020202020204" pitchFamily="34" charset="0"/>
              <a:buChar char="•"/>
              <a:defRPr sz="1800"/>
            </a:pPr>
            <a:endParaRPr lang="en-CA" sz="1600" dirty="0"/>
          </a:p>
          <a:p>
            <a:pPr marL="285750" indent="-285750">
              <a:buFont typeface="Arial" panose="020B0604020202020204" pitchFamily="34" charset="0"/>
              <a:buChar char="•"/>
              <a:defRPr sz="1800"/>
            </a:pPr>
            <a:r>
              <a:rPr lang="en-CA" sz="1600" dirty="0"/>
              <a:t>For example: A self driving car, self cleaning vacuum cleaner etc.</a:t>
            </a:r>
          </a:p>
          <a:p>
            <a:pPr>
              <a:defRPr sz="1800"/>
            </a:pPr>
            <a:endParaRPr lang="en-US" sz="1600" dirty="0"/>
          </a:p>
          <a:p>
            <a:pPr>
              <a:defRPr sz="1800"/>
            </a:pPr>
            <a:endParaRPr lang="en-CA" sz="1600" dirty="0"/>
          </a:p>
          <a:p>
            <a:pPr marL="285750" indent="-285750">
              <a:buFont typeface="Arial" panose="020B0604020202020204" pitchFamily="34" charset="0"/>
              <a:buChar char="•"/>
              <a:defRPr sz="1800"/>
            </a:pPr>
            <a:endParaRPr sz="1600" dirty="0"/>
          </a:p>
        </p:txBody>
      </p:sp>
    </p:spTree>
    <p:extLst>
      <p:ext uri="{BB962C8B-B14F-4D97-AF65-F5344CB8AC3E}">
        <p14:creationId xmlns:p14="http://schemas.microsoft.com/office/powerpoint/2010/main" val="4275771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2629502" cy="461665"/>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3200" b="1"/>
            </a:pPr>
            <a:r>
              <a:rPr kumimoji="0" sz="2400" b="1" i="0" u="none" strike="noStrike" kern="1200" cap="none" spc="0" normalizeH="0" baseline="0" noProof="0" dirty="0">
                <a:ln>
                  <a:noFill/>
                </a:ln>
                <a:solidFill>
                  <a:prstClr val="black"/>
                </a:solidFill>
                <a:effectLst/>
                <a:uLnTx/>
                <a:uFillTx/>
                <a:latin typeface="+mj-lt"/>
                <a:ea typeface="+mn-ea"/>
                <a:cs typeface="+mn-cs"/>
              </a:rPr>
              <a:t>Reward Function</a:t>
            </a:r>
          </a:p>
        </p:txBody>
      </p:sp>
      <p:sp>
        <p:nvSpPr>
          <p:cNvPr id="4" name="TextBox 3"/>
          <p:cNvSpPr txBox="1"/>
          <p:nvPr/>
        </p:nvSpPr>
        <p:spPr>
          <a:xfrm>
            <a:off x="457200" y="1371600"/>
            <a:ext cx="8429946" cy="3693319"/>
          </a:xfrm>
          <a:prstGeom prst="rect">
            <a:avLst/>
          </a:prstGeom>
          <a:noFill/>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800"/>
            </a:pPr>
            <a:r>
              <a:rPr kumimoji="0" sz="1800" b="0" i="0" u="none" strike="noStrike" kern="1200" cap="none" spc="0" normalizeH="0" baseline="0" noProof="0" dirty="0">
                <a:ln>
                  <a:noFill/>
                </a:ln>
                <a:solidFill>
                  <a:prstClr val="black"/>
                </a:solidFill>
                <a:effectLst/>
                <a:uLnTx/>
                <a:uFillTx/>
                <a:ea typeface="+mn-ea"/>
                <a:cs typeface="+mn-cs"/>
              </a:rPr>
              <a:t>Reward function is a fundamental concept of RL that guides an agent’s actions by giving feedback. </a:t>
            </a:r>
            <a:endParaRPr kumimoji="0" lang="en-CA" sz="1800" b="0" i="0" u="none" strike="noStrike" kern="1200" cap="none" spc="0" normalizeH="0" baseline="0" noProof="0" dirty="0">
              <a:ln>
                <a:noFill/>
              </a:ln>
              <a:solidFill>
                <a:prstClr val="black"/>
              </a:solidFill>
              <a:effectLst/>
              <a:uLnTx/>
              <a:uFillTx/>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800"/>
            </a:pPr>
            <a:r>
              <a:rPr kumimoji="0" sz="1800" b="0" i="0" u="none" strike="noStrike" kern="1200" cap="none" spc="0" normalizeH="0" baseline="0" noProof="0" dirty="0">
                <a:ln>
                  <a:noFill/>
                </a:ln>
                <a:solidFill>
                  <a:prstClr val="black"/>
                </a:solidFill>
                <a:effectLst/>
                <a:uLnTx/>
                <a:uFillTx/>
                <a:ea typeface="+mn-ea"/>
                <a:cs typeface="+mn-cs"/>
              </a:rPr>
              <a:t>It is a mathematical function that assigns a numerical value (reward or penalty) to an agent’s action in a given state. </a:t>
            </a:r>
            <a:endParaRPr kumimoji="0" lang="en-CA" sz="1800" b="0" i="0" u="none" strike="noStrike" kern="1200" cap="none" spc="0" normalizeH="0" baseline="0" noProof="0" dirty="0">
              <a:ln>
                <a:noFill/>
              </a:ln>
              <a:solidFill>
                <a:prstClr val="black"/>
              </a:solidFill>
              <a:effectLst/>
              <a:uLnTx/>
              <a:uFillTx/>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800"/>
            </a:pPr>
            <a:r>
              <a:rPr kumimoji="0" sz="1800" b="0" i="0" u="none" strike="noStrike" kern="1200" cap="none" spc="0" normalizeH="0" baseline="0" noProof="0" dirty="0">
                <a:ln>
                  <a:noFill/>
                </a:ln>
                <a:solidFill>
                  <a:prstClr val="black"/>
                </a:solidFill>
                <a:effectLst/>
                <a:uLnTx/>
                <a:uFillTx/>
                <a:ea typeface="+mn-ea"/>
                <a:cs typeface="+mn-cs"/>
              </a:rPr>
              <a:t>The goal of the RL agent is to maximize the total accumulated reward over time.</a:t>
            </a:r>
            <a:endParaRPr kumimoji="0" lang="en-CA" sz="1800" b="0" i="0" u="none" strike="noStrike" kern="1200" cap="none" spc="0" normalizeH="0" baseline="0" noProof="0" dirty="0">
              <a:ln>
                <a:noFill/>
              </a:ln>
              <a:solidFill>
                <a:prstClr val="black"/>
              </a:solidFill>
              <a:effectLst/>
              <a:uLnTx/>
              <a:uFillTx/>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800"/>
            </a:pPr>
            <a:endParaRPr lang="en-CA" dirty="0">
              <a:solidFill>
                <a:prstClr val="black"/>
              </a:solidFill>
            </a:endParaRPr>
          </a:p>
          <a:p>
            <a:pPr marR="0" lvl="0" algn="l" defTabSz="457200" rtl="0" eaLnBrk="1" fontAlgn="auto" latinLnBrk="0" hangingPunct="1">
              <a:lnSpc>
                <a:spcPct val="100000"/>
              </a:lnSpc>
              <a:spcBef>
                <a:spcPts val="0"/>
              </a:spcBef>
              <a:spcAft>
                <a:spcPts val="0"/>
              </a:spcAft>
              <a:buClrTx/>
              <a:buSzTx/>
              <a:tabLst/>
              <a:defRPr sz="1800"/>
            </a:pPr>
            <a:r>
              <a:rPr kumimoji="0" sz="1800" b="0" i="0" u="none" strike="noStrike" kern="1200" cap="none" spc="0" normalizeH="0" baseline="0" noProof="0" dirty="0">
                <a:ln>
                  <a:noFill/>
                </a:ln>
                <a:solidFill>
                  <a:prstClr val="black"/>
                </a:solidFill>
                <a:effectLst/>
                <a:uLnTx/>
                <a:uFillTx/>
                <a:ea typeface="+mn-ea"/>
                <a:cs typeface="+mn-cs"/>
              </a:rPr>
              <a:t>Example: </a:t>
            </a:r>
            <a:r>
              <a:rPr kumimoji="0" lang="en-US" sz="1800" b="0" i="0" u="none" strike="noStrike" kern="1200" cap="none" spc="0" normalizeH="0" baseline="0" noProof="0" dirty="0">
                <a:ln>
                  <a:noFill/>
                </a:ln>
                <a:solidFill>
                  <a:prstClr val="black"/>
                </a:solidFill>
                <a:effectLst/>
                <a:uLnTx/>
                <a:uFillTx/>
                <a:ea typeface="+mn-ea"/>
                <a:cs typeface="+mn-cs"/>
              </a:rPr>
              <a:t>Consider an agent trained to play a chess game. </a:t>
            </a:r>
          </a:p>
          <a:p>
            <a:pPr marL="742950" lvl="1" indent="-285750">
              <a:buFont typeface="Arial" panose="020B0604020202020204" pitchFamily="34" charset="0"/>
              <a:buChar char="•"/>
              <a:defRPr sz="1800"/>
            </a:pPr>
            <a:r>
              <a:rPr kumimoji="0" lang="en-US" b="0" i="0" u="none" strike="noStrike" kern="1200" cap="none" spc="0" normalizeH="0" baseline="0" noProof="0" dirty="0">
                <a:ln>
                  <a:noFill/>
                </a:ln>
                <a:solidFill>
                  <a:prstClr val="black"/>
                </a:solidFill>
                <a:effectLst/>
                <a:uLnTx/>
                <a:uFillTx/>
                <a:ea typeface="+mn-ea"/>
                <a:cs typeface="+mn-cs"/>
              </a:rPr>
              <a:t>Here the state is current board position.</a:t>
            </a:r>
          </a:p>
          <a:p>
            <a:pPr marL="742950" lvl="1" indent="-285750">
              <a:buFont typeface="Arial" panose="020B0604020202020204" pitchFamily="34" charset="0"/>
              <a:buChar char="•"/>
              <a:defRPr sz="1800"/>
            </a:pPr>
            <a:r>
              <a:rPr kumimoji="0" lang="en-US" b="0" i="0" u="none" strike="noStrike" kern="1200" cap="none" spc="0" normalizeH="0" baseline="0" noProof="0" dirty="0">
                <a:ln>
                  <a:noFill/>
                </a:ln>
                <a:solidFill>
                  <a:prstClr val="black"/>
                </a:solidFill>
                <a:effectLst/>
                <a:uLnTx/>
                <a:uFillTx/>
                <a:ea typeface="+mn-ea"/>
                <a:cs typeface="+mn-cs"/>
              </a:rPr>
              <a:t>Action: Move a Piece.</a:t>
            </a:r>
          </a:p>
          <a:p>
            <a:pPr marL="742950" lvl="1" indent="-285750">
              <a:buFont typeface="Arial" panose="020B0604020202020204" pitchFamily="34" charset="0"/>
              <a:buChar char="•"/>
              <a:defRPr sz="1800"/>
            </a:pPr>
            <a:r>
              <a:rPr kumimoji="0" lang="en-US" sz="1800" b="0" i="0" u="none" strike="noStrike" kern="1200" cap="none" spc="0" normalizeH="0" baseline="0" noProof="0" dirty="0">
                <a:ln>
                  <a:noFill/>
                </a:ln>
                <a:solidFill>
                  <a:prstClr val="black"/>
                </a:solidFill>
                <a:effectLst/>
                <a:uLnTx/>
                <a:uFillTx/>
                <a:ea typeface="+mn-ea"/>
                <a:cs typeface="+mn-cs"/>
              </a:rPr>
              <a:t>Here the reward function can be </a:t>
            </a:r>
          </a:p>
          <a:p>
            <a:pPr marL="742950" lvl="1" indent="-285750">
              <a:buFont typeface="Arial" panose="020B0604020202020204" pitchFamily="34" charset="0"/>
              <a:buChar char="•"/>
              <a:defRPr sz="1800"/>
            </a:pPr>
            <a:r>
              <a:rPr kumimoji="0" lang="en-US" sz="1800" b="0" i="0" u="none" strike="noStrike" kern="1200" cap="none" spc="0" normalizeH="0" baseline="0" noProof="0" dirty="0">
                <a:ln>
                  <a:noFill/>
                </a:ln>
                <a:solidFill>
                  <a:prstClr val="black"/>
                </a:solidFill>
                <a:effectLst/>
                <a:uLnTx/>
                <a:uFillTx/>
                <a:ea typeface="+mn-ea"/>
                <a:cs typeface="+mn-cs"/>
              </a:rPr>
              <a:t>+100 for checkmate</a:t>
            </a:r>
          </a:p>
          <a:p>
            <a:pPr marL="742950" lvl="1" indent="-285750">
              <a:buFont typeface="Arial" panose="020B0604020202020204" pitchFamily="34" charset="0"/>
              <a:buChar char="•"/>
              <a:defRPr sz="1800"/>
            </a:pPr>
            <a:r>
              <a:rPr kumimoji="0" lang="en-US" sz="1800" b="0" i="0" u="none" strike="noStrike" kern="1200" cap="none" spc="0" normalizeH="0" baseline="0" noProof="0" dirty="0">
                <a:ln>
                  <a:noFill/>
                </a:ln>
                <a:solidFill>
                  <a:prstClr val="black"/>
                </a:solidFill>
                <a:effectLst/>
                <a:uLnTx/>
                <a:uFillTx/>
                <a:ea typeface="+mn-ea"/>
                <a:cs typeface="+mn-cs"/>
              </a:rPr>
              <a:t>-50 for losing the game</a:t>
            </a:r>
          </a:p>
          <a:p>
            <a:pPr marL="742950" lvl="1" indent="-285750">
              <a:buFont typeface="Arial" panose="020B0604020202020204" pitchFamily="34" charset="0"/>
              <a:buChar char="•"/>
              <a:defRPr sz="1800"/>
            </a:pPr>
            <a:r>
              <a:rPr kumimoji="0" lang="en-US" sz="1800" b="0" i="0" u="none" strike="noStrike" kern="1200" cap="none" spc="0" normalizeH="0" baseline="0" noProof="0" dirty="0">
                <a:ln>
                  <a:noFill/>
                </a:ln>
                <a:solidFill>
                  <a:prstClr val="black"/>
                </a:solidFill>
                <a:effectLst/>
                <a:uLnTx/>
                <a:uFillTx/>
                <a:ea typeface="+mn-ea"/>
                <a:cs typeface="+mn-cs"/>
              </a:rPr>
              <a:t>+10 for capturing opponent piece.</a:t>
            </a:r>
            <a:endParaRPr kumimoji="0" sz="18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5170005" cy="461665"/>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3200" b="1"/>
            </a:pPr>
            <a:r>
              <a:rPr kumimoji="0" sz="2400" b="1" i="0" u="none" strike="noStrike" kern="1200" cap="none" spc="0" normalizeH="0" baseline="0" noProof="0" dirty="0">
                <a:ln>
                  <a:noFill/>
                </a:ln>
                <a:solidFill>
                  <a:prstClr val="black"/>
                </a:solidFill>
                <a:effectLst/>
                <a:uLnTx/>
                <a:uFillTx/>
                <a:latin typeface="+mj-lt"/>
                <a:ea typeface="+mn-ea"/>
                <a:cs typeface="+mn-cs"/>
              </a:rPr>
              <a:t>Reward Function vs. Loss Function</a:t>
            </a:r>
          </a:p>
        </p:txBody>
      </p:sp>
      <p:sp>
        <p:nvSpPr>
          <p:cNvPr id="4" name="TextBox 3"/>
          <p:cNvSpPr txBox="1"/>
          <p:nvPr/>
        </p:nvSpPr>
        <p:spPr>
          <a:xfrm>
            <a:off x="552450" y="1172954"/>
            <a:ext cx="8134350" cy="2062103"/>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600" i="0" u="none" strike="noStrike" kern="1200" cap="none" spc="0" normalizeH="0" baseline="0" noProof="0" dirty="0">
              <a:ln>
                <a:noFill/>
              </a:ln>
              <a:solidFill>
                <a:prstClr val="black"/>
              </a:solidFill>
              <a:effectLst/>
              <a:uLnTx/>
              <a:uFillTx/>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800"/>
            </a:pPr>
            <a:r>
              <a:rPr kumimoji="0" sz="1600" i="0" u="none" strike="noStrike" kern="1200" cap="none" spc="0" normalizeH="0" baseline="0" noProof="0" dirty="0">
                <a:ln>
                  <a:noFill/>
                </a:ln>
                <a:solidFill>
                  <a:prstClr val="black"/>
                </a:solidFill>
                <a:effectLst/>
                <a:uLnTx/>
                <a:uFillTx/>
                <a:ea typeface="+mn-ea"/>
                <a:cs typeface="+mn-cs"/>
              </a:rPr>
              <a:t>Loss Function: Measures the difference between predicted and actual values in a model. It helps in training by adjusting model weights to improve accuracy.</a:t>
            </a:r>
            <a:endParaRPr kumimoji="0" lang="en-CA" sz="1600" i="0" u="none" strike="noStrike" kern="1200" cap="none" spc="0" normalizeH="0" baseline="0" noProof="0" dirty="0">
              <a:ln>
                <a:noFill/>
              </a:ln>
              <a:solidFill>
                <a:prstClr val="black"/>
              </a:solidFill>
              <a:effectLst/>
              <a:uLnTx/>
              <a:uFillTx/>
              <a:ea typeface="+mn-ea"/>
              <a:cs typeface="+mn-cs"/>
            </a:endParaRPr>
          </a:p>
          <a:p>
            <a:pPr marR="0" lvl="0" algn="l" defTabSz="457200" rtl="0" eaLnBrk="1" fontAlgn="auto" latinLnBrk="0" hangingPunct="1">
              <a:lnSpc>
                <a:spcPct val="100000"/>
              </a:lnSpc>
              <a:spcBef>
                <a:spcPts val="0"/>
              </a:spcBef>
              <a:spcAft>
                <a:spcPts val="0"/>
              </a:spcAft>
              <a:buClrTx/>
              <a:buSzTx/>
              <a:tabLst/>
              <a:defRPr sz="1800"/>
            </a:pPr>
            <a:endParaRPr lang="en-CA" sz="1600" dirty="0">
              <a:solidFill>
                <a:prstClr val="black"/>
              </a:solidFill>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800"/>
            </a:pPr>
            <a:r>
              <a:rPr kumimoji="0" sz="1600" i="0" u="none" strike="noStrike" kern="1200" cap="none" spc="0" normalizeH="0" baseline="0" noProof="0" dirty="0">
                <a:ln>
                  <a:noFill/>
                </a:ln>
                <a:solidFill>
                  <a:prstClr val="black"/>
                </a:solidFill>
                <a:effectLst/>
                <a:uLnTx/>
                <a:uFillTx/>
                <a:ea typeface="+mn-ea"/>
                <a:cs typeface="+mn-cs"/>
              </a:rPr>
              <a:t>Reward Function: Provides feedback to an agent by assigning a reward or penalty based on its action. The agent learns by trying to maximize the accumulated reward.</a:t>
            </a:r>
            <a:endParaRPr kumimoji="0" lang="en-CA" sz="1600" i="0" u="none" strike="noStrike" kern="1200" cap="none" spc="0" normalizeH="0" baseline="0" noProof="0" dirty="0">
              <a:ln>
                <a:noFill/>
              </a:ln>
              <a:solidFill>
                <a:prstClr val="black"/>
              </a:solidFill>
              <a:effectLst/>
              <a:uLnTx/>
              <a:uFillTx/>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800"/>
            </a:pPr>
            <a:endParaRPr lang="en-CA" sz="1600" dirty="0">
              <a:solidFill>
                <a:prstClr val="black"/>
              </a:solidFill>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sz="1800"/>
            </a:pPr>
            <a:r>
              <a:rPr kumimoji="0" sz="1600" i="0" u="none" strike="noStrike" kern="1200" cap="none" spc="0" normalizeH="0" baseline="0" noProof="0" dirty="0">
                <a:ln>
                  <a:noFill/>
                </a:ln>
                <a:solidFill>
                  <a:prstClr val="black"/>
                </a:solidFill>
                <a:effectLst/>
                <a:uLnTx/>
                <a:uFillTx/>
                <a:ea typeface="+mn-ea"/>
                <a:cs typeface="+mn-cs"/>
              </a:rPr>
              <a:t>Key Difference: Models </a:t>
            </a:r>
            <a:r>
              <a:rPr lang="en-CA" sz="1600" dirty="0">
                <a:solidFill>
                  <a:prstClr val="black"/>
                </a:solidFill>
              </a:rPr>
              <a:t>aims to </a:t>
            </a:r>
            <a:r>
              <a:rPr kumimoji="0" sz="1600" i="0" u="none" strike="noStrike" kern="1200" cap="none" spc="0" normalizeH="0" baseline="0" noProof="0" dirty="0">
                <a:ln>
                  <a:noFill/>
                </a:ln>
                <a:solidFill>
                  <a:prstClr val="black"/>
                </a:solidFill>
                <a:effectLst/>
                <a:uLnTx/>
                <a:uFillTx/>
                <a:ea typeface="+mn-ea"/>
                <a:cs typeface="+mn-cs"/>
              </a:rPr>
              <a:t>reduce loss</a:t>
            </a:r>
            <a:r>
              <a:rPr kumimoji="0" lang="en-CA" sz="1600" i="0" u="none" strike="noStrike" kern="1200" cap="none" spc="0" normalizeH="0" baseline="0" noProof="0" dirty="0">
                <a:ln>
                  <a:noFill/>
                </a:ln>
                <a:solidFill>
                  <a:prstClr val="black"/>
                </a:solidFill>
                <a:effectLst/>
                <a:uLnTx/>
                <a:uFillTx/>
                <a:ea typeface="+mn-ea"/>
                <a:cs typeface="+mn-cs"/>
              </a:rPr>
              <a:t> while</a:t>
            </a:r>
            <a:r>
              <a:rPr kumimoji="0" sz="1600" i="0" u="none" strike="noStrike" kern="1200" cap="none" spc="0" normalizeH="0" baseline="0" noProof="0" dirty="0">
                <a:ln>
                  <a:noFill/>
                </a:ln>
                <a:solidFill>
                  <a:prstClr val="black"/>
                </a:solidFill>
                <a:effectLst/>
                <a:uLnTx/>
                <a:uFillTx/>
                <a:ea typeface="+mn-ea"/>
                <a:cs typeface="+mn-cs"/>
              </a:rPr>
              <a:t> RL agents maximize reward.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7084632" cy="461665"/>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pPr>
            <a:r>
              <a:rPr kumimoji="0" sz="2400" b="1" i="0" u="none" strike="noStrike" kern="1200" cap="none" spc="0" normalizeH="0" baseline="0" noProof="0" dirty="0">
                <a:ln>
                  <a:noFill/>
                </a:ln>
                <a:solidFill>
                  <a:prstClr val="black"/>
                </a:solidFill>
                <a:effectLst/>
                <a:uLnTx/>
                <a:uFillTx/>
                <a:ea typeface="+mn-ea"/>
                <a:cs typeface="+mn-cs"/>
              </a:rPr>
              <a:t>Challenges in Reinforcement Learning (Trading)</a:t>
            </a:r>
          </a:p>
        </p:txBody>
      </p:sp>
      <p:sp>
        <p:nvSpPr>
          <p:cNvPr id="4" name="TextBox 3"/>
          <p:cNvSpPr txBox="1"/>
          <p:nvPr/>
        </p:nvSpPr>
        <p:spPr>
          <a:xfrm>
            <a:off x="457200" y="1371600"/>
            <a:ext cx="8229600" cy="1569660"/>
          </a:xfrm>
          <a:prstGeom prst="rect">
            <a:avLst/>
          </a:prstGeom>
          <a:noFill/>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black"/>
                </a:solidFill>
                <a:effectLst/>
                <a:uLnTx/>
                <a:uFillTx/>
                <a:ea typeface="+mn-ea"/>
                <a:cs typeface="+mn-cs"/>
              </a:rPr>
              <a:t>Traditional Reinforcement learning </a:t>
            </a:r>
            <a:r>
              <a:rPr kumimoji="0" lang="en-US" sz="1600" b="0" i="0" u="none" strike="noStrike" kern="1200" cap="none" spc="0" normalizeH="0" baseline="0" noProof="0" dirty="0">
                <a:ln>
                  <a:noFill/>
                </a:ln>
                <a:solidFill>
                  <a:prstClr val="black"/>
                </a:solidFill>
                <a:effectLst/>
                <a:uLnTx/>
                <a:uFillTx/>
                <a:ea typeface="+mn-ea"/>
                <a:cs typeface="+mn-cs"/>
              </a:rPr>
              <a:t>method typically rely on </a:t>
            </a:r>
            <a:r>
              <a:rPr kumimoji="0" lang="en-US" sz="1600" b="1" i="0" u="none" strike="noStrike" kern="1200" cap="none" spc="0" normalizeH="0" baseline="0" noProof="0" dirty="0">
                <a:ln>
                  <a:noFill/>
                </a:ln>
                <a:solidFill>
                  <a:prstClr val="black"/>
                </a:solidFill>
                <a:effectLst/>
                <a:uLnTx/>
                <a:uFillTx/>
                <a:ea typeface="+mn-ea"/>
                <a:cs typeface="+mn-cs"/>
              </a:rPr>
              <a:t>predefined static reward function.</a:t>
            </a:r>
            <a:r>
              <a:rPr lang="en-US" sz="1600" b="1" noProof="0" dirty="0">
                <a:solidFill>
                  <a:prstClr val="black"/>
                </a:solidFill>
              </a:rPr>
              <a:t> </a:t>
            </a:r>
            <a:r>
              <a:rPr kumimoji="0" lang="en-US" sz="1600" b="0" i="0" u="none" strike="noStrike" kern="1200" cap="none" spc="0" normalizeH="0" baseline="0" noProof="0" dirty="0">
                <a:ln>
                  <a:noFill/>
                </a:ln>
                <a:solidFill>
                  <a:prstClr val="black"/>
                </a:solidFill>
                <a:effectLst/>
                <a:uLnTx/>
                <a:uFillTx/>
                <a:ea typeface="+mn-ea"/>
                <a:cs typeface="+mn-cs"/>
              </a:rPr>
              <a:t>Although this approach can help the agent to achieve their goal to some extent.</a:t>
            </a:r>
          </a:p>
          <a:p>
            <a:pPr marR="0" lvl="0" algn="l" defTabSz="457200" rtl="0" eaLnBrk="1" fontAlgn="auto" latinLnBrk="0" hangingPunct="1">
              <a:lnSpc>
                <a:spcPct val="100000"/>
              </a:lnSpc>
              <a:spcBef>
                <a:spcPts val="0"/>
              </a:spcBef>
              <a:spcAft>
                <a:spcPts val="0"/>
              </a:spcAft>
              <a:buClrTx/>
              <a:buSzTx/>
              <a:tabLst/>
              <a:defRPr/>
            </a:pPr>
            <a:endParaRPr kumimoji="0" lang="en-US" sz="1600" b="0" i="0" u="none" strike="noStrike" kern="1200" cap="none" spc="0" normalizeH="0" baseline="0" noProof="0" dirty="0">
              <a:ln>
                <a:noFill/>
              </a:ln>
              <a:solidFill>
                <a:prstClr val="black"/>
              </a:solidFill>
              <a:effectLst/>
              <a:uLnTx/>
              <a:uFillTx/>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ea typeface="+mn-ea"/>
                <a:cs typeface="+mn-cs"/>
              </a:rPr>
              <a:t>Predefined reward functions often </a:t>
            </a:r>
            <a:r>
              <a:rPr kumimoji="0" lang="en-US" sz="1600" b="1" i="0" u="none" strike="noStrike" kern="1200" cap="none" spc="0" normalizeH="0" baseline="0" noProof="0" dirty="0">
                <a:ln>
                  <a:noFill/>
                </a:ln>
                <a:solidFill>
                  <a:prstClr val="black"/>
                </a:solidFill>
                <a:effectLst/>
                <a:uLnTx/>
                <a:uFillTx/>
                <a:ea typeface="+mn-ea"/>
                <a:cs typeface="+mn-cs"/>
              </a:rPr>
              <a:t>lack sufficient flexibility</a:t>
            </a:r>
            <a:r>
              <a:rPr kumimoji="0" lang="en-US" sz="1600" b="0" i="0" u="none" strike="noStrike" kern="1200" cap="none" spc="0" normalizeH="0" baseline="0" noProof="0" dirty="0">
                <a:ln>
                  <a:noFill/>
                </a:ln>
                <a:solidFill>
                  <a:prstClr val="black"/>
                </a:solidFill>
                <a:effectLst/>
                <a:uLnTx/>
                <a:uFillTx/>
                <a:ea typeface="+mn-ea"/>
                <a:cs typeface="+mn-cs"/>
              </a:rPr>
              <a:t> making it </a:t>
            </a:r>
            <a:r>
              <a:rPr kumimoji="0" lang="en-US" sz="1600" b="1" i="0" u="none" strike="noStrike" kern="1200" cap="none" spc="0" normalizeH="0" baseline="0" noProof="0" dirty="0">
                <a:ln>
                  <a:noFill/>
                </a:ln>
                <a:solidFill>
                  <a:prstClr val="black"/>
                </a:solidFill>
                <a:effectLst/>
                <a:uLnTx/>
                <a:uFillTx/>
                <a:ea typeface="+mn-ea"/>
                <a:cs typeface="+mn-cs"/>
              </a:rPr>
              <a:t>difficult to adapt to dynamic changes in the environment</a:t>
            </a:r>
            <a:r>
              <a:rPr kumimoji="0" lang="en-US" sz="1600" b="0" i="0" u="none" strike="noStrike" kern="1200" cap="none" spc="0" normalizeH="0" baseline="0" noProof="0" dirty="0">
                <a:ln>
                  <a:noFill/>
                </a:ln>
                <a:solidFill>
                  <a:prstClr val="black"/>
                </a:solidFill>
                <a:effectLst/>
                <a:uLnTx/>
                <a:uFillTx/>
                <a:ea typeface="+mn-ea"/>
                <a:cs typeface="+mn-cs"/>
              </a:rPr>
              <a:t>, thus by limiting the performance and adaptability of the algorithm.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957354" cy="461665"/>
          </a:xfrm>
          <a:prstGeom prst="rect">
            <a:avLst/>
          </a:prstGeom>
          <a:noFill/>
        </p:spPr>
        <p:txBody>
          <a:bodyPr wrap="none">
            <a:spAutoFit/>
          </a:bodyPr>
          <a:lstStyle/>
          <a:p>
            <a:pPr>
              <a:defRPr sz="2600" b="1"/>
            </a:pPr>
            <a:r>
              <a:rPr sz="2400" dirty="0"/>
              <a:t>Example: Reward Functions in Trading Strategy</a:t>
            </a:r>
          </a:p>
        </p:txBody>
      </p:sp>
      <p:sp>
        <p:nvSpPr>
          <p:cNvPr id="4" name="TextBox 3"/>
          <p:cNvSpPr txBox="1"/>
          <p:nvPr/>
        </p:nvSpPr>
        <p:spPr>
          <a:xfrm>
            <a:off x="552450" y="1371600"/>
            <a:ext cx="8134350" cy="2554545"/>
          </a:xfrm>
          <a:prstGeom prst="rect">
            <a:avLst/>
          </a:prstGeom>
          <a:noFill/>
        </p:spPr>
        <p:txBody>
          <a:bodyPr wrap="square">
            <a:spAutoFit/>
          </a:bodyPr>
          <a:lstStyle/>
          <a:p>
            <a:pPr>
              <a:defRPr sz="1800"/>
            </a:pPr>
            <a:r>
              <a:rPr lang="en-US" sz="1600" dirty="0"/>
              <a:t>Let's consider the trading platform. The design of </a:t>
            </a:r>
            <a:r>
              <a:rPr lang="en-US" sz="1600" b="1" dirty="0"/>
              <a:t>reward function can vary significantly depending on the specific objectives and preferences of the investors </a:t>
            </a:r>
            <a:r>
              <a:rPr lang="en-US" sz="1600" dirty="0"/>
              <a:t>involved in trading strategy.</a:t>
            </a:r>
          </a:p>
          <a:p>
            <a:pPr>
              <a:defRPr sz="1800"/>
            </a:pPr>
            <a:endParaRPr lang="en-US" sz="1600" dirty="0"/>
          </a:p>
          <a:p>
            <a:pPr marL="285750" indent="-285750">
              <a:buFont typeface="Arial" panose="020B0604020202020204" pitchFamily="34" charset="0"/>
              <a:buChar char="•"/>
              <a:defRPr sz="1800"/>
            </a:pPr>
            <a:r>
              <a:rPr lang="en-US" sz="1600" b="1" dirty="0"/>
              <a:t>For risk averse investors </a:t>
            </a:r>
            <a:r>
              <a:rPr lang="en-US" sz="1600" dirty="0"/>
              <a:t>integrating </a:t>
            </a:r>
            <a:r>
              <a:rPr lang="en-US" sz="1600" b="1" dirty="0"/>
              <a:t>risk measures into return function</a:t>
            </a:r>
            <a:r>
              <a:rPr lang="en-US" sz="1600" dirty="0"/>
              <a:t> is crucial to ensure stability alongside profitability.</a:t>
            </a:r>
          </a:p>
          <a:p>
            <a:pPr marL="285750" indent="-285750">
              <a:buFont typeface="Arial" panose="020B0604020202020204" pitchFamily="34" charset="0"/>
              <a:buChar char="•"/>
              <a:defRPr sz="1800"/>
            </a:pPr>
            <a:r>
              <a:rPr lang="en-US" sz="1600" dirty="0"/>
              <a:t>One of the commonly used matrix is the </a:t>
            </a:r>
            <a:r>
              <a:rPr lang="en-US" sz="1600" b="1" dirty="0"/>
              <a:t>Sharpe Ratio </a:t>
            </a:r>
            <a:r>
              <a:rPr lang="en-US" sz="1600" dirty="0"/>
              <a:t>which evaluates the risk adjusted return by comparing the expected return to the volatility of the portfolio. This allows a RL agent to optimize for not just higher return but also lower risk making the strategy more appealing to conservative investors</a:t>
            </a:r>
            <a:endParaRPr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58EFB-5D2D-C23D-4D2F-81DBC174841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F5A36C4-646F-5D71-CB84-4531BA7B95CD}"/>
              </a:ext>
            </a:extLst>
          </p:cNvPr>
          <p:cNvSpPr txBox="1"/>
          <p:nvPr/>
        </p:nvSpPr>
        <p:spPr>
          <a:xfrm>
            <a:off x="266700" y="299323"/>
            <a:ext cx="2334293" cy="461665"/>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pPr>
            <a:r>
              <a:rPr kumimoji="0" lang="en-CA" sz="2400" b="1" i="0" u="none" strike="noStrike" kern="1200" cap="none" spc="0" normalizeH="0" baseline="0" noProof="0" dirty="0">
                <a:ln>
                  <a:noFill/>
                </a:ln>
                <a:solidFill>
                  <a:prstClr val="black"/>
                </a:solidFill>
                <a:effectLst/>
                <a:uLnTx/>
                <a:uFillTx/>
                <a:ea typeface="+mn-ea"/>
                <a:cs typeface="+mn-cs"/>
              </a:rPr>
              <a:t>Example cont..</a:t>
            </a:r>
            <a:endParaRPr kumimoji="0" sz="2400" b="1" i="0" u="none" strike="noStrike" kern="1200" cap="none" spc="0" normalizeH="0" baseline="0" noProof="0" dirty="0">
              <a:ln>
                <a:noFill/>
              </a:ln>
              <a:solidFill>
                <a:prstClr val="black"/>
              </a:solidFill>
              <a:effectLst/>
              <a:uLnTx/>
              <a:uFillTx/>
              <a:ea typeface="+mn-ea"/>
              <a:cs typeface="+mn-cs"/>
            </a:endParaRPr>
          </a:p>
        </p:txBody>
      </p:sp>
      <p:sp>
        <p:nvSpPr>
          <p:cNvPr id="4" name="TextBox 3">
            <a:extLst>
              <a:ext uri="{FF2B5EF4-FFF2-40B4-BE49-F238E27FC236}">
                <a16:creationId xmlns:a16="http://schemas.microsoft.com/office/drawing/2014/main" id="{16CB3EB6-2601-94FC-EBCB-17129DBB258F}"/>
              </a:ext>
            </a:extLst>
          </p:cNvPr>
          <p:cNvSpPr txBox="1"/>
          <p:nvPr/>
        </p:nvSpPr>
        <p:spPr>
          <a:xfrm>
            <a:off x="266700" y="1371600"/>
            <a:ext cx="8420100" cy="2062103"/>
          </a:xfrm>
          <a:prstGeom prst="rect">
            <a:avLst/>
          </a:prstGeom>
          <a:noFill/>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i="0" u="none" strike="noStrike" kern="1200" cap="none" spc="0" normalizeH="0" baseline="0" noProof="0" dirty="0">
                <a:ln>
                  <a:noFill/>
                </a:ln>
                <a:solidFill>
                  <a:prstClr val="black"/>
                </a:solidFill>
                <a:effectLst/>
                <a:uLnTx/>
                <a:uFillTx/>
                <a:ea typeface="+mn-ea"/>
                <a:cs typeface="+mn-cs"/>
              </a:rPr>
              <a:t>Some investors prioritize short term gains and may prefer reward functions that emphasis on immediate returns. So, reward function should be optimized for immediate returns rather than risk management.</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i="0" u="none" strike="noStrike" kern="1200" cap="none" spc="0" normalizeH="0" baseline="0" noProof="0" dirty="0">
              <a:ln>
                <a:noFill/>
              </a:ln>
              <a:solidFill>
                <a:prstClr val="black"/>
              </a:solidFill>
              <a:effectLst/>
              <a:uLnTx/>
              <a:uFillTx/>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i="0" u="none" strike="noStrike" kern="1200" cap="none" spc="0" normalizeH="0" baseline="0" noProof="0" dirty="0">
                <a:ln>
                  <a:noFill/>
                </a:ln>
                <a:solidFill>
                  <a:prstClr val="black"/>
                </a:solidFill>
                <a:effectLst/>
                <a:uLnTx/>
                <a:uFillTx/>
                <a:ea typeface="+mn-ea"/>
                <a:cs typeface="+mn-cs"/>
              </a:rPr>
              <a:t>There are some investors who adopt for multi-objective perspective, seeking to balance both short-term return and risk measures such as Sharpe Ratio. In such cases reward function is designed to incorporate multiple objectives, allowing RL agent to optimize for a combination of immediate and risk adjusted performance.</a:t>
            </a:r>
          </a:p>
        </p:txBody>
      </p:sp>
    </p:spTree>
    <p:extLst>
      <p:ext uri="{BB962C8B-B14F-4D97-AF65-F5344CB8AC3E}">
        <p14:creationId xmlns:p14="http://schemas.microsoft.com/office/powerpoint/2010/main" val="959231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4437946" cy="461665"/>
          </a:xfrm>
          <a:prstGeom prst="rect">
            <a:avLst/>
          </a:prstGeom>
          <a:noFill/>
        </p:spPr>
        <p:txBody>
          <a:bodyPr wrap="none">
            <a:spAutoFit/>
          </a:bodyPr>
          <a:lstStyle/>
          <a:p>
            <a:pPr>
              <a:defRPr sz="2600" b="1"/>
            </a:pPr>
            <a:r>
              <a:rPr sz="2400" dirty="0"/>
              <a:t>Evolution of Reward Function</a:t>
            </a:r>
          </a:p>
        </p:txBody>
      </p:sp>
      <p:sp>
        <p:nvSpPr>
          <p:cNvPr id="4" name="TextBox 3"/>
          <p:cNvSpPr txBox="1"/>
          <p:nvPr/>
        </p:nvSpPr>
        <p:spPr>
          <a:xfrm>
            <a:off x="457200" y="1371600"/>
            <a:ext cx="8229600" cy="3293209"/>
          </a:xfrm>
          <a:prstGeom prst="rect">
            <a:avLst/>
          </a:prstGeom>
          <a:noFill/>
        </p:spPr>
        <p:txBody>
          <a:bodyPr wrap="square">
            <a:spAutoFit/>
          </a:bodyPr>
          <a:lstStyle/>
          <a:p>
            <a:pPr marL="285750" indent="-285750">
              <a:buFont typeface="Arial" panose="020B0604020202020204" pitchFamily="34" charset="0"/>
              <a:buChar char="•"/>
            </a:pPr>
            <a:r>
              <a:rPr lang="en-US" sz="1600" dirty="0"/>
              <a:t>As RL evolved researchers sought adaptive methods leading to the use of neural network to dynamically learn from data. It allows real time reward adjustments based on the state changed. Even though the reward function achieved adaptability it become computationally inexpensive due to continues updates and is unstable.</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To overcome inefficiencies in neural network based dynamic reward researchers introduced Supervised Reinforcement Learning that uses expert labels to train reward function. But main disadvantage is that this approach requires high quality expert labelled data.</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Most recent advancement like self rewarding language model and direct large language models introduces an innovative self rewarding deep reinforcement learning mechanism where the reinforcement leaning agent automatically refine their reward function using both expert knowledge and learned prediction.</a:t>
            </a:r>
            <a:endParaRPr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7536426" cy="461665"/>
          </a:xfrm>
          <a:prstGeom prst="rect">
            <a:avLst/>
          </a:prstGeom>
          <a:noFill/>
        </p:spPr>
        <p:txBody>
          <a:bodyPr wrap="square">
            <a:spAutoFit/>
          </a:bodyPr>
          <a:lstStyle/>
          <a:p>
            <a:pPr>
              <a:defRPr sz="2400" b="1"/>
            </a:pPr>
            <a:r>
              <a:rPr lang="en-CA" dirty="0">
                <a:latin typeface="+mj-lt"/>
              </a:rPr>
              <a:t>Innovative  Idea</a:t>
            </a:r>
            <a:endParaRPr dirty="0">
              <a:latin typeface="+mj-lt"/>
            </a:endParaRPr>
          </a:p>
        </p:txBody>
      </p:sp>
      <p:sp>
        <p:nvSpPr>
          <p:cNvPr id="4" name="TextBox 3"/>
          <p:cNvSpPr txBox="1"/>
          <p:nvPr/>
        </p:nvSpPr>
        <p:spPr>
          <a:xfrm>
            <a:off x="457200" y="1371600"/>
            <a:ext cx="8229600" cy="3139321"/>
          </a:xfrm>
          <a:prstGeom prst="rect">
            <a:avLst/>
          </a:prstGeom>
          <a:noFill/>
        </p:spPr>
        <p:txBody>
          <a:bodyPr wrap="square">
            <a:spAutoFit/>
          </a:bodyPr>
          <a:lstStyle/>
          <a:p>
            <a:pPr marL="285750" indent="-285750">
              <a:buFont typeface="Arial" panose="020B0604020202020204" pitchFamily="34" charset="0"/>
              <a:buChar char="•"/>
            </a:pPr>
            <a:r>
              <a:rPr lang="en-US" dirty="0"/>
              <a:t>Consequently, this paper also introduces a self rewarding mechanism with Double Deep Q Network named Self Rewarding Double Depp Q Network specially for financial trading.</a:t>
            </a:r>
          </a:p>
          <a:p>
            <a:endParaRPr lang="en-US" dirty="0"/>
          </a:p>
          <a:p>
            <a:pPr marL="285750" indent="-285750">
              <a:buFont typeface="Arial" panose="020B0604020202020204" pitchFamily="34" charset="0"/>
              <a:buChar char="•"/>
            </a:pPr>
            <a:r>
              <a:rPr lang="en-US" dirty="0"/>
              <a:t>SRDQN trading mechanism refines the learning process and drive the agent to make informed and profitable trading decision while optimizing the overall strategy performance.</a:t>
            </a:r>
          </a:p>
          <a:p>
            <a:endParaRPr lang="en-US" dirty="0"/>
          </a:p>
          <a:p>
            <a:pPr marL="285750" indent="-285750">
              <a:buFont typeface="Arial" panose="020B0604020202020204" pitchFamily="34" charset="0"/>
              <a:buChar char="•"/>
            </a:pPr>
            <a:r>
              <a:rPr lang="en-US" dirty="0"/>
              <a:t>The advanced time series feature extraction techniques such as </a:t>
            </a:r>
            <a:r>
              <a:rPr lang="en-US" dirty="0" err="1"/>
              <a:t>TimesNet</a:t>
            </a:r>
            <a:r>
              <a:rPr lang="en-US" dirty="0"/>
              <a:t>, </a:t>
            </a:r>
            <a:r>
              <a:rPr lang="en-US" dirty="0" err="1"/>
              <a:t>WFTNet</a:t>
            </a:r>
            <a:r>
              <a:rPr lang="en-US" dirty="0"/>
              <a:t> and </a:t>
            </a:r>
            <a:r>
              <a:rPr lang="en-US" dirty="0" err="1"/>
              <a:t>Nlinear</a:t>
            </a:r>
            <a:r>
              <a:rPr lang="en-US" dirty="0"/>
              <a:t> within the self rewarding framework significantly enhances the accuracy of the prediction.</a:t>
            </a:r>
            <a:endParaRPr dirty="0"/>
          </a:p>
        </p:txBody>
      </p:sp>
      <p:sp>
        <p:nvSpPr>
          <p:cNvPr id="8" name="AutoShape 6" descr="A digital artwork of a futuristic AI trading dashboard, featuring a glowing neural network labeled 'SRDQN' in the center, radiating light. It overlays a dynamic stock market chart with rising green candlesticks and algorithmic signals. Behind the network, abstract representations of TimesNet, WFTNet, and NLinear models float in the form of layered circuit diagrams. The background is a high-tech financial cityscape glowing with data streams and holograms. The color palette features electric blues, greens, and silvers. Created Using: cinematic lighting, digital glow effects, high-contrast financial elements, holographic textures, sharp linework, realistic tech textures, high-definition UI visuals, futuristic ambient lighting, hd quality, natural look">
            <a:extLst>
              <a:ext uri="{FF2B5EF4-FFF2-40B4-BE49-F238E27FC236}">
                <a16:creationId xmlns:a16="http://schemas.microsoft.com/office/drawing/2014/main" id="{0A390799-1360-F18F-6B72-F2B5ADE1E46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1CB9E-9F34-AC89-DFF3-BE2233E792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1292878-BEBF-9EDD-F90B-9D1F14F41365}"/>
              </a:ext>
            </a:extLst>
          </p:cNvPr>
          <p:cNvSpPr txBox="1"/>
          <p:nvPr/>
        </p:nvSpPr>
        <p:spPr>
          <a:xfrm>
            <a:off x="457200" y="274320"/>
            <a:ext cx="7536426" cy="461665"/>
          </a:xfrm>
          <a:prstGeom prst="rect">
            <a:avLst/>
          </a:prstGeom>
          <a:noFill/>
        </p:spPr>
        <p:txBody>
          <a:bodyPr wrap="square">
            <a:spAutoFit/>
          </a:bodyPr>
          <a:lstStyle/>
          <a:p>
            <a:pPr>
              <a:defRPr sz="2400" b="1"/>
            </a:pPr>
            <a:r>
              <a:rPr lang="en-CA" dirty="0">
                <a:latin typeface="+mj-lt"/>
              </a:rPr>
              <a:t>Trading as a Markov Decision </a:t>
            </a:r>
            <a:endParaRPr dirty="0">
              <a:latin typeface="+mj-lt"/>
            </a:endParaRPr>
          </a:p>
        </p:txBody>
      </p:sp>
      <p:sp>
        <p:nvSpPr>
          <p:cNvPr id="4" name="TextBox 3">
            <a:extLst>
              <a:ext uri="{FF2B5EF4-FFF2-40B4-BE49-F238E27FC236}">
                <a16:creationId xmlns:a16="http://schemas.microsoft.com/office/drawing/2014/main" id="{177FAB7B-FD67-174D-F08B-AF270CF354F3}"/>
              </a:ext>
            </a:extLst>
          </p:cNvPr>
          <p:cNvSpPr txBox="1"/>
          <p:nvPr/>
        </p:nvSpPr>
        <p:spPr>
          <a:xfrm>
            <a:off x="457200" y="1028343"/>
            <a:ext cx="8158494" cy="3139321"/>
          </a:xfrm>
          <a:prstGeom prst="rect">
            <a:avLst/>
          </a:prstGeom>
          <a:noFill/>
        </p:spPr>
        <p:txBody>
          <a:bodyPr wrap="square">
            <a:spAutoFit/>
          </a:bodyPr>
          <a:lstStyle/>
          <a:p>
            <a:pPr marL="285750" indent="-285750">
              <a:buFont typeface="Arial" panose="020B0604020202020204" pitchFamily="34" charset="0"/>
              <a:buChar char="•"/>
            </a:pPr>
            <a:r>
              <a:rPr lang="en-US" dirty="0"/>
              <a:t>The paper formalizes single asset trading as a Markov decision process within and RL framework.</a:t>
            </a:r>
          </a:p>
          <a:p>
            <a:pPr marL="285750" indent="-285750">
              <a:buFont typeface="Arial" panose="020B0604020202020204" pitchFamily="34" charset="0"/>
              <a:buChar char="•"/>
            </a:pPr>
            <a:r>
              <a:rPr lang="en-US" dirty="0"/>
              <a:t>Agent generates optimal trading strategy and execution by exploring a series of actions in a trading environment.</a:t>
            </a:r>
          </a:p>
          <a:p>
            <a:pPr marL="285750" indent="-285750">
              <a:buFont typeface="Arial" panose="020B0604020202020204" pitchFamily="34" charset="0"/>
              <a:buChar char="•"/>
            </a:pPr>
            <a:r>
              <a:rPr lang="en-US" dirty="0"/>
              <a:t>The state consists of the opening, high, low, closing process and trading volume from the past 20 days and 20 weeks at time t.</a:t>
            </a:r>
          </a:p>
          <a:p>
            <a:pPr marL="285750" indent="-285750">
              <a:buFont typeface="Arial" panose="020B0604020202020204" pitchFamily="34" charset="0"/>
              <a:buChar char="•"/>
            </a:pPr>
            <a:r>
              <a:rPr lang="en-US" dirty="0"/>
              <a:t>Actions are defined directly as sell, buy and hold.</a:t>
            </a:r>
          </a:p>
          <a:p>
            <a:pPr marL="285750" indent="-285750">
              <a:buFont typeface="Arial" panose="020B0604020202020204" pitchFamily="34" charset="0"/>
              <a:buChar char="•"/>
            </a:pPr>
            <a:r>
              <a:rPr lang="en-US" dirty="0"/>
              <a:t>The model combines Efficient Market Hypothesis with the Adaptive Market Hypothesis to reflect both the efficiency and it’s evolving nature.</a:t>
            </a:r>
          </a:p>
          <a:p>
            <a:pPr marL="285750" indent="-285750">
              <a:buFont typeface="Arial" panose="020B0604020202020204" pitchFamily="34" charset="0"/>
              <a:buChar char="•"/>
            </a:pPr>
            <a:r>
              <a:rPr lang="en-US" dirty="0"/>
              <a:t>EMH assumes that market fully reflect all information AMH adds that efficiency can change over time based on investor and market condition.</a:t>
            </a:r>
            <a:endParaRPr dirty="0"/>
          </a:p>
        </p:txBody>
      </p:sp>
      <p:sp>
        <p:nvSpPr>
          <p:cNvPr id="8" name="AutoShape 6" descr="A digital artwork of a futuristic AI trading dashboard, featuring a glowing neural network labeled 'SRDQN' in the center, radiating light. It overlays a dynamic stock market chart with rising green candlesticks and algorithmic signals. Behind the network, abstract representations of TimesNet, WFTNet, and NLinear models float in the form of layered circuit diagrams. The background is a high-tech financial cityscape glowing with data streams and holograms. The color palette features electric blues, greens, and silvers. Created Using: cinematic lighting, digital glow effects, high-contrast financial elements, holographic textures, sharp linework, realistic tech textures, high-definition UI visuals, futuristic ambient lighting, hd quality, natural look">
            <a:extLst>
              <a:ext uri="{FF2B5EF4-FFF2-40B4-BE49-F238E27FC236}">
                <a16:creationId xmlns:a16="http://schemas.microsoft.com/office/drawing/2014/main" id="{B47D6803-10AD-A7A3-FF49-7F262DE5DB3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Tree>
    <p:extLst>
      <p:ext uri="{BB962C8B-B14F-4D97-AF65-F5344CB8AC3E}">
        <p14:creationId xmlns:p14="http://schemas.microsoft.com/office/powerpoint/2010/main" val="2988420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312E0-58EE-91F3-6B61-21A98A045E6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60382C-BDCE-298B-649B-42906A612FAA}"/>
              </a:ext>
            </a:extLst>
          </p:cNvPr>
          <p:cNvSpPr txBox="1"/>
          <p:nvPr/>
        </p:nvSpPr>
        <p:spPr>
          <a:xfrm>
            <a:off x="457200" y="274320"/>
            <a:ext cx="7536426" cy="830997"/>
          </a:xfrm>
          <a:prstGeom prst="rect">
            <a:avLst/>
          </a:prstGeom>
          <a:noFill/>
        </p:spPr>
        <p:txBody>
          <a:bodyPr wrap="square">
            <a:spAutoFit/>
          </a:bodyPr>
          <a:lstStyle/>
          <a:p>
            <a:pPr>
              <a:defRPr sz="2400" b="1"/>
            </a:pPr>
            <a:r>
              <a:rPr dirty="0"/>
              <a:t>Innovation: Self-Rewarding Double Deep Q Network (SRD</a:t>
            </a:r>
            <a:r>
              <a:rPr lang="en-CA" dirty="0"/>
              <a:t>D</a:t>
            </a:r>
            <a:r>
              <a:rPr dirty="0"/>
              <a:t>QN)</a:t>
            </a:r>
          </a:p>
        </p:txBody>
      </p:sp>
      <p:sp>
        <p:nvSpPr>
          <p:cNvPr id="4" name="TextBox 3">
            <a:extLst>
              <a:ext uri="{FF2B5EF4-FFF2-40B4-BE49-F238E27FC236}">
                <a16:creationId xmlns:a16="http://schemas.microsoft.com/office/drawing/2014/main" id="{974C3CF9-EE99-C99E-DA22-AAC693F2A5F4}"/>
              </a:ext>
            </a:extLst>
          </p:cNvPr>
          <p:cNvSpPr txBox="1"/>
          <p:nvPr/>
        </p:nvSpPr>
        <p:spPr>
          <a:xfrm>
            <a:off x="457200" y="1371600"/>
            <a:ext cx="8229600" cy="2031325"/>
          </a:xfrm>
          <a:prstGeom prst="rect">
            <a:avLst/>
          </a:prstGeom>
          <a:noFill/>
        </p:spPr>
        <p:txBody>
          <a:bodyPr wrap="square">
            <a:spAutoFit/>
          </a:bodyPr>
          <a:lstStyle/>
          <a:p>
            <a:pPr marL="285750" indent="-285750">
              <a:buFont typeface="Arial" panose="020B0604020202020204" pitchFamily="34" charset="0"/>
              <a:buChar char="•"/>
            </a:pPr>
            <a:r>
              <a:rPr lang="en-US" dirty="0"/>
              <a:t>Integrates self-rewarding mechanisms into an RL framework.</a:t>
            </a:r>
          </a:p>
          <a:p>
            <a:pPr marL="285750" indent="-285750">
              <a:buFont typeface="Arial" panose="020B0604020202020204" pitchFamily="34" charset="0"/>
              <a:buChar char="•"/>
            </a:pPr>
            <a:r>
              <a:rPr lang="en-US" dirty="0"/>
              <a:t>Inspiration – self rewarding language model.</a:t>
            </a:r>
          </a:p>
          <a:p>
            <a:pPr marL="285750" indent="-285750">
              <a:buFont typeface="Arial" panose="020B0604020202020204" pitchFamily="34" charset="0"/>
              <a:buChar char="•"/>
            </a:pPr>
            <a:r>
              <a:rPr lang="en-US" dirty="0"/>
              <a:t>Aiming to enhance the framework’s capabilities in the complex decision scenarios.</a:t>
            </a:r>
          </a:p>
          <a:p>
            <a:pPr marL="285750" indent="-285750">
              <a:buFont typeface="Arial" panose="020B0604020202020204" pitchFamily="34" charset="0"/>
              <a:buChar char="•"/>
            </a:pPr>
            <a:r>
              <a:rPr lang="en-US" dirty="0"/>
              <a:t>Process divided into two step:</a:t>
            </a:r>
          </a:p>
          <a:p>
            <a:endParaRPr lang="en-US" dirty="0"/>
          </a:p>
          <a:p>
            <a:pPr marL="742950" lvl="1" indent="-285750">
              <a:buFont typeface="Arial" panose="020B0604020202020204" pitchFamily="34" charset="0"/>
              <a:buChar char="•"/>
            </a:pPr>
            <a:r>
              <a:rPr lang="en-US" dirty="0"/>
              <a:t>Refining the learning process</a:t>
            </a:r>
          </a:p>
          <a:p>
            <a:pPr marL="742950" lvl="1" indent="-285750">
              <a:buFont typeface="Arial" panose="020B0604020202020204" pitchFamily="34" charset="0"/>
              <a:buChar char="•"/>
            </a:pPr>
            <a:r>
              <a:rPr lang="en-US" dirty="0"/>
              <a:t>Improving the efficiency of the trading strategy formulated by the RL method.</a:t>
            </a:r>
            <a:endParaRPr dirty="0"/>
          </a:p>
        </p:txBody>
      </p:sp>
    </p:spTree>
    <p:extLst>
      <p:ext uri="{BB962C8B-B14F-4D97-AF65-F5344CB8AC3E}">
        <p14:creationId xmlns:p14="http://schemas.microsoft.com/office/powerpoint/2010/main" val="3428383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3979807" cy="523220"/>
          </a:xfrm>
          <a:prstGeom prst="rect">
            <a:avLst/>
          </a:prstGeom>
          <a:noFill/>
        </p:spPr>
        <p:txBody>
          <a:bodyPr wrap="none">
            <a:spAutoFit/>
          </a:bodyPr>
          <a:lstStyle/>
          <a:p>
            <a:pPr>
              <a:defRPr sz="2800" b="1"/>
            </a:pPr>
            <a:r>
              <a:rPr dirty="0"/>
              <a:t>Structure of SRD</a:t>
            </a:r>
            <a:r>
              <a:rPr lang="en-CA" dirty="0"/>
              <a:t>D</a:t>
            </a:r>
            <a:r>
              <a:rPr dirty="0"/>
              <a:t>QN</a:t>
            </a:r>
          </a:p>
        </p:txBody>
      </p:sp>
      <p:sp>
        <p:nvSpPr>
          <p:cNvPr id="4" name="TextBox 3"/>
          <p:cNvSpPr txBox="1"/>
          <p:nvPr/>
        </p:nvSpPr>
        <p:spPr>
          <a:xfrm>
            <a:off x="457200" y="3758666"/>
            <a:ext cx="9081121" cy="1384995"/>
          </a:xfrm>
          <a:prstGeom prst="rect">
            <a:avLst/>
          </a:prstGeom>
          <a:noFill/>
        </p:spPr>
        <p:txBody>
          <a:bodyPr wrap="square">
            <a:spAutoFit/>
          </a:bodyPr>
          <a:lstStyle/>
          <a:p>
            <a:endParaRPr sz="1400" dirty="0"/>
          </a:p>
          <a:p>
            <a:pPr>
              <a:defRPr sz="1800"/>
            </a:pPr>
            <a:r>
              <a:rPr sz="1400" dirty="0"/>
              <a:t>SRD</a:t>
            </a:r>
            <a:r>
              <a:rPr lang="en-CA" sz="1400" dirty="0"/>
              <a:t>D</a:t>
            </a:r>
            <a:r>
              <a:rPr sz="1400" dirty="0"/>
              <a:t>QN has 4 core components:</a:t>
            </a:r>
            <a:r>
              <a:rPr lang="en-CA" sz="1400" dirty="0"/>
              <a:t> </a:t>
            </a:r>
          </a:p>
          <a:p>
            <a:pPr marL="285750" indent="-285750">
              <a:buFont typeface="Arial" panose="020B0604020202020204" pitchFamily="34" charset="0"/>
              <a:buChar char="•"/>
              <a:defRPr sz="1800"/>
            </a:pPr>
            <a:r>
              <a:rPr lang="en-US" sz="1400" dirty="0"/>
              <a:t>Raw data processing</a:t>
            </a:r>
          </a:p>
          <a:p>
            <a:pPr marL="285750" indent="-285750">
              <a:buFont typeface="Arial" panose="020B0604020202020204" pitchFamily="34" charset="0"/>
              <a:buChar char="•"/>
              <a:defRPr sz="1800"/>
            </a:pPr>
            <a:r>
              <a:rPr lang="en-US" sz="1400" dirty="0"/>
              <a:t>Environment</a:t>
            </a:r>
          </a:p>
          <a:p>
            <a:pPr marL="285750" indent="-285750">
              <a:buFont typeface="Arial" panose="020B0604020202020204" pitchFamily="34" charset="0"/>
              <a:buChar char="•"/>
              <a:defRPr sz="1800"/>
            </a:pPr>
            <a:r>
              <a:rPr lang="en-US" sz="1400" dirty="0"/>
              <a:t>Trading Agent</a:t>
            </a:r>
          </a:p>
          <a:p>
            <a:pPr marL="285750" indent="-285750">
              <a:buFont typeface="Arial" panose="020B0604020202020204" pitchFamily="34" charset="0"/>
              <a:buChar char="•"/>
              <a:defRPr sz="1800"/>
            </a:pPr>
            <a:r>
              <a:rPr lang="en-US" sz="1400" dirty="0"/>
              <a:t>Replay Memory.</a:t>
            </a:r>
            <a:endParaRPr sz="1400" dirty="0"/>
          </a:p>
        </p:txBody>
      </p:sp>
      <p:pic>
        <p:nvPicPr>
          <p:cNvPr id="5" name="Content Placeholder 10" descr="A diagram of a data processing process&#10;&#10;AI-generated content may be incorrect.">
            <a:extLst>
              <a:ext uri="{FF2B5EF4-FFF2-40B4-BE49-F238E27FC236}">
                <a16:creationId xmlns:a16="http://schemas.microsoft.com/office/drawing/2014/main" id="{3BAC2340-4CC1-A670-396B-09832BEAFF54}"/>
              </a:ext>
            </a:extLst>
          </p:cNvPr>
          <p:cNvPicPr>
            <a:picLocks noGrp="1" noChangeAspect="1"/>
          </p:cNvPicPr>
          <p:nvPr/>
        </p:nvPicPr>
        <p:blipFill>
          <a:blip r:embed="rId2"/>
          <a:srcRect b="1107"/>
          <a:stretch/>
        </p:blipFill>
        <p:spPr>
          <a:xfrm>
            <a:off x="1868818" y="1249680"/>
            <a:ext cx="4783441" cy="244802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3996607" cy="461665"/>
          </a:xfrm>
          <a:prstGeom prst="rect">
            <a:avLst/>
          </a:prstGeom>
          <a:noFill/>
        </p:spPr>
        <p:txBody>
          <a:bodyPr wrap="none">
            <a:spAutoFit/>
          </a:bodyPr>
          <a:lstStyle/>
          <a:p>
            <a:pPr>
              <a:defRPr sz="2200" b="1"/>
            </a:pPr>
            <a:r>
              <a:rPr lang="en-US" sz="2400" dirty="0"/>
              <a:t>Components Of SRDDQN</a:t>
            </a:r>
          </a:p>
        </p:txBody>
      </p:sp>
      <p:sp>
        <p:nvSpPr>
          <p:cNvPr id="4" name="TextBox 3"/>
          <p:cNvSpPr txBox="1"/>
          <p:nvPr/>
        </p:nvSpPr>
        <p:spPr>
          <a:xfrm>
            <a:off x="457200" y="1028343"/>
            <a:ext cx="8229600" cy="4278094"/>
          </a:xfrm>
          <a:prstGeom prst="rect">
            <a:avLst/>
          </a:prstGeom>
          <a:noFill/>
        </p:spPr>
        <p:txBody>
          <a:bodyPr wrap="square">
            <a:spAutoFit/>
          </a:bodyPr>
          <a:lstStyle/>
          <a:p>
            <a:pPr marL="285750" indent="-285750">
              <a:buFont typeface="Arial" panose="020B0604020202020204" pitchFamily="34" charset="0"/>
              <a:buChar char="•"/>
            </a:pPr>
            <a:r>
              <a:rPr lang="en-US" sz="1600" dirty="0"/>
              <a:t>Raw Data Module - Process Input data such as daily and weekly OHLC. These features are fed into the environment.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Environment dynamically tracks the parameter like prices, trading volume, capital, position and trading cost. Environment generates state and reward information that drives the reinforcement learning process.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Trading agent consist of three networks : Reward Net, Q- Network and Target Network.</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Reward Network predicts rewards based on advanced time series feature extraction models( </a:t>
            </a:r>
            <a:r>
              <a:rPr lang="en-US" sz="1600" dirty="0" err="1"/>
              <a:t>TimesNet</a:t>
            </a:r>
            <a:r>
              <a:rPr lang="en-US" sz="1600" dirty="0"/>
              <a:t>, </a:t>
            </a:r>
            <a:r>
              <a:rPr lang="en-US" sz="1600" dirty="0" err="1"/>
              <a:t>WFTNet</a:t>
            </a:r>
            <a:r>
              <a:rPr lang="en-US" sz="1600" dirty="0"/>
              <a: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Q and Target network employ reinforcement learning algorithms to refine policy optimization through interactive adapt of network parameter.</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commuted actions and associated rewards are stored in the Replay Memory which is instrumental in experience replay and batch sampling during training.</a:t>
            </a:r>
            <a:endParaRPr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BACB0-8225-E650-378D-7601CC380BC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800AF40-76B9-685B-D8E9-74199E0CF5CA}"/>
              </a:ext>
            </a:extLst>
          </p:cNvPr>
          <p:cNvSpPr txBox="1"/>
          <p:nvPr/>
        </p:nvSpPr>
        <p:spPr>
          <a:xfrm>
            <a:off x="457200" y="274320"/>
            <a:ext cx="7802136" cy="461665"/>
          </a:xfrm>
          <a:prstGeom prst="rect">
            <a:avLst/>
          </a:prstGeom>
          <a:noFill/>
        </p:spPr>
        <p:txBody>
          <a:bodyPr wrap="none">
            <a:spAutoFit/>
          </a:bodyPr>
          <a:lstStyle/>
          <a:p>
            <a:pPr>
              <a:defRPr sz="2200" b="1"/>
            </a:pPr>
            <a:r>
              <a:rPr sz="2400" dirty="0">
                <a:latin typeface="+mj-lt"/>
              </a:rPr>
              <a:t>Two-Phase Integration of Self-Rewarding Mechanism</a:t>
            </a:r>
          </a:p>
        </p:txBody>
      </p:sp>
      <p:sp>
        <p:nvSpPr>
          <p:cNvPr id="4" name="TextBox 3">
            <a:extLst>
              <a:ext uri="{FF2B5EF4-FFF2-40B4-BE49-F238E27FC236}">
                <a16:creationId xmlns:a16="http://schemas.microsoft.com/office/drawing/2014/main" id="{DD6665AC-FC07-EAD3-FA88-DDC641B9D743}"/>
              </a:ext>
            </a:extLst>
          </p:cNvPr>
          <p:cNvSpPr txBox="1"/>
          <p:nvPr/>
        </p:nvSpPr>
        <p:spPr>
          <a:xfrm>
            <a:off x="552450" y="1371600"/>
            <a:ext cx="8134350" cy="2554545"/>
          </a:xfrm>
          <a:prstGeom prst="rect">
            <a:avLst/>
          </a:prstGeom>
          <a:noFill/>
        </p:spPr>
        <p:txBody>
          <a:bodyPr wrap="square">
            <a:spAutoFit/>
          </a:bodyPr>
          <a:lstStyle/>
          <a:p>
            <a:pPr marL="285750" indent="-285750">
              <a:buFont typeface="Arial" panose="020B0604020202020204" pitchFamily="34" charset="0"/>
              <a:buChar char="•"/>
            </a:pPr>
            <a:r>
              <a:rPr lang="en-US" sz="1600" dirty="0"/>
              <a:t>First phase model employs supervised learning techniques to learn expert experience by approximating the self rewarding function using advanced time-series feature extraction networks.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This approach allows model to update the self-rewarding function parameter by comparing it’s own predicted rewards with the reward labels set by experts based on various matrix like Sharpe Ratio, Min-Max and Return.</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In the second phase higher of reward function is selected which is then used as the reward of the RL framework. Advantage: More profitable and strategically sound trading decision.</a:t>
            </a:r>
            <a:endParaRPr sz="1600" dirty="0"/>
          </a:p>
        </p:txBody>
      </p:sp>
    </p:spTree>
    <p:extLst>
      <p:ext uri="{BB962C8B-B14F-4D97-AF65-F5344CB8AC3E}">
        <p14:creationId xmlns:p14="http://schemas.microsoft.com/office/powerpoint/2010/main" val="3737045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914400"/>
          </a:xfrm>
          <a:prstGeom prst="rect">
            <a:avLst/>
          </a:prstGeom>
          <a:noFill/>
        </p:spPr>
        <p:txBody>
          <a:bodyPr wrap="none">
            <a:spAutoFit/>
          </a:bodyPr>
          <a:lstStyle/>
          <a:p>
            <a:pPr>
              <a:defRPr sz="2800" b="1"/>
            </a:pPr>
            <a:r>
              <a:t>Self-Rewarding Mechanism</a:t>
            </a:r>
          </a:p>
        </p:txBody>
      </p:sp>
      <p:sp>
        <p:nvSpPr>
          <p:cNvPr id="4" name="TextBox 3"/>
          <p:cNvSpPr txBox="1"/>
          <p:nvPr/>
        </p:nvSpPr>
        <p:spPr>
          <a:xfrm>
            <a:off x="457200" y="1371600"/>
            <a:ext cx="8229600" cy="3416320"/>
          </a:xfrm>
          <a:prstGeom prst="rect">
            <a:avLst/>
          </a:prstGeom>
          <a:noFill/>
        </p:spPr>
        <p:txBody>
          <a:bodyPr wrap="square">
            <a:spAutoFit/>
          </a:bodyPr>
          <a:lstStyle/>
          <a:p>
            <a:pPr marL="285750" indent="-285750">
              <a:buFont typeface="Arial" panose="020B0604020202020204" pitchFamily="34" charset="0"/>
              <a:buChar char="•"/>
            </a:pPr>
            <a:r>
              <a:rPr lang="en-US" dirty="0"/>
              <a:t>Traditional RL reward function is manual and fixed which cab be limiting in dynamic environment such as financial market.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paper introduces a self rewarding mechanism tailored for deep reinforcement leaning and aimed to enhance the performance of optimized single asset trading strategy.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self rewarding mechanism allows the agent to adapt its reward function based on the environment and learning process.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RL agent can dynamically generate its own reward signals, instead of relying solely on predefined, static, reward functions provided by human experts.</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5546711" cy="492443"/>
          </a:xfrm>
          <a:prstGeom prst="rect">
            <a:avLst/>
          </a:prstGeom>
          <a:noFill/>
        </p:spPr>
        <p:txBody>
          <a:bodyPr wrap="none">
            <a:spAutoFit/>
          </a:bodyPr>
          <a:lstStyle/>
          <a:p>
            <a:pPr>
              <a:defRPr sz="2600" b="1"/>
            </a:pPr>
            <a:r>
              <a:rPr lang="en-CA" dirty="0"/>
              <a:t>Representation of the Reward Net</a:t>
            </a:r>
            <a:endParaRPr dirty="0"/>
          </a:p>
        </p:txBody>
      </p:sp>
      <p:sp>
        <p:nvSpPr>
          <p:cNvPr id="4" name="TextBox 3"/>
          <p:cNvSpPr txBox="1"/>
          <p:nvPr/>
        </p:nvSpPr>
        <p:spPr>
          <a:xfrm>
            <a:off x="449580" y="3114649"/>
            <a:ext cx="8686800" cy="2318583"/>
          </a:xfrm>
          <a:prstGeom prst="rect">
            <a:avLst/>
          </a:prstGeom>
          <a:noFill/>
        </p:spPr>
        <p:txBody>
          <a:bodyPr wrap="square">
            <a:spAutoFit/>
          </a:bodyPr>
          <a:lstStyle/>
          <a:p>
            <a:pPr rtl="0" fontAlgn="base">
              <a:buFont typeface="Arial" panose="020B0604020202020204" pitchFamily="34" charset="0"/>
              <a:buChar char="•"/>
            </a:pPr>
            <a:r>
              <a:rPr lang="en-US" sz="1600" b="0" i="0" u="none" strike="noStrike" dirty="0">
                <a:solidFill>
                  <a:srgbClr val="000000"/>
                </a:solidFill>
                <a:effectLst/>
              </a:rPr>
              <a:t>Reward Net comprises three components Input, Feature Extraction and Reward Block.</a:t>
            </a:r>
          </a:p>
          <a:p>
            <a:pPr rtl="0" fontAlgn="base">
              <a:spcBef>
                <a:spcPts val="1000"/>
              </a:spcBef>
              <a:buFont typeface="Arial" panose="020B0604020202020204" pitchFamily="34" charset="0"/>
              <a:buChar char="•"/>
            </a:pPr>
            <a:r>
              <a:rPr lang="en-US" sz="1600" b="0" i="0" u="none" strike="noStrike" dirty="0">
                <a:solidFill>
                  <a:srgbClr val="000000"/>
                </a:solidFill>
                <a:effectLst/>
              </a:rPr>
              <a:t>The network uses supervised learning to acquire knowledge from experts by mimicking the self-rewarding function. It achieves this through the use of sophisticated time-series feature extraction models such as </a:t>
            </a:r>
            <a:r>
              <a:rPr lang="en-US" sz="1600" b="0" i="0" u="none" strike="noStrike" dirty="0" err="1">
                <a:solidFill>
                  <a:srgbClr val="000000"/>
                </a:solidFill>
                <a:effectLst/>
              </a:rPr>
              <a:t>TimesNet</a:t>
            </a:r>
            <a:r>
              <a:rPr lang="en-US" sz="1600" b="0" i="0" u="none" strike="noStrike" dirty="0">
                <a:solidFill>
                  <a:srgbClr val="000000"/>
                </a:solidFill>
                <a:effectLst/>
              </a:rPr>
              <a:t>,  </a:t>
            </a:r>
            <a:r>
              <a:rPr lang="en-US" sz="1600" b="0" i="0" u="none" strike="noStrike" dirty="0" err="1">
                <a:solidFill>
                  <a:srgbClr val="000000"/>
                </a:solidFill>
                <a:effectLst/>
              </a:rPr>
              <a:t>WFTNet</a:t>
            </a:r>
            <a:r>
              <a:rPr lang="en-US" sz="1600" b="0" i="0" u="none" strike="noStrike" dirty="0">
                <a:solidFill>
                  <a:srgbClr val="000000"/>
                </a:solidFill>
                <a:effectLst/>
              </a:rPr>
              <a:t>, and </a:t>
            </a:r>
            <a:r>
              <a:rPr lang="en-US" sz="1600" b="0" i="0" u="none" strike="noStrike" dirty="0" err="1">
                <a:solidFill>
                  <a:srgbClr val="000000"/>
                </a:solidFill>
                <a:effectLst/>
              </a:rPr>
              <a:t>NLinear</a:t>
            </a:r>
            <a:endParaRPr lang="en-US" sz="1600" b="0" i="0" u="none" strike="noStrike" dirty="0">
              <a:solidFill>
                <a:srgbClr val="000000"/>
              </a:solidFill>
              <a:effectLst/>
            </a:endParaRPr>
          </a:p>
          <a:p>
            <a:pPr rtl="0" fontAlgn="base">
              <a:spcBef>
                <a:spcPts val="1000"/>
              </a:spcBef>
              <a:buFont typeface="Arial" panose="020B0604020202020204" pitchFamily="34" charset="0"/>
              <a:buChar char="•"/>
            </a:pPr>
            <a:r>
              <a:rPr lang="en-US" sz="1600" b="0" i="0" u="none" strike="noStrike" dirty="0">
                <a:solidFill>
                  <a:srgbClr val="000000"/>
                </a:solidFill>
                <a:effectLst/>
              </a:rPr>
              <a:t>Moreover, the mechanism can select different reward functions designated by experts— such as Min-Max, Sharpe Ratio, and Return—as labels to guide the training of the reward network via supervised learning. By comparing the predicted rewards with the expert defined labels, the model selects the most favorable rewards.</a:t>
            </a:r>
          </a:p>
        </p:txBody>
      </p:sp>
      <p:pic>
        <p:nvPicPr>
          <p:cNvPr id="5" name="Content Placeholder 4">
            <a:extLst>
              <a:ext uri="{FF2B5EF4-FFF2-40B4-BE49-F238E27FC236}">
                <a16:creationId xmlns:a16="http://schemas.microsoft.com/office/drawing/2014/main" id="{28E7714E-BD23-D352-CF04-D4420369806B}"/>
              </a:ext>
            </a:extLst>
          </p:cNvPr>
          <p:cNvPicPr>
            <a:picLocks noGrp="1" noChangeAspect="1"/>
          </p:cNvPicPr>
          <p:nvPr/>
        </p:nvPicPr>
        <p:blipFill>
          <a:blip r:embed="rId2"/>
          <a:stretch>
            <a:fillRect/>
          </a:stretch>
        </p:blipFill>
        <p:spPr>
          <a:xfrm>
            <a:off x="604931" y="841427"/>
            <a:ext cx="6186394" cy="229245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1C60E-7FFD-468E-5E7F-C7320AA16B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E882DF0-950E-5C77-C025-5898335E1C70}"/>
              </a:ext>
            </a:extLst>
          </p:cNvPr>
          <p:cNvSpPr txBox="1"/>
          <p:nvPr/>
        </p:nvSpPr>
        <p:spPr>
          <a:xfrm>
            <a:off x="457200" y="274320"/>
            <a:ext cx="4588115" cy="461665"/>
          </a:xfrm>
          <a:prstGeom prst="rect">
            <a:avLst/>
          </a:prstGeom>
          <a:noFill/>
        </p:spPr>
        <p:txBody>
          <a:bodyPr wrap="none">
            <a:spAutoFit/>
          </a:bodyPr>
          <a:lstStyle/>
          <a:p>
            <a:pPr>
              <a:defRPr sz="2600" b="1"/>
            </a:pPr>
            <a:r>
              <a:rPr lang="en-CA" sz="2400" dirty="0"/>
              <a:t>Expert Defined Reward Matrix</a:t>
            </a:r>
            <a:endParaRPr sz="2400" dirty="0"/>
          </a:p>
        </p:txBody>
      </p:sp>
      <p:sp>
        <p:nvSpPr>
          <p:cNvPr id="4" name="TextBox 3">
            <a:extLst>
              <a:ext uri="{FF2B5EF4-FFF2-40B4-BE49-F238E27FC236}">
                <a16:creationId xmlns:a16="http://schemas.microsoft.com/office/drawing/2014/main" id="{2295ECB8-099D-9E4C-C640-37DE173F47C9}"/>
              </a:ext>
            </a:extLst>
          </p:cNvPr>
          <p:cNvSpPr txBox="1"/>
          <p:nvPr/>
        </p:nvSpPr>
        <p:spPr>
          <a:xfrm>
            <a:off x="457200" y="1142907"/>
            <a:ext cx="8686800" cy="3785652"/>
          </a:xfrm>
          <a:prstGeom prst="rect">
            <a:avLst/>
          </a:prstGeom>
          <a:noFill/>
        </p:spPr>
        <p:txBody>
          <a:bodyPr wrap="square">
            <a:spAutoFit/>
          </a:bodyPr>
          <a:lstStyle/>
          <a:p>
            <a:pPr rtl="0" fontAlgn="base"/>
            <a:r>
              <a:rPr lang="en-US" sz="1600" b="0" i="0" u="none" strike="noStrike" dirty="0">
                <a:solidFill>
                  <a:srgbClr val="000000"/>
                </a:solidFill>
                <a:effectLst/>
              </a:rPr>
              <a:t>These are hand-crafted reward functions used to guide a reinforcement learning agent's behavior based on domain knowledge.  They ensure that the agent learns in a financially safe, interpretable, and goal-aligned manner.</a:t>
            </a:r>
          </a:p>
          <a:p>
            <a:pPr rtl="0" fontAlgn="base"/>
            <a:endParaRPr lang="en-US" sz="1600" b="0" i="0" u="none" strike="noStrike" dirty="0">
              <a:solidFill>
                <a:srgbClr val="000000"/>
              </a:solidFill>
              <a:effectLst/>
            </a:endParaRPr>
          </a:p>
          <a:p>
            <a:pPr rtl="0" fontAlgn="base">
              <a:buFont typeface="Arial" panose="020B0604020202020204" pitchFamily="34" charset="0"/>
              <a:buChar char="•"/>
            </a:pPr>
            <a:r>
              <a:rPr lang="en-US" sz="1600" b="0" i="0" u="none" strike="noStrike" dirty="0">
                <a:solidFill>
                  <a:srgbClr val="000000"/>
                </a:solidFill>
                <a:effectLst/>
              </a:rPr>
              <a:t>Short-term Sharpe ratio reward: Based on the Sharpe Ratio, which evaluates how much return you’re getting per unit of risk. This variant measures the immediate effect of a trading action over a short future window (k days). Focuses not just on profit, but on stable profit.</a:t>
            </a:r>
          </a:p>
          <a:p>
            <a:pPr rtl="0" fontAlgn="base">
              <a:buFont typeface="Arial" panose="020B0604020202020204" pitchFamily="34" charset="0"/>
              <a:buChar char="•"/>
            </a:pPr>
            <a:endParaRPr lang="en-US" sz="1600" b="0" i="0" u="none" strike="noStrike" dirty="0">
              <a:solidFill>
                <a:srgbClr val="000000"/>
              </a:solidFill>
              <a:effectLst/>
            </a:endParaRPr>
          </a:p>
          <a:p>
            <a:pPr rtl="0" fontAlgn="base">
              <a:buFont typeface="Arial" panose="020B0604020202020204" pitchFamily="34" charset="0"/>
              <a:buChar char="•"/>
            </a:pPr>
            <a:r>
              <a:rPr lang="en-US" sz="1600" dirty="0">
                <a:solidFill>
                  <a:srgbClr val="000000"/>
                </a:solidFill>
              </a:rPr>
              <a:t>Return-Based</a:t>
            </a:r>
            <a:r>
              <a:rPr lang="en-US" sz="1600" b="0" i="0" u="none" strike="noStrike" dirty="0">
                <a:solidFill>
                  <a:srgbClr val="000000"/>
                </a:solidFill>
                <a:effectLst/>
              </a:rPr>
              <a:t> reward: Measures the immediate financial outcome of a trade. </a:t>
            </a:r>
            <a:r>
              <a:rPr lang="en-US" sz="1600" dirty="0">
                <a:solidFill>
                  <a:srgbClr val="000000"/>
                </a:solidFill>
              </a:rPr>
              <a:t>It is simple and intuitive. If you made money reward is positive, if you lost money, it is negative.</a:t>
            </a:r>
            <a:endParaRPr lang="en-US" sz="1600" b="0" i="0" u="none" strike="noStrike" dirty="0">
              <a:solidFill>
                <a:srgbClr val="000000"/>
              </a:solidFill>
              <a:effectLst/>
            </a:endParaRPr>
          </a:p>
          <a:p>
            <a:pPr rtl="0" fontAlgn="base">
              <a:buFont typeface="Arial" panose="020B0604020202020204" pitchFamily="34" charset="0"/>
              <a:buChar char="•"/>
            </a:pPr>
            <a:endParaRPr lang="en-US" sz="1600" b="0" i="0" u="none" strike="noStrike" dirty="0">
              <a:solidFill>
                <a:srgbClr val="000000"/>
              </a:solidFill>
              <a:effectLst/>
            </a:endParaRPr>
          </a:p>
          <a:p>
            <a:pPr rtl="0" fontAlgn="base">
              <a:buFont typeface="Arial" panose="020B0604020202020204" pitchFamily="34" charset="0"/>
              <a:buChar char="•"/>
            </a:pPr>
            <a:r>
              <a:rPr lang="en-US" sz="1600" b="0" i="0" u="none" strike="noStrike" dirty="0">
                <a:solidFill>
                  <a:srgbClr val="000000"/>
                </a:solidFill>
                <a:effectLst/>
              </a:rPr>
              <a:t>Min-Max </a:t>
            </a:r>
            <a:r>
              <a:rPr lang="en-US" sz="1600" dirty="0">
                <a:solidFill>
                  <a:srgbClr val="000000"/>
                </a:solidFill>
              </a:rPr>
              <a:t>R</a:t>
            </a:r>
            <a:r>
              <a:rPr lang="en-US" sz="1600" b="0" i="0" u="none" strike="noStrike" dirty="0">
                <a:solidFill>
                  <a:srgbClr val="000000"/>
                </a:solidFill>
                <a:effectLst/>
              </a:rPr>
              <a:t>eward:  The Min-Max reward function, tailored to reflect market dynamics</a:t>
            </a:r>
            <a:r>
              <a:rPr lang="en-US" sz="1600" dirty="0">
                <a:solidFill>
                  <a:srgbClr val="000000"/>
                </a:solidFill>
              </a:rPr>
              <a:t> </a:t>
            </a:r>
            <a:r>
              <a:rPr lang="en-US" sz="1600" b="0" i="0" u="none" strike="noStrike" dirty="0">
                <a:solidFill>
                  <a:srgbClr val="000000"/>
                </a:solidFill>
                <a:effectLst/>
              </a:rPr>
              <a:t>over various durations, maximizes profit by considering the greatest benefits from different stock positions. Looks at the best and worst-case outcomes over a short time horizon (m days). The idea is to reward the agent for choosing positions that could maximize profit while minimizing downside risk. </a:t>
            </a:r>
          </a:p>
        </p:txBody>
      </p:sp>
    </p:spTree>
    <p:extLst>
      <p:ext uri="{BB962C8B-B14F-4D97-AF65-F5344CB8AC3E}">
        <p14:creationId xmlns:p14="http://schemas.microsoft.com/office/powerpoint/2010/main" val="2276951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601721" cy="461665"/>
          </a:xfrm>
          <a:prstGeom prst="rect">
            <a:avLst/>
          </a:prstGeom>
          <a:noFill/>
        </p:spPr>
        <p:txBody>
          <a:bodyPr wrap="none">
            <a:spAutoFit/>
          </a:bodyPr>
          <a:lstStyle/>
          <a:p>
            <a:pPr>
              <a:defRPr sz="2800" b="1"/>
            </a:pPr>
            <a:r>
              <a:rPr lang="en-CA" sz="2400" dirty="0"/>
              <a:t>SRDDQN</a:t>
            </a:r>
            <a:endParaRPr sz="2400" dirty="0"/>
          </a:p>
        </p:txBody>
      </p:sp>
      <p:sp>
        <p:nvSpPr>
          <p:cNvPr id="4" name="TextBox 3"/>
          <p:cNvSpPr txBox="1"/>
          <p:nvPr/>
        </p:nvSpPr>
        <p:spPr>
          <a:xfrm>
            <a:off x="457200" y="938049"/>
            <a:ext cx="7315200" cy="3539430"/>
          </a:xfrm>
          <a:prstGeom prst="rect">
            <a:avLst/>
          </a:prstGeom>
          <a:noFill/>
        </p:spPr>
        <p:txBody>
          <a:bodyPr wrap="square">
            <a:spAutoFit/>
          </a:bodyPr>
          <a:lstStyle/>
          <a:p>
            <a:pPr marL="285750" indent="-285750">
              <a:buFont typeface="Arial" panose="020B0604020202020204" pitchFamily="34" charset="0"/>
              <a:buChar char="•"/>
            </a:pPr>
            <a:r>
              <a:rPr lang="en-US" sz="1600" dirty="0"/>
              <a:t>This paper presents a Self-Rewarding Double DQN (SRDDQN) model tailored for financial trading, which optimizes reward allocation by combining expert-defined labels with learned reward predictions to guide the agent’s decision-making.</a:t>
            </a:r>
          </a:p>
          <a:p>
            <a:endParaRPr lang="en-US" sz="1600" dirty="0"/>
          </a:p>
          <a:p>
            <a:pPr marL="285750" indent="-285750">
              <a:buFont typeface="Arial" panose="020B0604020202020204" pitchFamily="34" charset="0"/>
              <a:buChar char="•"/>
            </a:pPr>
            <a:r>
              <a:rPr lang="en-US" sz="1600" dirty="0"/>
              <a:t>The Double DQN framework addresses the overestimation bias inherent in DQN models, where Q-values may be inaccurately inflated, leading to suboptimal decisions.</a:t>
            </a:r>
          </a:p>
          <a:p>
            <a:endParaRPr lang="en-US" sz="1600" dirty="0"/>
          </a:p>
          <a:p>
            <a:pPr marL="285750" indent="-285750">
              <a:buFont typeface="Arial" panose="020B0604020202020204" pitchFamily="34" charset="0"/>
              <a:buChar char="•"/>
            </a:pPr>
            <a:r>
              <a:rPr lang="en-US" sz="1600" dirty="0"/>
              <a:t>Double DQN separates the action selection process from value estimation by maintaining two distinct neural networks: the main network (θ) and the target network (θ−).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main network predicts Q-values for selecting actions, while the target network is used for value updates, reducing bias and stabilizing learning.</a:t>
            </a:r>
            <a:endParaRPr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253A1-5A7B-0F5A-D541-E22DC62E7A1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B8EDAF7-50D9-96ED-E42B-827862098CC4}"/>
              </a:ext>
            </a:extLst>
          </p:cNvPr>
          <p:cNvSpPr txBox="1"/>
          <p:nvPr/>
        </p:nvSpPr>
        <p:spPr>
          <a:xfrm>
            <a:off x="457200" y="274320"/>
            <a:ext cx="2577950" cy="461665"/>
          </a:xfrm>
          <a:prstGeom prst="rect">
            <a:avLst/>
          </a:prstGeom>
          <a:noFill/>
        </p:spPr>
        <p:txBody>
          <a:bodyPr wrap="none">
            <a:spAutoFit/>
          </a:bodyPr>
          <a:lstStyle/>
          <a:p>
            <a:pPr>
              <a:defRPr sz="2800" b="1"/>
            </a:pPr>
            <a:r>
              <a:rPr lang="en-CA" sz="2400" dirty="0"/>
              <a:t>SRDDQN Cont..</a:t>
            </a:r>
            <a:endParaRPr sz="2400" dirty="0"/>
          </a:p>
        </p:txBody>
      </p:sp>
      <p:sp>
        <p:nvSpPr>
          <p:cNvPr id="4" name="TextBox 3">
            <a:extLst>
              <a:ext uri="{FF2B5EF4-FFF2-40B4-BE49-F238E27FC236}">
                <a16:creationId xmlns:a16="http://schemas.microsoft.com/office/drawing/2014/main" id="{F7FF5A28-F6B2-AEF1-29C3-2289A8AA264B}"/>
              </a:ext>
            </a:extLst>
          </p:cNvPr>
          <p:cNvSpPr txBox="1"/>
          <p:nvPr/>
        </p:nvSpPr>
        <p:spPr>
          <a:xfrm>
            <a:off x="457200" y="938049"/>
            <a:ext cx="7315200" cy="4770537"/>
          </a:xfrm>
          <a:prstGeom prst="rect">
            <a:avLst/>
          </a:prstGeom>
          <a:noFill/>
        </p:spPr>
        <p:txBody>
          <a:bodyPr wrap="square">
            <a:spAutoFit/>
          </a:bodyPr>
          <a:lstStyle/>
          <a:p>
            <a:pPr marL="285750" indent="-285750">
              <a:buFont typeface="Arial" panose="020B0604020202020204" pitchFamily="34" charset="0"/>
              <a:buChar char="•"/>
            </a:pPr>
            <a:r>
              <a:rPr lang="en-US" sz="1600" dirty="0"/>
              <a:t>For each action, a transition tuple (st,at,rt,st+1) is created, where </a:t>
            </a:r>
            <a:r>
              <a:rPr lang="en-US" sz="1600" dirty="0" err="1"/>
              <a:t>st</a:t>
            </a:r>
            <a:r>
              <a:rPr lang="en-US" sz="1600" dirty="0"/>
              <a:t> is the current state, at is the action taken, rt is the reward obtained, and st+1 is the next state. The reward rt is determined by comparing the predicted reward from the self-rewarding network (</a:t>
            </a:r>
            <a:r>
              <a:rPr lang="en-US" sz="1600" dirty="0" err="1"/>
              <a:t>rs</a:t>
            </a:r>
            <a:r>
              <a:rPr lang="en-US" sz="1600" dirty="0"/>
              <a:t> t) with the expert-defined reward (re t), selecting the higher of the two:</a:t>
            </a:r>
          </a:p>
          <a:p>
            <a:pPr marL="285750" indent="-285750">
              <a:buFont typeface="Arial" panose="020B0604020202020204" pitchFamily="34" charset="0"/>
              <a:buChar char="•"/>
            </a:pPr>
            <a:endParaRPr lang="en-US" sz="1600" dirty="0"/>
          </a:p>
          <a:p>
            <a:pPr lvl="1"/>
            <a:r>
              <a:rPr lang="en-US" sz="1600" dirty="0"/>
              <a:t>rt = max(</a:t>
            </a:r>
            <a:r>
              <a:rPr lang="en-US" sz="1600" dirty="0" err="1"/>
              <a:t>rs</a:t>
            </a:r>
            <a:r>
              <a:rPr lang="en-US" sz="1600" dirty="0"/>
              <a:t> t[at],re t[at])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self-rewarding network estimates reward values for each action.</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These predicted rewards are compared against expert-labeled rewards (expert knowledge), which are based on financial metrics like Min-Max, Sharpe Ratio, and Return.</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Q-value update is computed using the following equation:                            Q(</a:t>
            </a:r>
            <a:r>
              <a:rPr lang="en-US" sz="1600" dirty="0" err="1"/>
              <a:t>st</a:t>
            </a:r>
            <a:r>
              <a:rPr lang="en-US" sz="1600" dirty="0"/>
              <a:t>, at; θ) ← Q(</a:t>
            </a:r>
            <a:r>
              <a:rPr lang="en-US" sz="1600" dirty="0" err="1"/>
              <a:t>st,at;θ</a:t>
            </a:r>
            <a:r>
              <a:rPr lang="en-US" sz="1600" dirty="0"/>
              <a:t>) + αrt +</a:t>
            </a:r>
            <a:r>
              <a:rPr lang="en-US" sz="1600" dirty="0" err="1"/>
              <a:t>γQ</a:t>
            </a:r>
            <a:r>
              <a:rPr lang="en-US" sz="1600" dirty="0"/>
              <a:t>(st+1,amax(st+1;θ−)) − Q(</a:t>
            </a:r>
            <a:r>
              <a:rPr lang="en-US" sz="1600" dirty="0" err="1"/>
              <a:t>st,at;θ</a:t>
            </a:r>
            <a:r>
              <a:rPr lang="en-US" sz="1600" dirty="0"/>
              <a:t>) ,  where α is the learning rate, and γ is the discount factor. The term </a:t>
            </a:r>
            <a:r>
              <a:rPr lang="en-US" sz="1600" dirty="0" err="1"/>
              <a:t>amax</a:t>
            </a:r>
            <a:r>
              <a:rPr lang="en-US" sz="1600" dirty="0"/>
              <a:t>(st+1;θ) = argmaxat+1 Q(st+1,at+1;θ) represents the action that maximizes the Q-value in the next state st+1.</a:t>
            </a:r>
          </a:p>
        </p:txBody>
      </p:sp>
    </p:spTree>
    <p:extLst>
      <p:ext uri="{BB962C8B-B14F-4D97-AF65-F5344CB8AC3E}">
        <p14:creationId xmlns:p14="http://schemas.microsoft.com/office/powerpoint/2010/main" val="3253088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2570255" cy="461665"/>
          </a:xfrm>
          <a:prstGeom prst="rect">
            <a:avLst/>
          </a:prstGeom>
          <a:noFill/>
        </p:spPr>
        <p:txBody>
          <a:bodyPr wrap="none">
            <a:spAutoFit/>
          </a:bodyPr>
          <a:lstStyle/>
          <a:p>
            <a:pPr>
              <a:defRPr sz="2800" b="1"/>
            </a:pPr>
            <a:r>
              <a:rPr sz="2400" dirty="0">
                <a:latin typeface="+mj-lt"/>
              </a:rPr>
              <a:t>SRDQN Training</a:t>
            </a:r>
          </a:p>
        </p:txBody>
      </p:sp>
      <p:sp>
        <p:nvSpPr>
          <p:cNvPr id="4" name="TextBox 3"/>
          <p:cNvSpPr txBox="1"/>
          <p:nvPr/>
        </p:nvSpPr>
        <p:spPr>
          <a:xfrm>
            <a:off x="4442460" y="1866900"/>
            <a:ext cx="4244340" cy="3046988"/>
          </a:xfrm>
          <a:prstGeom prst="rect">
            <a:avLst/>
          </a:prstGeom>
          <a:noFill/>
        </p:spPr>
        <p:txBody>
          <a:bodyPr wrap="square">
            <a:spAutoFit/>
          </a:bodyPr>
          <a:lstStyle/>
          <a:p>
            <a:endParaRPr sz="1600" dirty="0"/>
          </a:p>
          <a:p>
            <a:pPr>
              <a:defRPr sz="1800"/>
            </a:pPr>
            <a:r>
              <a:rPr sz="1600" dirty="0"/>
              <a:t>Training involves:</a:t>
            </a:r>
            <a:br>
              <a:rPr sz="1600" dirty="0"/>
            </a:br>
            <a:r>
              <a:rPr sz="1600" dirty="0"/>
              <a:t>• ε-greedy policy selects actions.</a:t>
            </a:r>
            <a:br>
              <a:rPr sz="1600" dirty="0"/>
            </a:br>
            <a:r>
              <a:rPr sz="1600" dirty="0"/>
              <a:t>• Agent observes state transitions.</a:t>
            </a:r>
            <a:br>
              <a:rPr sz="1600" dirty="0"/>
            </a:br>
            <a:r>
              <a:rPr sz="1600" dirty="0"/>
              <a:t>• Rewards from self-net and expert labels are compared.</a:t>
            </a:r>
            <a:br>
              <a:rPr sz="1600" dirty="0"/>
            </a:br>
            <a:r>
              <a:rPr sz="1600" dirty="0"/>
              <a:t>• The higher reward is used to train Q-Network and </a:t>
            </a:r>
            <a:r>
              <a:rPr sz="1600" dirty="0" err="1"/>
              <a:t>RewardNet</a:t>
            </a:r>
            <a:r>
              <a:rPr sz="1600" dirty="0"/>
              <a:t>.</a:t>
            </a:r>
            <a:br>
              <a:rPr sz="1600" dirty="0"/>
            </a:br>
            <a:r>
              <a:rPr sz="1600" dirty="0"/>
              <a:t>• Experience replay buffers provide sampled batches for learning.</a:t>
            </a:r>
            <a:br>
              <a:rPr sz="1600" dirty="0"/>
            </a:br>
            <a:r>
              <a:rPr sz="1600" dirty="0"/>
              <a:t>• Parameters are updated synchronously during training.</a:t>
            </a:r>
          </a:p>
        </p:txBody>
      </p:sp>
      <p:pic>
        <p:nvPicPr>
          <p:cNvPr id="5" name="Content Placeholder 4" descr="A diagram of a process&#10;&#10;AI-generated content may be incorrect.">
            <a:extLst>
              <a:ext uri="{FF2B5EF4-FFF2-40B4-BE49-F238E27FC236}">
                <a16:creationId xmlns:a16="http://schemas.microsoft.com/office/drawing/2014/main" id="{5B72CF6C-3EAE-BA20-AA51-94C9E79F1329}"/>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197664" y="1866900"/>
            <a:ext cx="4069992" cy="35655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5842946" cy="461665"/>
          </a:xfrm>
          <a:prstGeom prst="rect">
            <a:avLst/>
          </a:prstGeom>
          <a:noFill/>
        </p:spPr>
        <p:txBody>
          <a:bodyPr wrap="none">
            <a:spAutoFit/>
          </a:bodyPr>
          <a:lstStyle/>
          <a:p>
            <a:pPr>
              <a:defRPr sz="2600" b="1"/>
            </a:pPr>
            <a:r>
              <a:rPr sz="2400" dirty="0"/>
              <a:t>Experiment Results and Markets Tested</a:t>
            </a:r>
          </a:p>
        </p:txBody>
      </p:sp>
      <p:sp>
        <p:nvSpPr>
          <p:cNvPr id="4" name="TextBox 3"/>
          <p:cNvSpPr txBox="1"/>
          <p:nvPr/>
        </p:nvSpPr>
        <p:spPr>
          <a:xfrm>
            <a:off x="457200" y="1172955"/>
            <a:ext cx="5029200" cy="3046988"/>
          </a:xfrm>
          <a:prstGeom prst="rect">
            <a:avLst/>
          </a:prstGeom>
          <a:noFill/>
        </p:spPr>
        <p:txBody>
          <a:bodyPr wrap="square">
            <a:spAutoFit/>
          </a:bodyPr>
          <a:lstStyle/>
          <a:p>
            <a:endParaRPr sz="1600" dirty="0"/>
          </a:p>
          <a:p>
            <a:pPr>
              <a:defRPr sz="1800"/>
            </a:pPr>
            <a:r>
              <a:rPr lang="en-CA" sz="1600" dirty="0"/>
              <a:t>Validated on six major stock indices:</a:t>
            </a:r>
          </a:p>
          <a:p>
            <a:pPr>
              <a:defRPr sz="1800"/>
            </a:pPr>
            <a:r>
              <a:rPr lang="en-CA" sz="1600" dirty="0"/>
              <a:t>• 🇺🇸 DJI (USA)</a:t>
            </a:r>
          </a:p>
          <a:p>
            <a:pPr>
              <a:defRPr sz="1800"/>
            </a:pPr>
            <a:r>
              <a:rPr lang="en-CA" sz="1600" dirty="0"/>
              <a:t>• 🇺🇸 S&amp;P 500 (USA)</a:t>
            </a:r>
          </a:p>
          <a:p>
            <a:pPr>
              <a:defRPr sz="1800"/>
            </a:pPr>
            <a:r>
              <a:rPr lang="en-CA" sz="1600" dirty="0"/>
              <a:t>• 🇺🇸 NASDAQ IXIC (USA)</a:t>
            </a:r>
          </a:p>
          <a:p>
            <a:pPr>
              <a:defRPr sz="1800"/>
            </a:pPr>
            <a:r>
              <a:rPr lang="en-CA" sz="1600" dirty="0"/>
              <a:t>• 🇫🇷 CAC40 FCHI (France)</a:t>
            </a:r>
          </a:p>
          <a:p>
            <a:pPr>
              <a:defRPr sz="1800"/>
            </a:pPr>
            <a:r>
              <a:rPr lang="en-CA" sz="1600" dirty="0"/>
              <a:t>• 🇰🇷 KOSPI KS11 (Korea)</a:t>
            </a:r>
          </a:p>
          <a:p>
            <a:pPr>
              <a:defRPr sz="1800"/>
            </a:pPr>
            <a:r>
              <a:rPr lang="en-CA" sz="1600" dirty="0"/>
              <a:t>• 🇭🇰 Hang Seng HSI (Hong Kong)</a:t>
            </a:r>
          </a:p>
          <a:p>
            <a:pPr>
              <a:defRPr sz="1800"/>
            </a:pPr>
            <a:br>
              <a:rPr sz="1600" dirty="0"/>
            </a:br>
            <a:r>
              <a:rPr sz="1600" dirty="0"/>
              <a:t>It proved adaptable to different market conditions, economic zones, and geopolitical environments—enhancing reliability and global scalability.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2C281-7A66-826B-1FC2-6752CBC7636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DD02A99-A436-BDD0-2E85-BC3D94EB38B0}"/>
              </a:ext>
            </a:extLst>
          </p:cNvPr>
          <p:cNvSpPr txBox="1"/>
          <p:nvPr/>
        </p:nvSpPr>
        <p:spPr>
          <a:xfrm>
            <a:off x="457200" y="274320"/>
            <a:ext cx="7475573" cy="461665"/>
          </a:xfrm>
          <a:prstGeom prst="rect">
            <a:avLst/>
          </a:prstGeom>
          <a:noFill/>
        </p:spPr>
        <p:txBody>
          <a:bodyPr wrap="none">
            <a:spAutoFit/>
          </a:bodyPr>
          <a:lstStyle/>
          <a:p>
            <a:pPr>
              <a:defRPr sz="2600" b="1"/>
            </a:pPr>
            <a:r>
              <a:rPr lang="en-US" sz="2400" dirty="0"/>
              <a:t>SRDDQN Comparison Across Global Markets - CR</a:t>
            </a:r>
            <a:endParaRPr sz="2400" dirty="0"/>
          </a:p>
        </p:txBody>
      </p:sp>
      <p:pic>
        <p:nvPicPr>
          <p:cNvPr id="3" name="table">
            <a:extLst>
              <a:ext uri="{FF2B5EF4-FFF2-40B4-BE49-F238E27FC236}">
                <a16:creationId xmlns:a16="http://schemas.microsoft.com/office/drawing/2014/main" id="{01A0F234-3729-6562-5B25-033438BF2995}"/>
              </a:ext>
            </a:extLst>
          </p:cNvPr>
          <p:cNvPicPr>
            <a:picLocks noChangeAspect="1"/>
          </p:cNvPicPr>
          <p:nvPr/>
        </p:nvPicPr>
        <p:blipFill>
          <a:blip r:embed="rId2"/>
          <a:stretch>
            <a:fillRect/>
          </a:stretch>
        </p:blipFill>
        <p:spPr>
          <a:xfrm>
            <a:off x="457200" y="1540441"/>
            <a:ext cx="6204742" cy="2629128"/>
          </a:xfrm>
          <a:prstGeom prst="rect">
            <a:avLst/>
          </a:prstGeom>
        </p:spPr>
      </p:pic>
      <p:sp>
        <p:nvSpPr>
          <p:cNvPr id="5" name="TextBox 4">
            <a:extLst>
              <a:ext uri="{FF2B5EF4-FFF2-40B4-BE49-F238E27FC236}">
                <a16:creationId xmlns:a16="http://schemas.microsoft.com/office/drawing/2014/main" id="{B6CA347E-EDEB-1B92-D060-AA24ED160FF7}"/>
              </a:ext>
            </a:extLst>
          </p:cNvPr>
          <p:cNvSpPr txBox="1"/>
          <p:nvPr/>
        </p:nvSpPr>
        <p:spPr>
          <a:xfrm>
            <a:off x="622738" y="4493172"/>
            <a:ext cx="5738648" cy="830997"/>
          </a:xfrm>
          <a:prstGeom prst="rect">
            <a:avLst/>
          </a:prstGeom>
          <a:noFill/>
        </p:spPr>
        <p:txBody>
          <a:bodyPr wrap="square" rtlCol="0">
            <a:spAutoFit/>
          </a:bodyPr>
          <a:lstStyle/>
          <a:p>
            <a:r>
              <a:rPr lang="en-CA" sz="1600" dirty="0"/>
              <a:t>Buy and Hold – Traditional Trading Strategy</a:t>
            </a:r>
          </a:p>
          <a:p>
            <a:r>
              <a:rPr lang="en-CA" sz="1600" dirty="0"/>
              <a:t>Fire – DRL model</a:t>
            </a:r>
          </a:p>
          <a:p>
            <a:r>
              <a:rPr lang="en-CA" sz="1600" dirty="0"/>
              <a:t>CR – Cumulative Return</a:t>
            </a:r>
          </a:p>
        </p:txBody>
      </p:sp>
    </p:spTree>
    <p:extLst>
      <p:ext uri="{BB962C8B-B14F-4D97-AF65-F5344CB8AC3E}">
        <p14:creationId xmlns:p14="http://schemas.microsoft.com/office/powerpoint/2010/main" val="25448963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2020D-C954-6B6B-15F1-C7B3C5F1F08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C77924-B3B4-9912-3AF8-C9F1C4F697C0}"/>
              </a:ext>
            </a:extLst>
          </p:cNvPr>
          <p:cNvSpPr txBox="1"/>
          <p:nvPr/>
        </p:nvSpPr>
        <p:spPr>
          <a:xfrm>
            <a:off x="457200" y="274320"/>
            <a:ext cx="7424277" cy="461665"/>
          </a:xfrm>
          <a:prstGeom prst="rect">
            <a:avLst/>
          </a:prstGeom>
          <a:noFill/>
        </p:spPr>
        <p:txBody>
          <a:bodyPr wrap="none">
            <a:spAutoFit/>
          </a:bodyPr>
          <a:lstStyle/>
          <a:p>
            <a:pPr>
              <a:defRPr sz="2600" b="1"/>
            </a:pPr>
            <a:r>
              <a:rPr lang="en-US" sz="2400" dirty="0"/>
              <a:t>SRDDQN Comparison Across Global Markets - SR</a:t>
            </a:r>
            <a:endParaRPr sz="2400" dirty="0"/>
          </a:p>
        </p:txBody>
      </p:sp>
      <p:sp>
        <p:nvSpPr>
          <p:cNvPr id="5" name="TextBox 4">
            <a:extLst>
              <a:ext uri="{FF2B5EF4-FFF2-40B4-BE49-F238E27FC236}">
                <a16:creationId xmlns:a16="http://schemas.microsoft.com/office/drawing/2014/main" id="{40D108E7-E948-A2A8-BED6-989CE9AE2E96}"/>
              </a:ext>
            </a:extLst>
          </p:cNvPr>
          <p:cNvSpPr txBox="1"/>
          <p:nvPr/>
        </p:nvSpPr>
        <p:spPr>
          <a:xfrm>
            <a:off x="622738" y="4493172"/>
            <a:ext cx="5738648" cy="923330"/>
          </a:xfrm>
          <a:prstGeom prst="rect">
            <a:avLst/>
          </a:prstGeom>
          <a:noFill/>
        </p:spPr>
        <p:txBody>
          <a:bodyPr wrap="square" rtlCol="0">
            <a:spAutoFit/>
          </a:bodyPr>
          <a:lstStyle/>
          <a:p>
            <a:r>
              <a:rPr lang="en-CA" dirty="0"/>
              <a:t>Buy and Hold – Traditional Trading Strategy</a:t>
            </a:r>
          </a:p>
          <a:p>
            <a:r>
              <a:rPr lang="en-CA" dirty="0"/>
              <a:t>Fire – DRL model</a:t>
            </a:r>
          </a:p>
          <a:p>
            <a:r>
              <a:rPr lang="en-CA" dirty="0"/>
              <a:t>SR – Sharpe Ratio</a:t>
            </a:r>
          </a:p>
        </p:txBody>
      </p:sp>
      <p:pic>
        <p:nvPicPr>
          <p:cNvPr id="3076" name="Picture 4">
            <a:extLst>
              <a:ext uri="{FF2B5EF4-FFF2-40B4-BE49-F238E27FC236}">
                <a16:creationId xmlns:a16="http://schemas.microsoft.com/office/drawing/2014/main" id="{678D5205-24E2-2FC3-0154-E8380F665E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948911"/>
            <a:ext cx="7228490" cy="3063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87740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7B913-58C2-19D3-5B48-D54B7F41128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CB9FB6-5C4B-E3AB-E42E-75E231962974}"/>
              </a:ext>
            </a:extLst>
          </p:cNvPr>
          <p:cNvSpPr txBox="1"/>
          <p:nvPr/>
        </p:nvSpPr>
        <p:spPr>
          <a:xfrm>
            <a:off x="457200" y="274320"/>
            <a:ext cx="7796173" cy="461665"/>
          </a:xfrm>
          <a:prstGeom prst="rect">
            <a:avLst/>
          </a:prstGeom>
          <a:noFill/>
        </p:spPr>
        <p:txBody>
          <a:bodyPr wrap="none">
            <a:spAutoFit/>
          </a:bodyPr>
          <a:lstStyle/>
          <a:p>
            <a:pPr>
              <a:defRPr sz="2600" b="1"/>
            </a:pPr>
            <a:r>
              <a:rPr lang="en-US" sz="2400" dirty="0"/>
              <a:t>SRDDQN Comparison Across Global Markets - MDD</a:t>
            </a:r>
            <a:endParaRPr sz="2400" dirty="0"/>
          </a:p>
        </p:txBody>
      </p:sp>
      <p:sp>
        <p:nvSpPr>
          <p:cNvPr id="5" name="TextBox 4">
            <a:extLst>
              <a:ext uri="{FF2B5EF4-FFF2-40B4-BE49-F238E27FC236}">
                <a16:creationId xmlns:a16="http://schemas.microsoft.com/office/drawing/2014/main" id="{379316AB-1791-F149-F34D-552D2D1116A6}"/>
              </a:ext>
            </a:extLst>
          </p:cNvPr>
          <p:cNvSpPr txBox="1"/>
          <p:nvPr/>
        </p:nvSpPr>
        <p:spPr>
          <a:xfrm>
            <a:off x="622738" y="4493172"/>
            <a:ext cx="5738648" cy="830997"/>
          </a:xfrm>
          <a:prstGeom prst="rect">
            <a:avLst/>
          </a:prstGeom>
          <a:noFill/>
        </p:spPr>
        <p:txBody>
          <a:bodyPr wrap="square" rtlCol="0">
            <a:spAutoFit/>
          </a:bodyPr>
          <a:lstStyle/>
          <a:p>
            <a:r>
              <a:rPr lang="en-CA" sz="1600" dirty="0"/>
              <a:t>Buy and Hold – Traditional Trading Strategy</a:t>
            </a:r>
          </a:p>
          <a:p>
            <a:r>
              <a:rPr lang="en-CA" sz="1600" dirty="0"/>
              <a:t>Fire – DRL model</a:t>
            </a:r>
          </a:p>
          <a:p>
            <a:r>
              <a:rPr lang="en-CA" sz="1600" dirty="0"/>
              <a:t>SR – Maximum Draw Down</a:t>
            </a:r>
          </a:p>
        </p:txBody>
      </p:sp>
      <p:pic>
        <p:nvPicPr>
          <p:cNvPr id="4098" name="Picture 2">
            <a:extLst>
              <a:ext uri="{FF2B5EF4-FFF2-40B4-BE49-F238E27FC236}">
                <a16:creationId xmlns:a16="http://schemas.microsoft.com/office/drawing/2014/main" id="{831B17A9-A52C-EBAD-E10B-A1D001DB55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112291"/>
            <a:ext cx="7330966" cy="3106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823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914400"/>
          </a:xfrm>
          <a:prstGeom prst="rect">
            <a:avLst/>
          </a:prstGeom>
          <a:noFill/>
        </p:spPr>
        <p:txBody>
          <a:bodyPr wrap="none">
            <a:spAutoFit/>
          </a:bodyPr>
          <a:lstStyle/>
          <a:p>
            <a:pPr>
              <a:defRPr sz="2800" b="1"/>
            </a:pPr>
            <a:r>
              <a:t>Conclusion &amp; Key Takeaways</a:t>
            </a:r>
          </a:p>
        </p:txBody>
      </p:sp>
      <p:sp>
        <p:nvSpPr>
          <p:cNvPr id="3" name="TextBox 2"/>
          <p:cNvSpPr txBox="1"/>
          <p:nvPr/>
        </p:nvSpPr>
        <p:spPr>
          <a:xfrm>
            <a:off x="457200" y="993228"/>
            <a:ext cx="7315200" cy="3046988"/>
          </a:xfrm>
          <a:prstGeom prst="rect">
            <a:avLst/>
          </a:prstGeom>
          <a:noFill/>
        </p:spPr>
        <p:txBody>
          <a:bodyPr wrap="square">
            <a:spAutoFit/>
          </a:bodyPr>
          <a:lstStyle/>
          <a:p>
            <a:pPr marL="285750" indent="-285750">
              <a:buFont typeface="Arial" panose="020B0604020202020204" pitchFamily="34" charset="0"/>
              <a:buChar char="•"/>
            </a:pPr>
            <a:r>
              <a:rPr lang="en-CA" sz="1600" dirty="0"/>
              <a:t>This paper presents a novel Self-Rewarding Deep Reinforcement Learning (SRDRL) framework that revolutionizes reward design in financial reinforcement learning by integrating expert-defined metrics (like Min-Max, Sharpe Ratio, and Returns) into a dynamic self-rewarding mechanism. </a:t>
            </a:r>
          </a:p>
          <a:p>
            <a:pPr marL="285750" indent="-285750">
              <a:buFont typeface="Arial" panose="020B0604020202020204" pitchFamily="34" charset="0"/>
              <a:buChar char="•"/>
            </a:pPr>
            <a:endParaRPr lang="en-CA" sz="1600" dirty="0"/>
          </a:p>
          <a:p>
            <a:pPr marL="285750" indent="-285750">
              <a:buFont typeface="Arial" panose="020B0604020202020204" pitchFamily="34" charset="0"/>
              <a:buChar char="•"/>
            </a:pPr>
            <a:r>
              <a:rPr lang="en-CA" sz="1600" dirty="0"/>
              <a:t>The proposed SRDDQN model, enhanced with advanced time-series extractors (e.g., </a:t>
            </a:r>
            <a:r>
              <a:rPr lang="en-CA" sz="1600" dirty="0" err="1"/>
              <a:t>TimesNet</a:t>
            </a:r>
            <a:r>
              <a:rPr lang="en-CA" sz="1600" dirty="0"/>
              <a:t>, </a:t>
            </a:r>
            <a:r>
              <a:rPr lang="en-CA" sz="1600" dirty="0" err="1"/>
              <a:t>WFTNet</a:t>
            </a:r>
            <a:r>
              <a:rPr lang="en-CA" sz="1600" dirty="0"/>
              <a:t>), shows significant improvements in trading performance, achieving over 436% cumulative return on DJI, outperforming all baseline models.</a:t>
            </a:r>
          </a:p>
          <a:p>
            <a:pPr marL="285750" indent="-285750">
              <a:buFont typeface="Arial" panose="020B0604020202020204" pitchFamily="34" charset="0"/>
              <a:buChar char="•"/>
            </a:pPr>
            <a:endParaRPr lang="en-CA" sz="1600" dirty="0"/>
          </a:p>
          <a:p>
            <a:pPr marL="285750" indent="-285750">
              <a:buFont typeface="Arial" panose="020B0604020202020204" pitchFamily="34" charset="0"/>
              <a:buChar char="•"/>
            </a:pPr>
            <a:r>
              <a:rPr lang="en-CA" sz="1600" dirty="0"/>
              <a:t>The method proves highly scalable, adaptable, and responsive to market conditions. Future work will explore multi-agent systems and LLMs (like GPT, </a:t>
            </a:r>
            <a:r>
              <a:rPr lang="en-CA" sz="1600" dirty="0" err="1"/>
              <a:t>FinBERT</a:t>
            </a:r>
            <a:r>
              <a:rPr lang="en-CA" sz="1600" dirty="0"/>
              <a:t>) to further enhance market understanding via sentiment analysis and NLP techniques.</a:t>
            </a:r>
            <a:endParaRPr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E2D88-D6FE-5E97-BBFA-EC9CC8A13794}"/>
              </a:ext>
            </a:extLst>
          </p:cNvPr>
          <p:cNvSpPr>
            <a:spLocks noGrp="1"/>
          </p:cNvSpPr>
          <p:nvPr>
            <p:ph type="title"/>
          </p:nvPr>
        </p:nvSpPr>
        <p:spPr>
          <a:xfrm>
            <a:off x="1374911" y="1284581"/>
            <a:ext cx="6138409" cy="666140"/>
          </a:xfrm>
        </p:spPr>
        <p:txBody>
          <a:bodyPr/>
          <a:lstStyle/>
          <a:p>
            <a:r>
              <a:rPr lang="en-CA" dirty="0"/>
              <a:t>Appendix:</a:t>
            </a:r>
          </a:p>
        </p:txBody>
      </p:sp>
      <p:sp>
        <p:nvSpPr>
          <p:cNvPr id="3" name="Content Placeholder 2">
            <a:extLst>
              <a:ext uri="{FF2B5EF4-FFF2-40B4-BE49-F238E27FC236}">
                <a16:creationId xmlns:a16="http://schemas.microsoft.com/office/drawing/2014/main" id="{FAE40833-80EC-C739-53C4-28142A905295}"/>
              </a:ext>
            </a:extLst>
          </p:cNvPr>
          <p:cNvSpPr>
            <a:spLocks noGrp="1"/>
          </p:cNvSpPr>
          <p:nvPr>
            <p:ph idx="1"/>
          </p:nvPr>
        </p:nvSpPr>
        <p:spPr>
          <a:xfrm>
            <a:off x="409903" y="1950721"/>
            <a:ext cx="8901737" cy="3556253"/>
          </a:xfrm>
        </p:spPr>
        <p:txBody>
          <a:bodyPr>
            <a:normAutofit fontScale="55000" lnSpcReduction="20000"/>
          </a:bodyPr>
          <a:lstStyle/>
          <a:p>
            <a:pPr>
              <a:buNone/>
            </a:pPr>
            <a:r>
              <a:rPr lang="en-US" b="1" dirty="0"/>
              <a:t>🕯️ Candlestick Chart – Quick Explanation:</a:t>
            </a:r>
          </a:p>
          <a:p>
            <a:pPr>
              <a:buNone/>
            </a:pPr>
            <a:r>
              <a:rPr lang="en-US" dirty="0"/>
              <a:t>Each candle shows </a:t>
            </a:r>
            <a:r>
              <a:rPr lang="en-US" b="1" dirty="0"/>
              <a:t>price action</a:t>
            </a:r>
            <a:r>
              <a:rPr lang="en-US" dirty="0"/>
              <a:t> for a specific time interval (daily, weekly, etc.)</a:t>
            </a:r>
          </a:p>
          <a:p>
            <a:pPr>
              <a:buNone/>
            </a:pPr>
            <a:r>
              <a:rPr lang="en-US" b="1" dirty="0"/>
              <a:t>A single candlestick includes:</a:t>
            </a:r>
          </a:p>
          <a:p>
            <a:pPr>
              <a:buFont typeface="Arial" panose="020B0604020202020204" pitchFamily="34" charset="0"/>
              <a:buChar char="•"/>
            </a:pPr>
            <a:r>
              <a:rPr lang="en-US" b="1" dirty="0"/>
              <a:t>Open Price</a:t>
            </a:r>
            <a:r>
              <a:rPr lang="en-US" dirty="0"/>
              <a:t> 📍 – Where the price started</a:t>
            </a:r>
          </a:p>
          <a:p>
            <a:pPr>
              <a:buFont typeface="Arial" panose="020B0604020202020204" pitchFamily="34" charset="0"/>
              <a:buChar char="•"/>
            </a:pPr>
            <a:r>
              <a:rPr lang="en-US" b="1" dirty="0"/>
              <a:t>Close Price</a:t>
            </a:r>
            <a:r>
              <a:rPr lang="en-US" dirty="0"/>
              <a:t> 📍 – Where the price ended</a:t>
            </a:r>
          </a:p>
          <a:p>
            <a:pPr>
              <a:buFont typeface="Arial" panose="020B0604020202020204" pitchFamily="34" charset="0"/>
              <a:buChar char="•"/>
            </a:pPr>
            <a:r>
              <a:rPr lang="en-US" b="1" dirty="0"/>
              <a:t>High Price</a:t>
            </a:r>
            <a:r>
              <a:rPr lang="en-US" dirty="0"/>
              <a:t> 📈 – The highest point reached</a:t>
            </a:r>
          </a:p>
          <a:p>
            <a:pPr>
              <a:buFont typeface="Arial" panose="020B0604020202020204" pitchFamily="34" charset="0"/>
              <a:buChar char="•"/>
            </a:pPr>
            <a:r>
              <a:rPr lang="en-US" b="1" dirty="0"/>
              <a:t>Low Price</a:t>
            </a:r>
            <a:r>
              <a:rPr lang="en-US" dirty="0"/>
              <a:t> 📉 – The lowest point reached</a:t>
            </a:r>
          </a:p>
          <a:p>
            <a:pPr>
              <a:buNone/>
            </a:pPr>
            <a:r>
              <a:rPr lang="en-US" b="1" dirty="0"/>
              <a:t>Colors:</a:t>
            </a:r>
          </a:p>
          <a:p>
            <a:pPr>
              <a:buFont typeface="Arial" panose="020B0604020202020204" pitchFamily="34" charset="0"/>
              <a:buChar char="•"/>
            </a:pPr>
            <a:r>
              <a:rPr lang="en-US" b="1" dirty="0"/>
              <a:t>Green (Bullish)</a:t>
            </a:r>
            <a:r>
              <a:rPr lang="en-US" dirty="0"/>
              <a:t> = Close &gt; Open</a:t>
            </a:r>
          </a:p>
          <a:p>
            <a:pPr>
              <a:buFont typeface="Arial" panose="020B0604020202020204" pitchFamily="34" charset="0"/>
              <a:buChar char="•"/>
            </a:pPr>
            <a:r>
              <a:rPr lang="en-US" b="1" dirty="0"/>
              <a:t>Red (Bearish)</a:t>
            </a:r>
            <a:r>
              <a:rPr lang="en-US" dirty="0"/>
              <a:t> = Close &lt; Open</a:t>
            </a:r>
          </a:p>
          <a:p>
            <a:pPr>
              <a:buNone/>
            </a:pPr>
            <a:r>
              <a:rPr lang="en-US" b="1" dirty="0"/>
              <a:t>Paired with:</a:t>
            </a:r>
          </a:p>
          <a:p>
            <a:pPr>
              <a:buFont typeface="Arial" panose="020B0604020202020204" pitchFamily="34" charset="0"/>
              <a:buChar char="•"/>
            </a:pPr>
            <a:r>
              <a:rPr lang="en-US" b="1" dirty="0"/>
              <a:t>Volume Bars</a:t>
            </a:r>
            <a:r>
              <a:rPr lang="en-US" dirty="0"/>
              <a:t> underneath — show how much was traded</a:t>
            </a:r>
          </a:p>
        </p:txBody>
      </p:sp>
    </p:spTree>
    <p:extLst>
      <p:ext uri="{BB962C8B-B14F-4D97-AF65-F5344CB8AC3E}">
        <p14:creationId xmlns:p14="http://schemas.microsoft.com/office/powerpoint/2010/main" val="5045345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6D845-C8D4-932E-7E89-FA8187445A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064E7-0C97-AF2A-9E92-46C41EC6143A}"/>
              </a:ext>
            </a:extLst>
          </p:cNvPr>
          <p:cNvSpPr>
            <a:spLocks noGrp="1"/>
          </p:cNvSpPr>
          <p:nvPr>
            <p:ph type="title"/>
          </p:nvPr>
        </p:nvSpPr>
        <p:spPr>
          <a:xfrm>
            <a:off x="1512071" y="1329137"/>
            <a:ext cx="6031729" cy="598723"/>
          </a:xfrm>
        </p:spPr>
        <p:txBody>
          <a:bodyPr/>
          <a:lstStyle/>
          <a:p>
            <a:r>
              <a:rPr lang="en-CA" dirty="0"/>
              <a:t>Appendix: </a:t>
            </a:r>
            <a:r>
              <a:rPr lang="en-CA" dirty="0" err="1"/>
              <a:t>cont</a:t>
            </a:r>
            <a:r>
              <a:rPr lang="en-CA" dirty="0"/>
              <a:t>…</a:t>
            </a:r>
          </a:p>
        </p:txBody>
      </p:sp>
      <p:sp>
        <p:nvSpPr>
          <p:cNvPr id="3" name="Content Placeholder 2">
            <a:extLst>
              <a:ext uri="{FF2B5EF4-FFF2-40B4-BE49-F238E27FC236}">
                <a16:creationId xmlns:a16="http://schemas.microsoft.com/office/drawing/2014/main" id="{F42572DA-8906-C2D6-096B-6365E679A474}"/>
              </a:ext>
            </a:extLst>
          </p:cNvPr>
          <p:cNvSpPr>
            <a:spLocks noGrp="1"/>
          </p:cNvSpPr>
          <p:nvPr>
            <p:ph idx="1"/>
          </p:nvPr>
        </p:nvSpPr>
        <p:spPr/>
        <p:txBody>
          <a:bodyPr>
            <a:normAutofit fontScale="92500" lnSpcReduction="10000"/>
          </a:bodyPr>
          <a:lstStyle/>
          <a:p>
            <a:r>
              <a:rPr lang="en-CA" b="1" dirty="0"/>
              <a:t>Volume: </a:t>
            </a:r>
            <a:r>
              <a:rPr lang="en-CA" dirty="0"/>
              <a:t>Number of shares/contracts traded during a time period. It act as a liquidity indicator that helps the agent avoid low-volume traps.</a:t>
            </a:r>
          </a:p>
          <a:p>
            <a:r>
              <a:rPr lang="en-CA" dirty="0"/>
              <a:t>Capital: The total money the agent has left.</a:t>
            </a:r>
          </a:p>
          <a:p>
            <a:r>
              <a:rPr lang="en-CA" dirty="0"/>
              <a:t>Position: Current holdings of the agent in each asset.</a:t>
            </a:r>
            <a:r>
              <a:rPr lang="en-US" dirty="0"/>
              <a:t> </a:t>
            </a:r>
          </a:p>
          <a:p>
            <a:pPr marL="0" indent="0">
              <a:buNone/>
            </a:pPr>
            <a:r>
              <a:rPr lang="en-US" dirty="0"/>
              <a:t>             Types: </a:t>
            </a:r>
          </a:p>
          <a:p>
            <a:pPr marL="456057" lvl="1" indent="-257175">
              <a:buFont typeface="+mj-lt"/>
              <a:buAutoNum type="arabicPeriod"/>
            </a:pPr>
            <a:r>
              <a:rPr lang="en-US" dirty="0"/>
              <a:t>0: No position (flat)</a:t>
            </a:r>
          </a:p>
          <a:p>
            <a:pPr marL="456057" lvl="1" indent="-257175">
              <a:buFont typeface="+mj-lt"/>
              <a:buAutoNum type="arabicPeriod"/>
            </a:pPr>
            <a:r>
              <a:rPr lang="en-US" dirty="0"/>
              <a:t>1: Long position (buying asset)</a:t>
            </a:r>
          </a:p>
          <a:p>
            <a:pPr marL="456057" lvl="1" indent="-257175">
              <a:buFont typeface="+mj-lt"/>
              <a:buAutoNum type="arabicPeriod"/>
            </a:pPr>
            <a:r>
              <a:rPr lang="en-US" dirty="0"/>
              <a:t>-1: Short position (selling borrowed asset)</a:t>
            </a:r>
            <a:endParaRPr lang="en-CA" dirty="0"/>
          </a:p>
          <a:p>
            <a:endParaRPr lang="en-CA" dirty="0"/>
          </a:p>
          <a:p>
            <a:endParaRPr lang="en-CA" dirty="0"/>
          </a:p>
          <a:p>
            <a:endParaRPr lang="en-CA" dirty="0"/>
          </a:p>
        </p:txBody>
      </p:sp>
    </p:spTree>
    <p:extLst>
      <p:ext uri="{BB962C8B-B14F-4D97-AF65-F5344CB8AC3E}">
        <p14:creationId xmlns:p14="http://schemas.microsoft.com/office/powerpoint/2010/main" val="15756886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6D845-C8D4-932E-7E89-FA8187445A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064E7-0C97-AF2A-9E92-46C41EC6143A}"/>
              </a:ext>
            </a:extLst>
          </p:cNvPr>
          <p:cNvSpPr>
            <a:spLocks noGrp="1"/>
          </p:cNvSpPr>
          <p:nvPr>
            <p:ph type="title"/>
          </p:nvPr>
        </p:nvSpPr>
        <p:spPr>
          <a:xfrm>
            <a:off x="1443491" y="1391654"/>
            <a:ext cx="6571343" cy="462101"/>
          </a:xfrm>
        </p:spPr>
        <p:txBody>
          <a:bodyPr>
            <a:normAutofit fontScale="90000"/>
          </a:bodyPr>
          <a:lstStyle/>
          <a:p>
            <a:r>
              <a:rPr lang="en-CA" dirty="0"/>
              <a:t>Appendix: </a:t>
            </a:r>
            <a:r>
              <a:rPr lang="en-CA" dirty="0" err="1"/>
              <a:t>cont</a:t>
            </a:r>
            <a:r>
              <a:rPr lang="en-CA" dirty="0"/>
              <a:t>…</a:t>
            </a:r>
          </a:p>
        </p:txBody>
      </p:sp>
      <p:sp>
        <p:nvSpPr>
          <p:cNvPr id="3" name="Content Placeholder 2">
            <a:extLst>
              <a:ext uri="{FF2B5EF4-FFF2-40B4-BE49-F238E27FC236}">
                <a16:creationId xmlns:a16="http://schemas.microsoft.com/office/drawing/2014/main" id="{F42572DA-8906-C2D6-096B-6365E679A474}"/>
              </a:ext>
            </a:extLst>
          </p:cNvPr>
          <p:cNvSpPr>
            <a:spLocks noGrp="1"/>
          </p:cNvSpPr>
          <p:nvPr>
            <p:ph idx="1"/>
          </p:nvPr>
        </p:nvSpPr>
        <p:spPr/>
        <p:txBody>
          <a:bodyPr>
            <a:normAutofit fontScale="92500" lnSpcReduction="10000"/>
          </a:bodyPr>
          <a:lstStyle/>
          <a:p>
            <a:r>
              <a:rPr lang="en-CA" b="1" dirty="0"/>
              <a:t>Volume: </a:t>
            </a:r>
            <a:r>
              <a:rPr lang="en-CA" dirty="0"/>
              <a:t>Number of shares/contracts traded during a time period. It act as a liquidity indicator that helps the agent avoid low-volume traps.</a:t>
            </a:r>
          </a:p>
          <a:p>
            <a:r>
              <a:rPr lang="en-CA" dirty="0"/>
              <a:t>Capital: The total money the agent has left.</a:t>
            </a:r>
          </a:p>
          <a:p>
            <a:r>
              <a:rPr lang="en-CA" dirty="0"/>
              <a:t>Position: Current holdings of the agent in each asset.</a:t>
            </a:r>
            <a:r>
              <a:rPr lang="en-US" dirty="0"/>
              <a:t> </a:t>
            </a:r>
          </a:p>
          <a:p>
            <a:pPr marL="0" indent="0">
              <a:buNone/>
            </a:pPr>
            <a:r>
              <a:rPr lang="en-US" dirty="0"/>
              <a:t>             Types: </a:t>
            </a:r>
          </a:p>
          <a:p>
            <a:pPr marL="456057" lvl="1" indent="-257175">
              <a:buFont typeface="+mj-lt"/>
              <a:buAutoNum type="arabicPeriod"/>
            </a:pPr>
            <a:r>
              <a:rPr lang="en-US" dirty="0"/>
              <a:t>0: No position (flat)</a:t>
            </a:r>
          </a:p>
          <a:p>
            <a:pPr marL="456057" lvl="1" indent="-257175">
              <a:buFont typeface="+mj-lt"/>
              <a:buAutoNum type="arabicPeriod"/>
            </a:pPr>
            <a:r>
              <a:rPr lang="en-US" dirty="0"/>
              <a:t>1: Long position (buying asset)</a:t>
            </a:r>
          </a:p>
          <a:p>
            <a:pPr marL="456057" lvl="1" indent="-257175">
              <a:buFont typeface="+mj-lt"/>
              <a:buAutoNum type="arabicPeriod"/>
            </a:pPr>
            <a:r>
              <a:rPr lang="en-US" dirty="0"/>
              <a:t>-1: Short position (selling borrowed asset)</a:t>
            </a:r>
            <a:endParaRPr lang="en-CA" dirty="0"/>
          </a:p>
          <a:p>
            <a:endParaRPr lang="en-CA" dirty="0"/>
          </a:p>
          <a:p>
            <a:endParaRPr lang="en-CA" dirty="0"/>
          </a:p>
          <a:p>
            <a:endParaRPr lang="en-CA" dirty="0"/>
          </a:p>
        </p:txBody>
      </p:sp>
    </p:spTree>
    <p:extLst>
      <p:ext uri="{BB962C8B-B14F-4D97-AF65-F5344CB8AC3E}">
        <p14:creationId xmlns:p14="http://schemas.microsoft.com/office/powerpoint/2010/main" val="40179458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6E9CC-A4CF-9C12-B586-43A2FB27D727}"/>
              </a:ext>
            </a:extLst>
          </p:cNvPr>
          <p:cNvSpPr>
            <a:spLocks noGrp="1"/>
          </p:cNvSpPr>
          <p:nvPr>
            <p:ph type="title"/>
          </p:nvPr>
        </p:nvSpPr>
        <p:spPr/>
        <p:txBody>
          <a:bodyPr/>
          <a:lstStyle/>
          <a:p>
            <a:r>
              <a:rPr lang="en-CA" dirty="0"/>
              <a:t>Appendix: </a:t>
            </a:r>
            <a:r>
              <a:rPr lang="en-CA" dirty="0" err="1"/>
              <a:t>cont</a:t>
            </a:r>
            <a:r>
              <a:rPr lang="en-CA" dirty="0"/>
              <a:t>…</a:t>
            </a:r>
          </a:p>
        </p:txBody>
      </p:sp>
      <p:sp>
        <p:nvSpPr>
          <p:cNvPr id="3" name="Content Placeholder 2">
            <a:extLst>
              <a:ext uri="{FF2B5EF4-FFF2-40B4-BE49-F238E27FC236}">
                <a16:creationId xmlns:a16="http://schemas.microsoft.com/office/drawing/2014/main" id="{E55BF8C2-7686-D3E6-F084-B6897511C031}"/>
              </a:ext>
            </a:extLst>
          </p:cNvPr>
          <p:cNvSpPr>
            <a:spLocks noGrp="1"/>
          </p:cNvSpPr>
          <p:nvPr>
            <p:ph idx="1"/>
          </p:nvPr>
        </p:nvSpPr>
        <p:spPr>
          <a:xfrm>
            <a:off x="1443490" y="1853755"/>
            <a:ext cx="6571343" cy="3450613"/>
          </a:xfrm>
        </p:spPr>
        <p:txBody>
          <a:bodyPr>
            <a:noAutofit/>
          </a:bodyPr>
          <a:lstStyle/>
          <a:p>
            <a:pPr>
              <a:lnSpc>
                <a:spcPct val="100000"/>
              </a:lnSpc>
              <a:buNone/>
            </a:pPr>
            <a:r>
              <a:rPr lang="en-CA" sz="800" b="1" dirty="0"/>
              <a:t>Experimental Setup and Setup</a:t>
            </a:r>
          </a:p>
          <a:p>
            <a:pPr>
              <a:lnSpc>
                <a:spcPct val="100000"/>
              </a:lnSpc>
              <a:buNone/>
            </a:pPr>
            <a:r>
              <a:rPr lang="en-CA" sz="800" b="1" dirty="0"/>
              <a:t>4.1 Dataset</a:t>
            </a:r>
          </a:p>
          <a:p>
            <a:pPr>
              <a:lnSpc>
                <a:spcPct val="100000"/>
              </a:lnSpc>
              <a:buFont typeface="Arial" panose="020B0604020202020204" pitchFamily="34" charset="0"/>
              <a:buChar char="•"/>
            </a:pPr>
            <a:r>
              <a:rPr lang="en-CA" sz="800" b="1" dirty="0"/>
              <a:t>Indices Used</a:t>
            </a:r>
            <a:r>
              <a:rPr lang="en-CA" sz="800" dirty="0"/>
              <a:t>:</a:t>
            </a:r>
          </a:p>
          <a:p>
            <a:pPr marL="742950" lvl="1" indent="-285750">
              <a:lnSpc>
                <a:spcPct val="100000"/>
              </a:lnSpc>
              <a:buFont typeface="Arial" panose="020B0604020202020204" pitchFamily="34" charset="0"/>
              <a:buChar char="•"/>
            </a:pPr>
            <a:r>
              <a:rPr lang="en-CA" sz="800" dirty="0"/>
              <a:t>Hang Seng Index (HSI) – Hong Kong</a:t>
            </a:r>
          </a:p>
          <a:p>
            <a:pPr marL="742950" lvl="1" indent="-285750">
              <a:lnSpc>
                <a:spcPct val="100000"/>
              </a:lnSpc>
              <a:buFont typeface="Arial" panose="020B0604020202020204" pitchFamily="34" charset="0"/>
              <a:buChar char="•"/>
            </a:pPr>
            <a:r>
              <a:rPr lang="en-CA" sz="800" dirty="0"/>
              <a:t>CAC40 (FCHI) – France</a:t>
            </a:r>
          </a:p>
          <a:p>
            <a:pPr marL="742950" lvl="1" indent="-285750">
              <a:lnSpc>
                <a:spcPct val="100000"/>
              </a:lnSpc>
              <a:buFont typeface="Arial" panose="020B0604020202020204" pitchFamily="34" charset="0"/>
              <a:buChar char="•"/>
            </a:pPr>
            <a:r>
              <a:rPr lang="en-CA" sz="800" dirty="0"/>
              <a:t>KOSPI (KS11) – Korea</a:t>
            </a:r>
          </a:p>
          <a:p>
            <a:pPr marL="742950" lvl="1" indent="-285750">
              <a:lnSpc>
                <a:spcPct val="100000"/>
              </a:lnSpc>
              <a:buFont typeface="Arial" panose="020B0604020202020204" pitchFamily="34" charset="0"/>
              <a:buChar char="•"/>
            </a:pPr>
            <a:r>
              <a:rPr lang="en-CA" sz="800" dirty="0"/>
              <a:t>NASDAQ Composite (IXIC), S&amp;P 500 (SP500), and Dow Jones (DJI) – USA</a:t>
            </a:r>
          </a:p>
          <a:p>
            <a:pPr>
              <a:lnSpc>
                <a:spcPct val="100000"/>
              </a:lnSpc>
              <a:buFont typeface="Arial" panose="020B0604020202020204" pitchFamily="34" charset="0"/>
              <a:buChar char="•"/>
            </a:pPr>
            <a:r>
              <a:rPr lang="en-CA" sz="800" b="1" dirty="0"/>
              <a:t>Purpose</a:t>
            </a:r>
            <a:r>
              <a:rPr lang="en-CA" sz="800" dirty="0"/>
              <a:t>: To expose the model to </a:t>
            </a:r>
            <a:r>
              <a:rPr lang="en-CA" sz="800" b="1" dirty="0"/>
              <a:t>diverse global market conditions</a:t>
            </a:r>
            <a:r>
              <a:rPr lang="en-CA" sz="800" dirty="0"/>
              <a:t>, enhancing </a:t>
            </a:r>
            <a:r>
              <a:rPr lang="en-CA" sz="800" b="1" dirty="0"/>
              <a:t>generalization</a:t>
            </a:r>
            <a:r>
              <a:rPr lang="en-CA" sz="800" dirty="0"/>
              <a:t> and reducing </a:t>
            </a:r>
            <a:r>
              <a:rPr lang="en-CA" sz="800" b="1" dirty="0"/>
              <a:t>overfitting</a:t>
            </a:r>
            <a:r>
              <a:rPr lang="en-CA" sz="800" dirty="0"/>
              <a:t>.</a:t>
            </a:r>
          </a:p>
          <a:p>
            <a:pPr>
              <a:lnSpc>
                <a:spcPct val="100000"/>
              </a:lnSpc>
              <a:buFont typeface="Arial" panose="020B0604020202020204" pitchFamily="34" charset="0"/>
              <a:buChar char="•"/>
            </a:pPr>
            <a:r>
              <a:rPr lang="en-CA" sz="800" b="1" dirty="0"/>
              <a:t>Date Range</a:t>
            </a:r>
            <a:r>
              <a:rPr lang="en-CA" sz="800" dirty="0"/>
              <a:t>:</a:t>
            </a:r>
          </a:p>
          <a:p>
            <a:pPr marL="742950" lvl="1" indent="-285750">
              <a:lnSpc>
                <a:spcPct val="100000"/>
              </a:lnSpc>
              <a:buFont typeface="Arial" panose="020B0604020202020204" pitchFamily="34" charset="0"/>
              <a:buChar char="•"/>
            </a:pPr>
            <a:r>
              <a:rPr lang="en-CA" sz="800" b="1" dirty="0"/>
              <a:t>Training Set</a:t>
            </a:r>
            <a:r>
              <a:rPr lang="en-CA" sz="800" dirty="0"/>
              <a:t>: 1 Jan 2007 – 31 Dec 2020</a:t>
            </a:r>
          </a:p>
          <a:p>
            <a:pPr marL="742950" lvl="1" indent="-285750">
              <a:lnSpc>
                <a:spcPct val="100000"/>
              </a:lnSpc>
              <a:buFont typeface="Arial" panose="020B0604020202020204" pitchFamily="34" charset="0"/>
              <a:buChar char="•"/>
            </a:pPr>
            <a:r>
              <a:rPr lang="en-CA" sz="800" b="1" dirty="0"/>
              <a:t>Test Set</a:t>
            </a:r>
            <a:r>
              <a:rPr lang="en-CA" sz="800" dirty="0"/>
              <a:t>: 1 Jan 2021 – 31 Dec 2023</a:t>
            </a:r>
          </a:p>
          <a:p>
            <a:pPr>
              <a:lnSpc>
                <a:spcPct val="100000"/>
              </a:lnSpc>
              <a:buFont typeface="Arial" panose="020B0604020202020204" pitchFamily="34" charset="0"/>
              <a:buChar char="•"/>
            </a:pPr>
            <a:r>
              <a:rPr lang="en-CA" sz="800" b="1" dirty="0"/>
              <a:t>Features Used</a:t>
            </a:r>
            <a:r>
              <a:rPr lang="en-CA" sz="800" dirty="0"/>
              <a:t>:</a:t>
            </a:r>
          </a:p>
          <a:p>
            <a:pPr marL="742950" lvl="1" indent="-285750">
              <a:lnSpc>
                <a:spcPct val="100000"/>
              </a:lnSpc>
              <a:buFont typeface="Arial" panose="020B0604020202020204" pitchFamily="34" charset="0"/>
              <a:buChar char="•"/>
            </a:pPr>
            <a:r>
              <a:rPr lang="en-CA" sz="800" dirty="0"/>
              <a:t>Opening Price</a:t>
            </a:r>
          </a:p>
          <a:p>
            <a:pPr marL="742950" lvl="1" indent="-285750">
              <a:lnSpc>
                <a:spcPct val="100000"/>
              </a:lnSpc>
              <a:buFont typeface="Arial" panose="020B0604020202020204" pitchFamily="34" charset="0"/>
              <a:buChar char="•"/>
            </a:pPr>
            <a:r>
              <a:rPr lang="en-CA" sz="800" dirty="0"/>
              <a:t>Lowest Price</a:t>
            </a:r>
          </a:p>
          <a:p>
            <a:pPr marL="742950" lvl="1" indent="-285750">
              <a:lnSpc>
                <a:spcPct val="100000"/>
              </a:lnSpc>
              <a:buFont typeface="Arial" panose="020B0604020202020204" pitchFamily="34" charset="0"/>
              <a:buChar char="•"/>
            </a:pPr>
            <a:r>
              <a:rPr lang="en-CA" sz="800" dirty="0"/>
              <a:t>Highest Price</a:t>
            </a:r>
          </a:p>
          <a:p>
            <a:pPr marL="742950" lvl="1" indent="-285750">
              <a:lnSpc>
                <a:spcPct val="100000"/>
              </a:lnSpc>
              <a:buFont typeface="Arial" panose="020B0604020202020204" pitchFamily="34" charset="0"/>
              <a:buChar char="•"/>
            </a:pPr>
            <a:r>
              <a:rPr lang="en-CA" sz="800" dirty="0"/>
              <a:t>Closing Price</a:t>
            </a:r>
          </a:p>
          <a:p>
            <a:pPr marL="742950" lvl="1" indent="-285750">
              <a:lnSpc>
                <a:spcPct val="100000"/>
              </a:lnSpc>
              <a:buFont typeface="Arial" panose="020B0604020202020204" pitchFamily="34" charset="0"/>
              <a:buChar char="•"/>
            </a:pPr>
            <a:r>
              <a:rPr lang="en-CA" sz="800" dirty="0"/>
              <a:t>Trading Volume</a:t>
            </a:r>
          </a:p>
          <a:p>
            <a:pPr>
              <a:lnSpc>
                <a:spcPct val="100000"/>
              </a:lnSpc>
              <a:buFont typeface="Arial" panose="020B0604020202020204" pitchFamily="34" charset="0"/>
              <a:buChar char="•"/>
            </a:pPr>
            <a:r>
              <a:rPr lang="en-CA" sz="800" b="1" dirty="0"/>
              <a:t>Visual</a:t>
            </a:r>
            <a:r>
              <a:rPr lang="en-CA" sz="800" dirty="0"/>
              <a:t>: Close Price Curves for all six indices (Figure 3)</a:t>
            </a:r>
          </a:p>
          <a:p>
            <a:pPr>
              <a:lnSpc>
                <a:spcPct val="100000"/>
              </a:lnSpc>
            </a:pPr>
            <a:endParaRPr lang="en-CA" sz="800" dirty="0"/>
          </a:p>
        </p:txBody>
      </p:sp>
    </p:spTree>
    <p:extLst>
      <p:ext uri="{BB962C8B-B14F-4D97-AF65-F5344CB8AC3E}">
        <p14:creationId xmlns:p14="http://schemas.microsoft.com/office/powerpoint/2010/main" val="6521383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AB4D7-5268-8464-094A-F200714B075B}"/>
              </a:ext>
            </a:extLst>
          </p:cNvPr>
          <p:cNvSpPr>
            <a:spLocks noGrp="1"/>
          </p:cNvSpPr>
          <p:nvPr>
            <p:ph type="title"/>
          </p:nvPr>
        </p:nvSpPr>
        <p:spPr/>
        <p:txBody>
          <a:bodyPr/>
          <a:lstStyle/>
          <a:p>
            <a:r>
              <a:rPr lang="en-CA" dirty="0"/>
              <a:t>Appendix: </a:t>
            </a:r>
            <a:r>
              <a:rPr lang="en-CA" dirty="0" err="1"/>
              <a:t>cont</a:t>
            </a:r>
            <a:r>
              <a:rPr lang="en-CA" dirty="0"/>
              <a:t>…</a:t>
            </a:r>
          </a:p>
        </p:txBody>
      </p:sp>
      <p:sp>
        <p:nvSpPr>
          <p:cNvPr id="4" name="Rectangle 1">
            <a:extLst>
              <a:ext uri="{FF2B5EF4-FFF2-40B4-BE49-F238E27FC236}">
                <a16:creationId xmlns:a16="http://schemas.microsoft.com/office/drawing/2014/main" id="{666C3822-BCEF-4EDB-150F-1D7EADE0A791}"/>
              </a:ext>
            </a:extLst>
          </p:cNvPr>
          <p:cNvSpPr>
            <a:spLocks noGrp="1" noChangeArrowheads="1"/>
          </p:cNvSpPr>
          <p:nvPr>
            <p:ph idx="1"/>
          </p:nvPr>
        </p:nvSpPr>
        <p:spPr bwMode="auto">
          <a:xfrm>
            <a:off x="1443491" y="2463766"/>
            <a:ext cx="721954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rPr>
              <a:t>Evaluation Metrics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Cumulative Return (CR)</a:t>
            </a:r>
            <a:r>
              <a:rPr kumimoji="0" lang="en-US" altLang="en-US" sz="1600" b="0" i="0" u="none" strike="noStrike" cap="none" normalizeH="0" baseline="0" dirty="0">
                <a:ln>
                  <a:noFill/>
                </a:ln>
                <a:solidFill>
                  <a:schemeClr val="tx1"/>
                </a:solidFill>
                <a:effectLst/>
              </a:rPr>
              <a:t>:</a:t>
            </a:r>
            <a:br>
              <a:rPr kumimoji="0" lang="en-US" altLang="en-US" sz="1600" b="0" i="0" u="none" strike="noStrike" cap="none" normalizeH="0" baseline="0" dirty="0">
                <a:ln>
                  <a:noFill/>
                </a:ln>
                <a:solidFill>
                  <a:schemeClr val="tx1"/>
                </a:solidFill>
                <a:effectLst/>
              </a:rPr>
            </a:br>
            <a:r>
              <a:rPr kumimoji="0" lang="en-US" altLang="en-US" sz="1600" b="0" i="0" u="none" strike="noStrike" cap="none" normalizeH="0" baseline="0" dirty="0">
                <a:ln>
                  <a:noFill/>
                </a:ln>
                <a:solidFill>
                  <a:schemeClr val="tx1"/>
                </a:solidFill>
                <a:effectLst/>
              </a:rPr>
              <a:t>Measures total return across the investment period.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Annualized Return (AR)</a:t>
            </a:r>
            <a:r>
              <a:rPr kumimoji="0" lang="en-US" altLang="en-US" sz="1600" b="0" i="0" u="none" strike="noStrike" cap="none" normalizeH="0" baseline="0" dirty="0">
                <a:ln>
                  <a:noFill/>
                </a:ln>
                <a:solidFill>
                  <a:schemeClr val="tx1"/>
                </a:solidFill>
                <a:effectLst/>
              </a:rPr>
              <a:t>:</a:t>
            </a:r>
            <a:br>
              <a:rPr kumimoji="0" lang="en-US" altLang="en-US" sz="1600" b="0" i="0" u="none" strike="noStrike" cap="none" normalizeH="0" baseline="0" dirty="0">
                <a:ln>
                  <a:noFill/>
                </a:ln>
                <a:solidFill>
                  <a:schemeClr val="tx1"/>
                </a:solidFill>
                <a:effectLst/>
              </a:rPr>
            </a:br>
            <a:r>
              <a:rPr kumimoji="0" lang="en-US" altLang="en-US" sz="1600" b="0" i="0" u="none" strike="noStrike" cap="none" normalizeH="0" baseline="0" dirty="0">
                <a:ln>
                  <a:noFill/>
                </a:ln>
                <a:solidFill>
                  <a:schemeClr val="tx1"/>
                </a:solidFill>
                <a:effectLst/>
              </a:rPr>
              <a:t>Converts total return to a yearly average rate.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Sharpe Ratio (SR)</a:t>
            </a:r>
            <a:r>
              <a:rPr kumimoji="0" lang="en-US" altLang="en-US" sz="1600" b="0" i="0" u="none" strike="noStrike" cap="none" normalizeH="0" baseline="0" dirty="0">
                <a:ln>
                  <a:noFill/>
                </a:ln>
                <a:solidFill>
                  <a:schemeClr val="tx1"/>
                </a:solidFill>
                <a:effectLst/>
              </a:rPr>
              <a:t>:</a:t>
            </a:r>
            <a:br>
              <a:rPr kumimoji="0" lang="en-US" altLang="en-US" sz="1600" b="0" i="0" u="none" strike="noStrike" cap="none" normalizeH="0" baseline="0" dirty="0">
                <a:ln>
                  <a:noFill/>
                </a:ln>
                <a:solidFill>
                  <a:schemeClr val="tx1"/>
                </a:solidFill>
                <a:effectLst/>
              </a:rPr>
            </a:br>
            <a:r>
              <a:rPr kumimoji="0" lang="en-US" altLang="en-US" sz="1600" b="0" i="0" u="none" strike="noStrike" cap="none" normalizeH="0" baseline="0" dirty="0">
                <a:ln>
                  <a:noFill/>
                </a:ln>
                <a:solidFill>
                  <a:schemeClr val="tx1"/>
                </a:solidFill>
                <a:effectLst/>
              </a:rPr>
              <a:t>Evaluates </a:t>
            </a:r>
            <a:r>
              <a:rPr kumimoji="0" lang="en-US" altLang="en-US" sz="1600" b="1" i="0" u="none" strike="noStrike" cap="none" normalizeH="0" baseline="0" dirty="0">
                <a:ln>
                  <a:noFill/>
                </a:ln>
                <a:solidFill>
                  <a:schemeClr val="tx1"/>
                </a:solidFill>
                <a:effectLst/>
              </a:rPr>
              <a:t>risk-adjusted return</a:t>
            </a:r>
            <a:r>
              <a:rPr kumimoji="0" lang="en-US" altLang="en-US" sz="1600" b="0" i="0" u="none" strike="noStrike" cap="none" normalizeH="0" baseline="0" dirty="0">
                <a:ln>
                  <a:noFill/>
                </a:ln>
                <a:solidFill>
                  <a:schemeClr val="tx1"/>
                </a:solidFill>
                <a:effectLst/>
              </a:rPr>
              <a:t> (excess return per unit of volatility).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rPr>
              <a:t>Maximum Drawdown (MDD)</a:t>
            </a:r>
            <a:r>
              <a:rPr kumimoji="0" lang="en-US" altLang="en-US" sz="1600" b="0" i="0" u="none" strike="noStrike" cap="none" normalizeH="0" baseline="0" dirty="0">
                <a:ln>
                  <a:noFill/>
                </a:ln>
                <a:solidFill>
                  <a:schemeClr val="tx1"/>
                </a:solidFill>
                <a:effectLst/>
              </a:rPr>
              <a:t>:</a:t>
            </a:r>
            <a:br>
              <a:rPr kumimoji="0" lang="en-US" altLang="en-US" sz="1600" b="0" i="0" u="none" strike="noStrike" cap="none" normalizeH="0" baseline="0" dirty="0">
                <a:ln>
                  <a:noFill/>
                </a:ln>
                <a:solidFill>
                  <a:schemeClr val="tx1"/>
                </a:solidFill>
                <a:effectLst/>
              </a:rPr>
            </a:br>
            <a:r>
              <a:rPr kumimoji="0" lang="en-US" altLang="en-US" sz="1600" b="0" i="0" u="none" strike="noStrike" cap="none" normalizeH="0" baseline="0" dirty="0">
                <a:ln>
                  <a:noFill/>
                </a:ln>
                <a:solidFill>
                  <a:schemeClr val="tx1"/>
                </a:solidFill>
                <a:effectLst/>
              </a:rPr>
              <a:t>Reflects the </a:t>
            </a:r>
            <a:r>
              <a:rPr kumimoji="0" lang="en-US" altLang="en-US" sz="1600" b="1" i="0" u="none" strike="noStrike" cap="none" normalizeH="0" baseline="0" dirty="0">
                <a:ln>
                  <a:noFill/>
                </a:ln>
                <a:solidFill>
                  <a:schemeClr val="tx1"/>
                </a:solidFill>
                <a:effectLst/>
              </a:rPr>
              <a:t>worst-case loss</a:t>
            </a:r>
            <a:r>
              <a:rPr kumimoji="0" lang="en-US" altLang="en-US" sz="1600" b="0" i="0" u="none" strike="noStrike" cap="none" normalizeH="0" baseline="0" dirty="0">
                <a:ln>
                  <a:noFill/>
                </a:ln>
                <a:solidFill>
                  <a:schemeClr val="tx1"/>
                </a:solidFill>
                <a:effectLst/>
              </a:rPr>
              <a:t> from a peak to a trough during the investment period.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These metrics give a balanced view of both performance and risk.</a:t>
            </a:r>
          </a:p>
        </p:txBody>
      </p:sp>
    </p:spTree>
    <p:extLst>
      <p:ext uri="{BB962C8B-B14F-4D97-AF65-F5344CB8AC3E}">
        <p14:creationId xmlns:p14="http://schemas.microsoft.com/office/powerpoint/2010/main" val="39597506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30228-1380-44B9-02CF-FD7D0A6F162E}"/>
              </a:ext>
            </a:extLst>
          </p:cNvPr>
          <p:cNvSpPr>
            <a:spLocks noGrp="1"/>
          </p:cNvSpPr>
          <p:nvPr>
            <p:ph type="title"/>
          </p:nvPr>
        </p:nvSpPr>
        <p:spPr/>
        <p:txBody>
          <a:bodyPr/>
          <a:lstStyle/>
          <a:p>
            <a:r>
              <a:rPr lang="en-CA" dirty="0"/>
              <a:t>Appendix: </a:t>
            </a:r>
            <a:r>
              <a:rPr lang="en-CA" dirty="0" err="1"/>
              <a:t>cont</a:t>
            </a:r>
            <a:r>
              <a:rPr lang="en-CA" dirty="0"/>
              <a:t>…</a:t>
            </a:r>
          </a:p>
        </p:txBody>
      </p:sp>
      <p:sp>
        <p:nvSpPr>
          <p:cNvPr id="3" name="Content Placeholder 2">
            <a:extLst>
              <a:ext uri="{FF2B5EF4-FFF2-40B4-BE49-F238E27FC236}">
                <a16:creationId xmlns:a16="http://schemas.microsoft.com/office/drawing/2014/main" id="{CDB5D3EB-0CE5-C0AC-AE38-E85566CF9C09}"/>
              </a:ext>
            </a:extLst>
          </p:cNvPr>
          <p:cNvSpPr>
            <a:spLocks noGrp="1"/>
          </p:cNvSpPr>
          <p:nvPr>
            <p:ph idx="1"/>
          </p:nvPr>
        </p:nvSpPr>
        <p:spPr/>
        <p:txBody>
          <a:bodyPr>
            <a:normAutofit fontScale="40000" lnSpcReduction="20000"/>
          </a:bodyPr>
          <a:lstStyle/>
          <a:p>
            <a:pPr>
              <a:buNone/>
            </a:pPr>
            <a:r>
              <a:rPr lang="en-CA" b="1" dirty="0"/>
              <a:t>Baseline Methods</a:t>
            </a:r>
          </a:p>
          <a:p>
            <a:pPr>
              <a:buNone/>
            </a:pPr>
            <a:r>
              <a:rPr lang="en-CA" b="1" dirty="0"/>
              <a:t>✅ Traditional Strategies</a:t>
            </a:r>
          </a:p>
          <a:p>
            <a:pPr>
              <a:buFont typeface="Arial" panose="020B0604020202020204" pitchFamily="34" charset="0"/>
              <a:buChar char="•"/>
            </a:pPr>
            <a:r>
              <a:rPr lang="en-CA" b="1" dirty="0"/>
              <a:t>Buy &amp; Hold (B&amp;H)</a:t>
            </a:r>
            <a:r>
              <a:rPr lang="en-CA" dirty="0"/>
              <a:t>:</a:t>
            </a:r>
            <a:br>
              <a:rPr lang="en-CA" dirty="0"/>
            </a:br>
            <a:r>
              <a:rPr lang="en-CA" dirty="0"/>
              <a:t>Buy once, hold till the end.</a:t>
            </a:r>
          </a:p>
          <a:p>
            <a:pPr>
              <a:buFont typeface="Arial" panose="020B0604020202020204" pitchFamily="34" charset="0"/>
              <a:buChar char="•"/>
            </a:pPr>
            <a:r>
              <a:rPr lang="en-CA" b="1" dirty="0"/>
              <a:t>Sell &amp; Hold (S&amp;H)</a:t>
            </a:r>
            <a:r>
              <a:rPr lang="en-CA" dirty="0"/>
              <a:t>:</a:t>
            </a:r>
            <a:br>
              <a:rPr lang="en-CA" dirty="0"/>
            </a:br>
            <a:r>
              <a:rPr lang="en-CA" dirty="0"/>
              <a:t>Short sell at the beginning and hold the position.</a:t>
            </a:r>
          </a:p>
          <a:p>
            <a:pPr>
              <a:buFont typeface="Arial" panose="020B0604020202020204" pitchFamily="34" charset="0"/>
              <a:buChar char="•"/>
            </a:pPr>
            <a:r>
              <a:rPr lang="en-CA" b="1" dirty="0"/>
              <a:t>Mean Reversion (MR)</a:t>
            </a:r>
            <a:r>
              <a:rPr lang="en-CA" dirty="0"/>
              <a:t>:</a:t>
            </a:r>
            <a:br>
              <a:rPr lang="en-CA" dirty="0"/>
            </a:br>
            <a:r>
              <a:rPr lang="en-CA" dirty="0"/>
              <a:t>Uses 10-day Simple Moving Average (SMA); assumes prices revert to mean.</a:t>
            </a:r>
          </a:p>
          <a:p>
            <a:pPr>
              <a:buFont typeface="Arial" panose="020B0604020202020204" pitchFamily="34" charset="0"/>
              <a:buChar char="•"/>
            </a:pPr>
            <a:r>
              <a:rPr lang="en-CA" b="1" dirty="0"/>
              <a:t>Trend Following (TF)</a:t>
            </a:r>
            <a:r>
              <a:rPr lang="en-CA" dirty="0"/>
              <a:t>:</a:t>
            </a:r>
            <a:br>
              <a:rPr lang="en-CA" dirty="0"/>
            </a:br>
            <a:r>
              <a:rPr lang="en-CA" dirty="0"/>
              <a:t>Uses 10 &amp; 20-day SMA crossover for buy/sell signals.</a:t>
            </a:r>
          </a:p>
          <a:p>
            <a:pPr>
              <a:buNone/>
            </a:pPr>
            <a:r>
              <a:rPr lang="en-CA" b="1" dirty="0"/>
              <a:t>🤖 Deep Reinforcement Learning Models</a:t>
            </a:r>
          </a:p>
          <a:p>
            <a:pPr>
              <a:buFont typeface="Arial" panose="020B0604020202020204" pitchFamily="34" charset="0"/>
              <a:buChar char="•"/>
            </a:pPr>
            <a:r>
              <a:rPr lang="en-CA" b="1" dirty="0"/>
              <a:t>TDQN</a:t>
            </a:r>
            <a:r>
              <a:rPr lang="en-CA" dirty="0"/>
              <a:t>:</a:t>
            </a:r>
            <a:br>
              <a:rPr lang="en-CA" dirty="0"/>
            </a:br>
            <a:r>
              <a:rPr lang="en-CA" dirty="0"/>
              <a:t>5-layer DQN by </a:t>
            </a:r>
            <a:r>
              <a:rPr lang="en-CA" dirty="0" err="1"/>
              <a:t>Théate</a:t>
            </a:r>
            <a:r>
              <a:rPr lang="en-CA" dirty="0"/>
              <a:t> &amp; Ernst for trading position optimization.</a:t>
            </a:r>
          </a:p>
          <a:p>
            <a:pPr>
              <a:buFont typeface="Arial" panose="020B0604020202020204" pitchFamily="34" charset="0"/>
              <a:buChar char="•"/>
            </a:pPr>
            <a:r>
              <a:rPr lang="en-CA" b="1" dirty="0"/>
              <a:t>DQN-Vanilla</a:t>
            </a:r>
            <a:r>
              <a:rPr lang="en-CA" dirty="0"/>
              <a:t>:</a:t>
            </a:r>
            <a:br>
              <a:rPr lang="en-CA" dirty="0"/>
            </a:br>
            <a:r>
              <a:rPr lang="en-CA" dirty="0"/>
              <a:t>2-layer DQN from </a:t>
            </a:r>
            <a:r>
              <a:rPr lang="en-CA" dirty="0" err="1"/>
              <a:t>Taghian</a:t>
            </a:r>
            <a:r>
              <a:rPr lang="en-CA" dirty="0"/>
              <a:t> et al., using OHLC data.</a:t>
            </a:r>
          </a:p>
          <a:p>
            <a:pPr>
              <a:buFont typeface="Arial" panose="020B0604020202020204" pitchFamily="34" charset="0"/>
              <a:buChar char="•"/>
            </a:pPr>
            <a:r>
              <a:rPr lang="en-CA" b="1" dirty="0"/>
              <a:t>Fire (DQN-HER)</a:t>
            </a:r>
            <a:r>
              <a:rPr lang="en-CA" dirty="0"/>
              <a:t>:</a:t>
            </a:r>
            <a:br>
              <a:rPr lang="en-CA" dirty="0"/>
            </a:br>
            <a:r>
              <a:rPr lang="en-CA" dirty="0"/>
              <a:t>Multi-objective DQN with dynamic reward/discounting from </a:t>
            </a:r>
            <a:r>
              <a:rPr lang="en-CA" dirty="0" err="1"/>
              <a:t>Cornalba</a:t>
            </a:r>
            <a:r>
              <a:rPr lang="en-CA" dirty="0"/>
              <a:t> et al., for stocks &amp; crypto.</a:t>
            </a:r>
          </a:p>
          <a:p>
            <a:endParaRPr lang="en-CA" dirty="0"/>
          </a:p>
        </p:txBody>
      </p:sp>
    </p:spTree>
    <p:extLst>
      <p:ext uri="{BB962C8B-B14F-4D97-AF65-F5344CB8AC3E}">
        <p14:creationId xmlns:p14="http://schemas.microsoft.com/office/powerpoint/2010/main" val="10234463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76730-7F08-A4B9-8151-0094157E3145}"/>
              </a:ext>
            </a:extLst>
          </p:cNvPr>
          <p:cNvSpPr>
            <a:spLocks noGrp="1"/>
          </p:cNvSpPr>
          <p:nvPr>
            <p:ph type="title"/>
          </p:nvPr>
        </p:nvSpPr>
        <p:spPr/>
        <p:txBody>
          <a:bodyPr/>
          <a:lstStyle/>
          <a:p>
            <a:r>
              <a:rPr lang="en-CA" dirty="0"/>
              <a:t>Appendix: </a:t>
            </a:r>
            <a:r>
              <a:rPr lang="en-CA" dirty="0" err="1"/>
              <a:t>Cont</a:t>
            </a:r>
            <a:r>
              <a:rPr lang="en-CA" dirty="0"/>
              <a:t>…</a:t>
            </a:r>
          </a:p>
        </p:txBody>
      </p:sp>
      <p:sp>
        <p:nvSpPr>
          <p:cNvPr id="3" name="Content Placeholder 2">
            <a:extLst>
              <a:ext uri="{FF2B5EF4-FFF2-40B4-BE49-F238E27FC236}">
                <a16:creationId xmlns:a16="http://schemas.microsoft.com/office/drawing/2014/main" id="{2BF46146-1798-1F7E-2BC1-C9D697F38A07}"/>
              </a:ext>
            </a:extLst>
          </p:cNvPr>
          <p:cNvSpPr>
            <a:spLocks noGrp="1"/>
          </p:cNvSpPr>
          <p:nvPr>
            <p:ph idx="1"/>
          </p:nvPr>
        </p:nvSpPr>
        <p:spPr/>
        <p:txBody>
          <a:bodyPr>
            <a:normAutofit fontScale="55000" lnSpcReduction="20000"/>
          </a:bodyPr>
          <a:lstStyle/>
          <a:p>
            <a:pPr>
              <a:buNone/>
            </a:pPr>
            <a:r>
              <a:rPr lang="en-CA" b="1" dirty="0"/>
              <a:t>4.4 Experimental Setup</a:t>
            </a:r>
          </a:p>
          <a:p>
            <a:pPr>
              <a:buFont typeface="Arial" panose="020B0604020202020204" pitchFamily="34" charset="0"/>
              <a:buChar char="•"/>
            </a:pPr>
            <a:r>
              <a:rPr lang="en-CA" b="1" dirty="0"/>
              <a:t>Training</a:t>
            </a:r>
            <a:r>
              <a:rPr lang="en-CA" dirty="0"/>
              <a:t>:</a:t>
            </a:r>
            <a:br>
              <a:rPr lang="en-CA" dirty="0"/>
            </a:br>
            <a:r>
              <a:rPr lang="en-CA" dirty="0"/>
              <a:t>Conducted </a:t>
            </a:r>
            <a:r>
              <a:rPr lang="en-CA" b="1" dirty="0"/>
              <a:t>individually</a:t>
            </a:r>
            <a:r>
              <a:rPr lang="en-CA" dirty="0"/>
              <a:t> on each stock index dataset.</a:t>
            </a:r>
          </a:p>
          <a:p>
            <a:pPr>
              <a:buFont typeface="Arial" panose="020B0604020202020204" pitchFamily="34" charset="0"/>
              <a:buChar char="•"/>
            </a:pPr>
            <a:r>
              <a:rPr lang="en-CA" b="1" dirty="0"/>
              <a:t>Initial Capital</a:t>
            </a:r>
            <a:r>
              <a:rPr lang="en-CA" dirty="0"/>
              <a:t>:</a:t>
            </a:r>
            <a:br>
              <a:rPr lang="en-CA" dirty="0"/>
            </a:br>
            <a:r>
              <a:rPr lang="en-CA" b="1" dirty="0"/>
              <a:t>$500,000</a:t>
            </a:r>
            <a:endParaRPr lang="en-CA" dirty="0"/>
          </a:p>
          <a:p>
            <a:pPr>
              <a:buFont typeface="Arial" panose="020B0604020202020204" pitchFamily="34" charset="0"/>
              <a:buChar char="•"/>
            </a:pPr>
            <a:r>
              <a:rPr lang="en-CA" b="1" dirty="0"/>
              <a:t>Transaction Cost</a:t>
            </a:r>
            <a:r>
              <a:rPr lang="en-CA" dirty="0"/>
              <a:t>:</a:t>
            </a:r>
            <a:br>
              <a:rPr lang="en-CA" dirty="0"/>
            </a:br>
            <a:r>
              <a:rPr lang="en-CA" b="1" dirty="0"/>
              <a:t>0.3%</a:t>
            </a:r>
            <a:r>
              <a:rPr lang="en-CA" dirty="0"/>
              <a:t> per trade</a:t>
            </a:r>
          </a:p>
          <a:p>
            <a:pPr>
              <a:buFont typeface="Arial" panose="020B0604020202020204" pitchFamily="34" charset="0"/>
              <a:buChar char="•"/>
            </a:pPr>
            <a:r>
              <a:rPr lang="en-CA" b="1" dirty="0"/>
              <a:t>Frameworks</a:t>
            </a:r>
            <a:r>
              <a:rPr lang="en-CA" dirty="0"/>
              <a:t>:</a:t>
            </a:r>
          </a:p>
          <a:p>
            <a:pPr marL="742950" lvl="1" indent="-285750">
              <a:buFont typeface="Arial" panose="020B0604020202020204" pitchFamily="34" charset="0"/>
              <a:buChar char="•"/>
            </a:pPr>
            <a:r>
              <a:rPr lang="en-CA" dirty="0"/>
              <a:t>Python v3.10</a:t>
            </a:r>
          </a:p>
          <a:p>
            <a:pPr marL="742950" lvl="1" indent="-285750">
              <a:buFont typeface="Arial" panose="020B0604020202020204" pitchFamily="34" charset="0"/>
              <a:buChar char="•"/>
            </a:pPr>
            <a:r>
              <a:rPr lang="en-CA" dirty="0" err="1"/>
              <a:t>PyTorch</a:t>
            </a:r>
            <a:r>
              <a:rPr lang="en-CA" dirty="0"/>
              <a:t> v1.12</a:t>
            </a:r>
          </a:p>
          <a:p>
            <a:pPr marL="742950" lvl="1" indent="-285750">
              <a:buFont typeface="Arial" panose="020B0604020202020204" pitchFamily="34" charset="0"/>
              <a:buChar char="•"/>
            </a:pPr>
            <a:r>
              <a:rPr lang="en-CA" dirty="0"/>
              <a:t>CUDA v12.1</a:t>
            </a:r>
          </a:p>
          <a:p>
            <a:pPr marL="742950" lvl="1" indent="-285750">
              <a:buFont typeface="Arial" panose="020B0604020202020204" pitchFamily="34" charset="0"/>
              <a:buChar char="•"/>
            </a:pPr>
            <a:r>
              <a:rPr lang="en-CA" dirty="0"/>
              <a:t>Windows 10</a:t>
            </a:r>
          </a:p>
          <a:p>
            <a:pPr marL="742950" lvl="1" indent="-285750">
              <a:buFont typeface="Arial" panose="020B0604020202020204" pitchFamily="34" charset="0"/>
              <a:buChar char="•"/>
            </a:pPr>
            <a:r>
              <a:rPr lang="en-CA" dirty="0"/>
              <a:t>GPU: </a:t>
            </a:r>
            <a:r>
              <a:rPr lang="en-CA" b="1" dirty="0"/>
              <a:t>NVIDIA RTX 4090</a:t>
            </a:r>
            <a:endParaRPr lang="en-CA" dirty="0"/>
          </a:p>
          <a:p>
            <a:pPr marL="742950" lvl="1" indent="-285750">
              <a:buFont typeface="Arial" panose="020B0604020202020204" pitchFamily="34" charset="0"/>
              <a:buChar char="•"/>
            </a:pPr>
            <a:r>
              <a:rPr lang="en-CA" dirty="0"/>
              <a:t>CPU: </a:t>
            </a:r>
            <a:r>
              <a:rPr lang="en-CA" b="1" dirty="0"/>
              <a:t>Intel Core i7-13700KF</a:t>
            </a:r>
            <a:endParaRPr lang="en-CA" dirty="0"/>
          </a:p>
          <a:p>
            <a:endParaRPr lang="en-CA" dirty="0"/>
          </a:p>
        </p:txBody>
      </p:sp>
    </p:spTree>
    <p:extLst>
      <p:ext uri="{BB962C8B-B14F-4D97-AF65-F5344CB8AC3E}">
        <p14:creationId xmlns:p14="http://schemas.microsoft.com/office/powerpoint/2010/main" val="57793697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
  <TotalTime>280</TotalTime>
  <Words>2895</Words>
  <Application>Microsoft Office PowerPoint</Application>
  <PresentationFormat>On-screen Show (4:3)</PresentationFormat>
  <Paragraphs>244</Paragraphs>
  <Slides>32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Gill Sans MT</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vt:lpstr>
      <vt:lpstr>Appendix: cont…</vt:lpstr>
      <vt:lpstr>Appendix: cont…</vt:lpstr>
      <vt:lpstr>Appendix: cont…</vt:lpstr>
      <vt:lpstr>Appendix: cont…</vt:lpstr>
      <vt:lpstr>Appendix: cont…</vt:lpstr>
      <vt:lpstr>Appendix: Cont…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Owner</dc:creator>
  <cp:keywords/>
  <dc:description>generated using python-pptx</dc:description>
  <cp:lastModifiedBy>Jobina Joy</cp:lastModifiedBy>
  <cp:revision>6</cp:revision>
  <dcterms:created xsi:type="dcterms:W3CDTF">2013-01-27T09:14:16Z</dcterms:created>
  <dcterms:modified xsi:type="dcterms:W3CDTF">2025-03-25T03:49:54Z</dcterms:modified>
  <cp:category/>
</cp:coreProperties>
</file>

<file path=docProps/custom.xml><?xml version="1.0" encoding="utf-8"?>
<Properties xmlns:vt="http://schemas.openxmlformats.org/officeDocument/2006/docPropsVTypes" xmlns="http://schemas.openxmlformats.org/officeDocument/2006/custom-properties">
  <property fmtid="{D5CDD505-2E9C-101B-9397-08002B2CF9AE}" pid="2" name="MSIP_Label_8b2f352f-1426-4c06-b37f-b45354dc6e14_Enabled">
    <vt:lpwstr>True</vt:lpwstr>
  </property>
  <property fmtid="{D5CDD505-2E9C-101B-9397-08002B2CF9AE}" pid="3" name="MSIP_Label_8b2f352f-1426-4c06-b37f-b45354dc6e14_SiteId">
    <vt:lpwstr>b6417cd0-1f73-4471-9a39-20953822a34a</vt:lpwstr>
  </property>
  <property fmtid="{D5CDD505-2E9C-101B-9397-08002B2CF9AE}" pid="4" name="MSIP_Label_8b2f352f-1426-4c06-b37f-b45354dc6e14_SetDate">
    <vt:lpwstr>2025-04-08T00:44:15Z</vt:lpwstr>
  </property>
  <property fmtid="{D5CDD505-2E9C-101B-9397-08002B2CF9AE}" pid="5" name="MSIP_Label_8b2f352f-1426-4c06-b37f-b45354dc6e14_Name">
    <vt:lpwstr>Sensitive</vt:lpwstr>
  </property>
  <property fmtid="{D5CDD505-2E9C-101B-9397-08002B2CF9AE}" pid="6" name="MSIP_Label_8b2f352f-1426-4c06-b37f-b45354dc6e14_ActionId">
    <vt:lpwstr>5e101c8a-169e-41ce-bc5c-774e8b0ae55c</vt:lpwstr>
  </property>
  <property fmtid="{D5CDD505-2E9C-101B-9397-08002B2CF9AE}" pid="7" name="MSIP_Label_8b2f352f-1426-4c06-b37f-b45354dc6e14_Removed">
    <vt:lpwstr>False</vt:lpwstr>
  </property>
  <property fmtid="{D5CDD505-2E9C-101B-9397-08002B2CF9AE}" pid="8" name="MSIP_Label_8b2f352f-1426-4c06-b37f-b45354dc6e14_Extended_MSFT_Method">
    <vt:lpwstr>Standard</vt:lpwstr>
  </property>
  <property fmtid="{D5CDD505-2E9C-101B-9397-08002B2CF9AE}" pid="9" name="Sensitivity">
    <vt:lpwstr>Sensitive</vt:lpwstr>
  </property>
</Properties>
</file>